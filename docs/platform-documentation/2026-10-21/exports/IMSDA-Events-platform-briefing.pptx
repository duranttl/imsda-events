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Today we are going to follow two people rather than read a list of features. Jordan directs Riverton Pathfinders. Alex is an Area Coordinator. We will see Jordan update the club, prepare a Monthly Record and choose who is going to Fall Camporee. Then we will see how Alex uses those saved records to offer help. Every person, club and event record in these screenshots is fictional. These are teaching examples from the current application, and your own assigned tools may differ.</a:t>
            </a:r>
          </a:p>
          <a:p/>
          <a:p>
            <a:r>
              <a:t>SHOW / DEMO</a:t>
            </a:r>
          </a:p>
          <a:p>
            <a:r>
              <a:t>Point to the role labels on the two real application views. Keep the fictional-data label visible throughout the presentation.</a:t>
            </a:r>
          </a:p>
          <a:p/>
          <a:p>
            <a:r>
              <a:t>SCREENSHOTS</a:t>
            </a:r>
          </a:p>
          <a:p>
            <a:r>
              <a:t>director-home: Riverton Home before the story:9active people,1report filed, FallCamporee open to register.</a:t>
            </a:r>
          </a:p>
          <a:p>
            <a:r>
              <a:t>coordinator-overview: 2026–27 summaries for four fictional clubs after Jordan’s roster/report work.</a:t>
            </a:r>
          </a:p>
          <a:p/>
          <a:p>
            <a:r>
              <a:t>PREPARATION SOURCES</a:t>
            </a:r>
          </a:p>
          <a:p>
            <a:r>
              <a:t>app/page.tsx: https://github.com/DurantTL/IMSDA-Events/blob/7f77c1dfeadd004deb51f91e2bae1b6c4754638b/app/page.tsx</a:t>
            </a:r>
          </a:p>
          <a:p>
            <a:r>
              <a:t>modules/club-rosters/portal-nav.ts: https://github.com/DurantTL/IMSDA-Events/blob/7f77c1dfeadd004deb51f91e2bae1b6c4754638b/modules/club-rosters/portal-nav.ts</a:t>
            </a:r>
          </a:p>
          <a:p>
            <a:r>
              <a:t>components/area-clubs-subnav.tsx: https://github.com/DurantTL/IMSDA-Events/blob/7f77c1dfeadd004deb51f91e2bae1b6c4754638b/components/area-clubs-subnav.tsx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first useful idea is the difference between belonging to the club and going to an event. Morgan appears on Riverton's roster. Jordan can choose Morgan for Fall Camporee without typing the same person again. Jordan still has to decide who is actually going and complete the event's choices. Adding someone to the roster does not register them for every event. Reports, forms and achievements also stay with their own saved records, so we can return to the information instead of asking for another copy.</a:t>
            </a:r>
          </a:p>
          <a:p/>
          <a:p>
            <a:r>
              <a:t>ASK</a:t>
            </a:r>
          </a:p>
          <a:p>
            <a:r>
              <a:t>If Morgan is on the roster but not selected for Fall Camporee, is Morgan registered for the event?</a:t>
            </a:r>
          </a:p>
          <a:p/>
          <a:p>
            <a:r>
              <a:t>SCREENSHOTS</a:t>
            </a:r>
          </a:p>
          <a:p>
            <a:r>
              <a:t>roster-added: Actual roster after Add to roster saved Morgan Reed:10activepeople.</a:t>
            </a:r>
          </a:p>
          <a:p>
            <a:r>
              <a:t>event-attendees: Six fictional club members selected for Fall Camporee; actual Draft saved state.</a:t>
            </a:r>
          </a:p>
          <a:p/>
          <a:p>
            <a:r>
              <a:t>PREPARATION SOURCES</a:t>
            </a:r>
          </a:p>
          <a:p>
            <a:r>
              <a:t>components/club-roster-workspace.tsx: https://github.com/DurantTL/IMSDA-Events/blob/7f77c1dfeadd004deb51f91e2bae1b6c4754638b/components/club-roster-workspace.tsx</a:t>
            </a:r>
          </a:p>
          <a:p>
            <a:r>
              <a:t>components/club-registration-workspace.tsx: https://github.com/DurantTL/IMSDA-Events/blob/7f77c1dfeadd004deb51f91e2bae1b6c4754638b/components/club-registration-workspace.tsx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Everyone can begin at events dot imsda dot org. The homepage brings together the calendar, Find a club, My account and My club. You can look for an upcoming date without opening the director's workspace. When you need your own registrations or club tools, use Sign in on the page. The website chooses the available sign-in route, so you do not need to remember a special director or coordinator login address. A signed-in person may see My account instead.</a:t>
            </a:r>
          </a:p>
          <a:p/>
          <a:p>
            <a:r>
              <a:t>SHOW / DEMO</a:t>
            </a:r>
          </a:p>
          <a:p>
            <a:r>
              <a:t>Optional: open Find a club from the homepage. Do not make a new club application for an already-established invited club.</a:t>
            </a:r>
          </a:p>
          <a:p/>
          <a:p>
            <a:r>
              <a:t>SCREENSHOTS</a:t>
            </a:r>
          </a:p>
          <a:p>
            <a:r>
              <a:t>public-home: Public home in the current local application; fictional training records.</a:t>
            </a:r>
          </a:p>
          <a:p>
            <a:r>
              <a:t>public-calendar: Public calendar in the current local application; fictional training records.</a:t>
            </a:r>
          </a:p>
          <a:p/>
          <a:p>
            <a:r>
              <a:t>PREPARATION SOURCES</a:t>
            </a:r>
          </a:p>
          <a:p>
            <a:r>
              <a:t>app/page.tsx: https://github.com/DurantTL/IMSDA-Events/blob/7f77c1dfeadd004deb51f91e2bae1b6c4754638b/app/page.tsx</a:t>
            </a:r>
          </a:p>
          <a:p>
            <a:r>
              <a:t>components/public-header-links.tsx: https://github.com/DurantTL/IMSDA-Events/blob/7f77c1dfeadd004deb51f91e2bae1b6c4754638b/components/public-header-links.tsx</a:t>
            </a:r>
          </a:p>
          <a:p>
            <a:r>
              <a:t>app/(public)/calendar/page.tsx: https://github.com/DurantTL/IMSDA-Events/blob/7f77c1dfeadd004deb51f91e2bae1b6c4754638b/app/%28public%29/calendar/page.tsx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Jordan already has an account, so Jordan enters the existing email address and password and chooses Sign in. If you received a club invitation, use the account with that same address. If you have forgotten the password, choose Forgot password, request a code and keep this browser open while you check your email. Return here to enter the email code and new password. A passkey may also be offered if one is configured. Making a second account does not restore a missing club assignment.</a:t>
            </a:r>
          </a:p>
          <a:p/>
          <a:p>
            <a:r>
              <a:t>SHOW / DEMO</a:t>
            </a:r>
          </a:p>
          <a:p>
            <a:r>
              <a:t>Use a blank password field. Never put a password, usable email code or private registration link in the capture.</a:t>
            </a:r>
          </a:p>
          <a:p/>
          <a:p>
            <a:r>
              <a:t>SCREENSHOTS</a:t>
            </a:r>
          </a:p>
          <a:p>
            <a:r>
              <a:t>sign-in: Account sign-in with Jordan Ellis’s fictional email entered; password blank; no sign-in attempt sent.</a:t>
            </a:r>
          </a:p>
          <a:p/>
          <a:p>
            <a:r>
              <a:t>PREPARATION SOURCES</a:t>
            </a:r>
          </a:p>
          <a:p>
            <a:r>
              <a:t>components/attendee-sign-in-form.tsx: https://github.com/DurantTL/IMSDA-Events/blob/7f77c1dfeadd004deb51f91e2bae1b6c4754638b/components/attendee-sign-in-form.tsx</a:t>
            </a:r>
          </a:p>
          <a:p>
            <a:r>
              <a:t>components/attendee-password-reset-form.tsx: https://github.com/DurantTL/IMSDA-Events/blob/7f77c1dfeadd004deb51f91e2bae1b6c4754638b/components/attendee-password-reset-form.tsx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For a new director, there are two different jobs. Creating and verifying an account confirms the email address. Accepting the invitation connects that account to the club. Create an account only if you do not have one already. Keep the same browser open while checking the emailed six-digit code, then Verify and continue. On the account page, check the club and role beside You're invited to manage a club, then Accept. If the invitation is absent, ask the office to check the address; do not apply to create the established club again. The grey digits in the empty verification box are a placeholder. The real email code must come from the message sent to your own address.</a:t>
            </a:r>
          </a:p>
          <a:p/>
          <a:p>
            <a:r>
              <a:t>SHOW / DEMO</a:t>
            </a:r>
          </a:p>
          <a:p>
            <a:r>
              <a:t>The verification field stays empty. The invitation shown is an isolated fictional local fixture, with no reusable token or live link visible.</a:t>
            </a:r>
          </a:p>
          <a:p/>
          <a:p>
            <a:r>
              <a:t>SCREENSHOTS</a:t>
            </a:r>
          </a:p>
          <a:p>
            <a:r>
              <a:t>email-verification: Actual new-account email verification step, six-digit-code field left empty. Development-only code panel excluded.</a:t>
            </a:r>
          </a:p>
          <a:p>
            <a:r>
              <a:t>invite-card-focus: The current invitation card for Riverton, captured in a600px-wide local browser so its club name and Accept action can be read together. Fictional invitation; not accepted.</a:t>
            </a:r>
          </a:p>
          <a:p/>
          <a:p>
            <a:r>
              <a:t>PREPARATION SOURCES</a:t>
            </a:r>
          </a:p>
          <a:p>
            <a:r>
              <a:t>components/attendee-sign-up-form.tsx: https://github.com/DurantTL/IMSDA-Events/blob/7f77c1dfeadd004deb51f91e2bae1b6c4754638b/components/attendee-sign-up-form.tsx</a:t>
            </a:r>
          </a:p>
          <a:p>
            <a:r>
              <a:t>components/club-invite-accept.tsx: https://github.com/DurantTL/IMSDA-Events/blob/7f77c1dfeadd004deb51f91e2bae1b6c4754638b/components/club-invite-accept.tsx</a:t>
            </a:r>
          </a:p>
          <a:p>
            <a:r>
              <a:t>modules/club-imports/invites.ts: https://github.com/DurantTL/IMSDA-Events/blob/7f77c1dfeadd004deb51f91e2bae1b6c4754638b/modules/club-imports/invites.ts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Club and coordinator tools can open information about young people. The extra step helps protect that information if someone learns a password. If setup is needed, choose Set up an authenticator and follow the displayed instructions. Enter Code from your authenticator, then Confirm and turn on. Save the recovery codes privately and choose I've saved these codes. One supported method is enough; a passkey can also meet the requirement when offered. The email-verification code proves your address. The authenticator code is the extra sign-in protection. Neither is an event confirmation code. The grey 123456 in the empty box is a placeholder, not a code to copy from this slide. Use the current code from your own authenticator.</a:t>
            </a:r>
          </a:p>
          <a:p/>
          <a:p>
            <a:r>
              <a:t>SHOW / DEMO</a:t>
            </a:r>
          </a:p>
          <a:p>
            <a:r>
              <a:t>Capture the challenge or pre-secret setup introduction only. Do not capture a setup key, QR secret, recovery codes or populated authenticator field. Which app should I use? can be demonstrated separately.</a:t>
            </a:r>
          </a:p>
          <a:p/>
          <a:p>
            <a:r>
              <a:t>ASK</a:t>
            </a:r>
          </a:p>
          <a:p>
            <a:r>
              <a:t>Where does the email-verification code come from? Where does the authenticator code come from?</a:t>
            </a:r>
          </a:p>
          <a:p/>
          <a:p>
            <a:r>
              <a:t>SCREENSHOTS</a:t>
            </a:r>
          </a:p>
          <a:p>
            <a:r>
              <a:t>two-step: Current two-step challenge with an empty authenticator or recovery-code field.</a:t>
            </a:r>
          </a:p>
          <a:p/>
          <a:p>
            <a:r>
              <a:t>PREPARATION SOURCES</a:t>
            </a:r>
          </a:p>
          <a:p>
            <a:r>
              <a:t>app/(public)/account/two-step/page.tsx: https://github.com/DurantTL/IMSDA-Events/blob/7f77c1dfeadd004deb51f91e2bae1b6c4754638b/app/%28public%29/account/two-step/page.tsx</a:t>
            </a:r>
          </a:p>
          <a:p>
            <a:r>
              <a:t>components/two-step-setup.tsx: https://github.com/DurantTL/IMSDA-Events/blob/7f77c1dfeadd004deb51f91e2bae1b6c4754638b/components/two-step-setup.tsx</a:t>
            </a:r>
          </a:p>
          <a:p>
            <a:r>
              <a:t>components/mfa-manager.tsx: https://github.com/DurantTL/IMSDA-Events/blob/7f77c1dfeadd004deb51f91e2bae1b6c4754638b/components/mfa-manager.tsx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system shows the tools assigned to the signed-in account. Jordan uses My club, or My clubs if more than one club is assigned. Alex uses Clubs overview on the Area coordinator card; Clubs in the account navigation opens the club list. A person who has both assignments can see both kinds of tools. The coordinator side is not the system administrator dashboard, and it does not give every coordinator editing access to every club. If the expected option is missing, check the signed-in email and ask the office to verify the assignment.</a:t>
            </a:r>
          </a:p>
          <a:p/>
          <a:p>
            <a:r>
              <a:t>SCREENSHOTS</a:t>
            </a:r>
          </a:p>
          <a:p>
            <a:r>
              <a:t>director-account: Director Jordan Ellis’s account entry into the Riverton club workspace.</a:t>
            </a:r>
          </a:p>
          <a:p>
            <a:r>
              <a:t>coordinator-account: Alex Morgan’s fictional account overview and Area coordinator entry after the training tasks.</a:t>
            </a:r>
          </a:p>
          <a:p/>
          <a:p>
            <a:r>
              <a:t>PREPARATION SOURCES</a:t>
            </a:r>
          </a:p>
          <a:p>
            <a:r>
              <a:t>app/(public)/account/(portal)/layout.tsx: https://github.com/DurantTL/IMSDA-Events/blob/7f77c1dfeadd004deb51f91e2bae1b6c4754638b/app/%28public%29/account/%28portal%29/layout.tsx</a:t>
            </a:r>
          </a:p>
          <a:p>
            <a:r>
              <a:t>modules/club-reports/area-card-domain.ts: https://github.com/DurantTL/IMSDA-Events/blob/7f77c1dfeadd004deb51f91e2bae1b6c4754638b/modules/club-reports/area-card-domain.ts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Jordan checks Riverton Pathfinders and the year shown at the top before changing anything. Home is a starting point rather than another form to complete. It brings together the next task, deadlines and summaries, with links such as Open roster and Open Monthly Records. Jordan can go directly to the work that needs attention. A deputy has the director's capabilities; a registrar or reporter may correctly see fewer sections. There is no universal year dropdown to search for on every page.</a:t>
            </a:r>
          </a:p>
          <a:p/>
          <a:p>
            <a:r>
              <a:t>SCREENSHOTS</a:t>
            </a:r>
          </a:p>
          <a:p>
            <a:r>
              <a:t>director-home: Riverton Home before the story:9active people,1report filed, FallCamporee open to register.</a:t>
            </a:r>
          </a:p>
          <a:p/>
          <a:p>
            <a:r>
              <a:t>PREPARATION SOURCES</a:t>
            </a:r>
          </a:p>
          <a:p>
            <a:r>
              <a:t>app/(public)/account/(portal)/clubs/[organizationId]/page.tsx: https://github.com/DurantTL/IMSDA-Events/blob/7f77c1dfeadd004deb51f91e2bae1b6c4754638b/app/%28public%29/account/%28portal%29/clubs/%5BorganizationId%5D/page.tsx</a:t>
            </a:r>
          </a:p>
          <a:p>
            <a:r>
              <a:t>components/club-year-tiles.tsx: https://github.com/DurantTL/IMSDA-Events/blob/7f77c1dfeadd004deb51f91e2bae1b6c4754638b/components/club-year-tiles.tsx</a:t>
            </a:r>
          </a:p>
          <a:p>
            <a:r>
              <a:t>modules/club-rosters/portal-nav.ts: https://github.com/DurantTL/IMSDA-Events/blob/7f77c1dfeadd004deb51f91e2bae1b6c4754638b/modules/club-rosters/portal-nav.ts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 new member, Morgan Reed, joins Riverton. Jordan first checks that Morgan is not already on the roster, then opens Add to roster. Jordan enters the requested information and saves it with Add to roster. The important part of the second screenshot is the result: Morgan now appears in the saved list. The application also explains that this person can be chosen when the club registers for an event. That is our next use of the record later in the story; it is not automatic event enrollment.</a:t>
            </a:r>
          </a:p>
          <a:p/>
          <a:p>
            <a:r>
              <a:t>SHOW / DEMO</a:t>
            </a:r>
          </a:p>
          <a:p>
            <a:r>
              <a:t>Use only the synthetic fixture. Birth-date and age presentation follow the actual account permissions. Do not replace the current row icons with proposed labelled actions.</a:t>
            </a:r>
          </a:p>
          <a:p/>
          <a:p>
            <a:r>
              <a:t>SCREENSHOTS</a:t>
            </a:r>
          </a:p>
          <a:p>
            <a:r>
              <a:t>roster-add: Filled fictional Morgan Reed fields in the actual Add to roster dialog.</a:t>
            </a:r>
          </a:p>
          <a:p>
            <a:r>
              <a:t>roster-added: Actual roster after Add to roster saved Morgan Reed:10activepeople.</a:t>
            </a:r>
          </a:p>
          <a:p>
            <a:r>
              <a:t>roster-add-save: Add to roster dialog scrolled to its final Add to roster action.</a:t>
            </a:r>
          </a:p>
          <a:p/>
          <a:p>
            <a:r>
              <a:t>PREPARATION SOURCES</a:t>
            </a:r>
          </a:p>
          <a:p>
            <a:r>
              <a:t>components/club-roster-workspace.tsx: https://github.com/DurantTL/IMSDA-Events/blob/7f77c1dfeadd004deb51f91e2bae1b6c4754638b/components/club-roster-workspace.tsx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If Morgan's information changes, Jordan uses the person-specific Edit control rather than adding Morgan again. Save corrects the existing record. Deactivate has a different purpose: it keeps the person on file while omitting them from new registrations. Show inactive and Reactivate can bring that person back later. Remove is an erasure action with a warning that the birth date and details cannot be restored. It is not the ordinary way to mark someone absent or temporarily away.</a:t>
            </a:r>
          </a:p>
          <a:p/>
          <a:p>
            <a:r>
              <a:t>SHOW / DEMO</a:t>
            </a:r>
          </a:p>
          <a:p>
            <a:r>
              <a:t>Show Edit and Deactivate. If explaining Remove, read the warning and cancel; the teaching story does not need to erase a person.</a:t>
            </a:r>
          </a:p>
          <a:p/>
          <a:p>
            <a:r>
              <a:t>SCREENSHOTS</a:t>
            </a:r>
          </a:p>
          <a:p>
            <a:r>
              <a:t>roster-edit-top: Morgan Reed’s existing roster record, with current name, type and class visible.</a:t>
            </a:r>
          </a:p>
          <a:p>
            <a:r>
              <a:t>roster-edit: Existing member dialog scrolled to Save and Deactivate actions; current member details are retained.</a:t>
            </a:r>
          </a:p>
          <a:p/>
          <a:p>
            <a:r>
              <a:t>PREPARATION SOURCES</a:t>
            </a:r>
          </a:p>
          <a:p>
            <a:r>
              <a:t>components/club-roster-workspace.tsx: https://github.com/DurantTL/IMSDA-Events/blob/7f77c1dfeadd004deb51f91e2bae1b6c4754638b/components/club-roster-workspace.tsx</a:t>
            </a:r>
          </a:p>
          <a:p>
            <a:r>
              <a:t>modules/club-rosters/repository.ts: https://github.com/DurantTL/IMSDA-Events/blob/7f77c1dfeadd004deb51f91e2bae1b6c4754638b/modules/club-rosters/repository.ts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Forms shows the forms the conference has enabled for the club. A director or deputy can fill in for a member from the proper source or use the available private-link process. Jordan returns to Filled forms to see the result. Open continues a draft; View and print opens a submitted form. A sent request is not proof that the person submitted a response. Waiting, expired and submitted states mean different things. We are showing fictional names and state labels rather than personal health answers.</a:t>
            </a:r>
          </a:p>
          <a:p/>
          <a:p>
            <a:r>
              <a:t>SHOW / DEMO</a:t>
            </a:r>
          </a:p>
          <a:p>
            <a:r>
              <a:t>Crop away any private URL or access token. Do not send a real request or show member health answers as part of the presentation.</a:t>
            </a:r>
          </a:p>
          <a:p/>
          <a:p>
            <a:r>
              <a:t>SCREENSHOTS</a:t>
            </a:r>
          </a:p>
          <a:p>
            <a:r>
              <a:t>forms: Available club forms with a saved draft for Morgan Reed and a submitted transportation list.</a:t>
            </a:r>
          </a:p>
          <a:p>
            <a:r>
              <a:t>forms-filled: Filled forms table distinguishes a Draft/Open permission slip from Submitted/View and print transportation list.</a:t>
            </a:r>
          </a:p>
          <a:p/>
          <a:p>
            <a:r>
              <a:t>PREPARATION SOURCES</a:t>
            </a:r>
          </a:p>
          <a:p>
            <a:r>
              <a:t>app/(public)/account/(portal)/clubs/[organizationId]/forms/page.tsx: https://github.com/DurantTL/IMSDA-Events/blob/7f77c1dfeadd004deb51f91e2bae1b6c4754638b/app/%28public%29/account/%28portal%29/clubs/%5BorganizationId%5D/forms/page.tsx</a:t>
            </a:r>
          </a:p>
          <a:p>
            <a:r>
              <a:t>modules/club-forms/domain.ts: https://github.com/DurantTL/IMSDA-Events/blob/7f77c1dfeadd004deb51f91e2bae1b6c4754638b/modules/club-forms/domain.ts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It is October in our example, and Jordan records a recent club meeting. From Monthly Records, Jordan opens October and chooses Add meeting note. The date, head counts and short notes are easier to enter while they are fresh. Take attendance is optional for someone who has roster access; a reporter with narrower access should not expect a named attendance list. Saving a meeting note does not by itself submit the month's report. October's current due date is November tenth, so Jordan can keep gathering notes before finishing it.</a:t>
            </a:r>
          </a:p>
          <a:p/>
          <a:p>
            <a:r>
              <a:t>SHOW / DEMO</a:t>
            </a:r>
          </a:p>
          <a:p>
            <a:r>
              <a:t>Show the saved October seventeenth example in Edit meeting note. Point to the date, head counts, optional attendance and useful note. Explain that Add meeting note starts the same kind of record; Save is lower in the dialog.</a:t>
            </a:r>
          </a:p>
          <a:p/>
          <a:p>
            <a:r>
              <a:t>SCREENSHOTS</a:t>
            </a:r>
          </a:p>
          <a:p>
            <a:r>
              <a:t>meeting-note: Fictional October17 meeting note: headcounts, Camping Skills I and a short activity note.</a:t>
            </a:r>
          </a:p>
          <a:p/>
          <a:p>
            <a:r>
              <a:t>PREPARATION SOURCES</a:t>
            </a:r>
          </a:p>
          <a:p>
            <a:r>
              <a:t>app/(public)/account/(portal)/clubs/[organizationId]/records/page.tsx: https://github.com/DurantTL/IMSDA-Events/blob/7f77c1dfeadd004deb51f91e2bae1b6c4754638b/app/%28public%29/account/%28portal%29/clubs/%5BorganizationId%5D/records/page.tsx</a:t>
            </a:r>
          </a:p>
          <a:p>
            <a:r>
              <a:t>components/club-meeting-notes.tsx: https://github.com/DurantTL/IMSDA-Events/blob/7f77c1dfeadd004deb51f91e2bae1b6c4754638b/components/club-meeting-notes.tsx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For this isolated training exercise, Jordan has complete fictional October records and an October report saved as a draft. A draft preserves unfinished work, but it has not been submitted. Jordan reviews the details and uses Submit report, then checks for the submitted result. This demonstrates the controls; it does not establish a policy to submit a real month before its records are complete. October is due November tenth. If meeting notes changed after the report was saved, Refresh from meeting notes is a deliberate action rather than a silent overwrite. September is already closed on our October twenty-first example date, so it is not the report to use for a submission demonstration.</a:t>
            </a:r>
          </a:p>
          <a:p/>
          <a:p>
            <a:r>
              <a:t>SHOW / DEMO</a:t>
            </a:r>
          </a:p>
          <a:p>
            <a:r>
              <a:t>Both states must be captures of the same isolated fictional October report before and after submission. Mark this as an exercise with complete fictional records. Do not imply September can still be submitted after its closing date.</a:t>
            </a:r>
          </a:p>
          <a:p/>
          <a:p>
            <a:r>
              <a:t>ASK</a:t>
            </a:r>
          </a:p>
          <a:p>
            <a:r>
              <a:t>Which screenshot proves that the report was submitted?</a:t>
            </a:r>
          </a:p>
          <a:p/>
          <a:p>
            <a:r>
              <a:t>SCREENSHOTS</a:t>
            </a:r>
          </a:p>
          <a:p>
            <a:r>
              <a:t>report-draft: Saved October draft; actual Save draft and Submit report ·410 points buttons.</a:t>
            </a:r>
          </a:p>
          <a:p>
            <a:r>
              <a:t>report-submitted: Freshly loaded October record after actual submission:410 points,2320yearpoints and2submittedreports.</a:t>
            </a:r>
          </a:p>
          <a:p/>
          <a:p>
            <a:r>
              <a:t>PREPARATION SOURCES</a:t>
            </a:r>
          </a:p>
          <a:p>
            <a:r>
              <a:t>components/club-report-form.tsx: https://github.com/DurantTL/IMSDA-Events/blob/7f77c1dfeadd004deb51f91e2bae1b6c4754638b/components/club-report-form.tsx</a:t>
            </a:r>
          </a:p>
          <a:p>
            <a:r>
              <a:t>app/(public)/account/(portal)/clubs/[organizationId]/records/page.tsx: https://github.com/DurantTL/IMSDA-Events/blob/7f77c1dfeadd004deb51f91e2bae1b6c4754638b/app/%28public%29/account/%28portal%29/clubs/%5BorganizationId%5D/records/page.tsx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Now we use the roster for a different task. Jordan opens Club events and chooses Register or Continue for Fall Camporee. The current steps are Who's going, Each person's details and Review. Jordan selects the people attending, including Morgan if Morgan is going, then completes the location, class or other choices the event asks for. Some choices save automatically as a draft. That helps Jordan continue later, but it does not mean the registration is complete. Read full, waitlist and deadline messages before expecting a place.</a:t>
            </a:r>
          </a:p>
          <a:p/>
          <a:p>
            <a:r>
              <a:t>SCREENSHOTS</a:t>
            </a:r>
          </a:p>
          <a:p>
            <a:r>
              <a:t>event-attendees: Six fictional club members selected for Fall Camporee; actual Draft saved state.</a:t>
            </a:r>
          </a:p>
          <a:p/>
          <a:p>
            <a:r>
              <a:t>PREPARATION SOURCES</a:t>
            </a:r>
          </a:p>
          <a:p>
            <a:r>
              <a:t>components/club-registration-workspace.tsx: https://github.com/DurantTL/IMSDA-Events/blob/7f77c1dfeadd004deb51f91e2bae1b6c4754638b/components/club-registration-workspace.tsx</a:t>
            </a:r>
          </a:p>
          <a:p>
            <a:r>
              <a:t>app/(public)/account/(portal)/clubs/[organizationId]/events/page.tsx: https://github.com/DurantTL/IMSDA-Events/blob/7f77c1dfeadd004deb51f91e2bae1b6c4754638b/app/%28public%29/account/%28portal%29/clubs/%5BorganizationId%5D/events/page.tsx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Review page is Jordan's chance to check the people and choices before submitting. The second view is the saved registration, reached again through View in Club events. Jordan checks the status rather than assuming every saved draft is registered. Save changes appears only when the event permits editing. Print club packet or Download registration PDF can provide an authorized working copy. For a church-billed event, the sponsoring church follows the office billing process; this is not a new personal payment obligation for the director. Keep copies within their intended audience.</a:t>
            </a:r>
          </a:p>
          <a:p/>
          <a:p>
            <a:r>
              <a:t>SHOW / DEMO</a:t>
            </a:r>
          </a:p>
          <a:p>
            <a:r>
              <a:t>Capture a local fictional event submission only. If a confirmation code is visible, it must belong solely to the isolated demo fixture; no private edit/manage link should appear.</a:t>
            </a:r>
          </a:p>
          <a:p/>
          <a:p>
            <a:r>
              <a:t>SCREENSHOTS</a:t>
            </a:r>
          </a:p>
          <a:p>
            <a:r>
              <a:t>event-review: Final current-app review for six fictional Fall Camporee attendees, with church invoice facts and Submit registration.</a:t>
            </a:r>
          </a:p>
          <a:p>
            <a:r>
              <a:t>event-saved: Existing Fall Camporee registration after actual local submission, with six attendees and editing/printing controls. Published crop shows confirmation and billing text; the local check-in QR is excluded.</a:t>
            </a:r>
          </a:p>
          <a:p>
            <a:r>
              <a:t>event-review: Final current-app review for six fictional Fall Camporee attendees, with church invoice facts and Submit registration.</a:t>
            </a:r>
          </a:p>
          <a:p/>
          <a:p>
            <a:r>
              <a:t>PREPARATION SOURCES</a:t>
            </a:r>
          </a:p>
          <a:p>
            <a:r>
              <a:t>app/(public)/account/(portal)/clubs/[organizationId]/events/[eventId]/page.tsx: https://github.com/DurantTL/IMSDA-Events/blob/7f77c1dfeadd004deb51f91e2bae1b6c4754638b/app/%28public%29/account/%28portal%29/clubs/%5BorganizationId%5D/events/%5BeventId%5D/page.tsx</a:t>
            </a:r>
          </a:p>
          <a:p>
            <a:r>
              <a:t>components/club-registration-editor.tsx: https://github.com/DurantTL/IMSDA-Events/blob/7f77c1dfeadd004deb51f91e2bae1b6c4754638b/components/club-registration-editor.tsx</a:t>
            </a:r>
          </a:p>
          <a:p>
            <a:r>
              <a:t>docs/INVOICES.md: https://github.com/DurantTL/IMSDA-Events/blob/7f77c1dfeadd004deb51f91e2bae1b6c4754638b/docs/INVOICES.md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Jordan can record a completed honor through Honors, including Add honors to several members when appropriate. Class tracking handles the supported earned class and award items; it is not a generic checklist for every curriculum requirement. Orders helps prepare supply lists, check stock and track hand-outs. It is not an online store checkout. For a roster file, Jordan uses Build a roster export, checks Preview and downloads the columns needed for the task. These are working copies of the records, so the recipient and fields still matter.</a:t>
            </a:r>
          </a:p>
          <a:p/>
          <a:p>
            <a:r>
              <a:t>SHOW / DEMO</a:t>
            </a:r>
          </a:p>
          <a:p>
            <a:r>
              <a:t>If Honors and export cannot both fit legibly, use one large export preview and an optional Honors inset; keep menu references in the spoken notes.</a:t>
            </a:r>
          </a:p>
          <a:p/>
          <a:p>
            <a:r>
              <a:t>SCREENSHOTS</a:t>
            </a:r>
          </a:p>
          <a:p>
            <a:r>
              <a:t>honors: Honor records with4completed and4inprogress entries across fictional members.</a:t>
            </a:r>
          </a:p>
          <a:p>
            <a:r>
              <a:t>roster-export: Real roster export Preview:first5of10fictionalrows, before DownloadCSV.</a:t>
            </a:r>
          </a:p>
          <a:p/>
          <a:p>
            <a:r>
              <a:t>PREPARATION SOURCES</a:t>
            </a:r>
          </a:p>
          <a:p>
            <a:r>
              <a:t>components/club-honors-workspace.tsx: https://github.com/DurantTL/IMSDA-Events/blob/7f77c1dfeadd004deb51f91e2bae1b6c4754638b/components/club-honors-workspace.tsx</a:t>
            </a:r>
          </a:p>
          <a:p>
            <a:r>
              <a:t>components/roster-export-builder.tsx: https://github.com/DurantTL/IMSDA-Events/blob/7f77c1dfeadd004deb51f91e2bae1b6c4754638b/components/roster-export-builder.tsx</a:t>
            </a:r>
          </a:p>
          <a:p>
            <a:r>
              <a:t>components/club-order-workspace.tsx: https://github.com/DurantTL/IMSDA-Events/blob/7f77c1dfeadd004deb51f91e2bae1b6c4754638b/components/club-order-workspace.tsx</a:t>
            </a:r>
          </a:p>
          <a:p>
            <a:r>
              <a:t>app/(public)/account/(portal)/clubs/[organizationId]/class-tracking/page.tsx: https://github.com/DurantTL/IMSDA-Events/blob/7f77c1dfeadd004deb51f91e2bae1b6c4754638b/app/%28public%29/account/%28portal%29/clubs/%5BorganizationId%5D/class-tracking/page.tsx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Now we follow Alex. All clubs is the place to find a known club by its name, church or city. Alex searches for Riverton and chooses Open. The club view says View only and shows the information this role is permitted to read, such as ages instead of full birth dates. Coordinator access does not turn into a director's editing menu. Someone who separately directs their own club can have actual editing authority there, but that is a separate assignment. The current club list contains active clubs; do not expect an enforced my-area filter.</a:t>
            </a:r>
          </a:p>
          <a:p/>
          <a:p>
            <a:r>
              <a:t>SCREENSHOTS</a:t>
            </a:r>
          </a:p>
          <a:p>
            <a:r>
              <a:t>coordinator-all-clubs: All clubs with four fictional club records.</a:t>
            </a:r>
          </a:p>
          <a:p>
            <a:r>
              <a:t>coordinator-club-view: Riverton Pathfinders opened in the coordinator’s view-only workspace after Jordan’s tasks.</a:t>
            </a:r>
          </a:p>
          <a:p/>
          <a:p>
            <a:r>
              <a:t>PREPARATION SOURCES</a:t>
            </a:r>
          </a:p>
          <a:p>
            <a:r>
              <a:t>app/(public)/account/(portal)/clubs/page.tsx: https://github.com/DurantTL/IMSDA-Events/blob/7f77c1dfeadd004deb51f91e2bae1b6c4754638b/app/%28public%29/account/%28portal%29/clubs/page.tsx</a:t>
            </a:r>
          </a:p>
          <a:p>
            <a:r>
              <a:t>app/(public)/account/(portal)/area/[organizationId]/layout.tsx: https://github.com/DurantTL/IMSDA-Events/blob/7f77c1dfeadd004deb51f91e2bae1b6c4754638b/app/%28public%29/account/%28portal%29/area/%5BorganizationId%5D/layout.tsx</a:t>
            </a:r>
          </a:p>
          <a:p>
            <a:r>
              <a:t>modules/club-rosters/portal-nav.ts: https://github.com/DurantTL/IMSDA-Events/blob/7f77c1dfeadd004deb51f91e2bae1b6c4754638b/modules/club-rosters/portal-nav.ts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Overview helps Alex decide where to look first. Alex checks the year in the heading, then reads the roster counts, reports submitted, total points and last report. Different rows deliberately show different fictional clubs, so we can compare their situations. Sterling Volunteers appears as summary counts; a count by itself does not tell the whole person's story. Alex opens the relevant club before contacting its director. Clicking a summary does not clear the underlying task, and there is no general Send reminder action established by this screen.</a:t>
            </a:r>
          </a:p>
          <a:p/>
          <a:p>
            <a:r>
              <a:t>SCREENSHOTS</a:t>
            </a:r>
          </a:p>
          <a:p>
            <a:r>
              <a:t>coordinator-overview: 2026–27 summaries for four fictional clubs after Jordan’s roster/report work.</a:t>
            </a:r>
          </a:p>
          <a:p/>
          <a:p>
            <a:r>
              <a:t>PREPARATION SOURCES</a:t>
            </a:r>
          </a:p>
          <a:p>
            <a:r>
              <a:t>components/area-clubs-views.tsx: https://github.com/DurantTL/IMSDA-Events/blob/7f77c1dfeadd004deb51f91e2bae1b6c4754638b/components/area-clubs-views.tsx</a:t>
            </a:r>
          </a:p>
          <a:p>
            <a:r>
              <a:t>app/(public)/account/(portal)/area-clubs/overview/page.tsx: https://github.com/DurantTL/IMSDA-Events/blob/7f77c1dfeadd004deb51f91e2bae1b6c4754638b/app/%28public%29/account/%28portal%29/area-clubs/overview/page.tsx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Alex uses Monthly Records to identify a particular club and month. A points value links to a submitted report, which Alex can read rather than asking for another copy. Riverton's September report was submitted October eighth. Another fictional club's overdue September draft and a third club's missing September report show different follow-up situations. Draft means started but not submitted. Due is not the same as Missing: Missing means the due date has passed without submission. A saved draft can still say Draft after the due date. Future months are not yet due, and late submissions are labelled late. In our October twenty-first example, September was due October tenth; October is due November tenth. Read the actual state before asking the director what is missing.</a:t>
            </a:r>
          </a:p>
          <a:p/>
          <a:p>
            <a:r>
              <a:t>SHOW / DEMO</a:t>
            </a:r>
          </a:p>
          <a:p>
            <a:r>
              <a:t>Use multiple fictional rows: at least one overdue draft, one missing prior month and one submitted/late month. Do not label October Missing on October21.</a:t>
            </a:r>
          </a:p>
          <a:p/>
          <a:p>
            <a:r>
              <a:t>ASK</a:t>
            </a:r>
          </a:p>
          <a:p>
            <a:r>
              <a:t>Which club has already submitted the month? Which has started but still needs to finish?</a:t>
            </a:r>
          </a:p>
          <a:p/>
          <a:p>
            <a:r>
              <a:t>SCREENSHOTS</a:t>
            </a:r>
          </a:p>
          <a:p>
            <a:r>
              <a:t>coordinator-reports: Monthly Records grid after Jordan submits October: Riverton September410 and October410.</a:t>
            </a:r>
          </a:p>
          <a:p>
            <a:r>
              <a:t>coordinator-report-detail: Riverton’s submitted September Monthly Record.</a:t>
            </a:r>
          </a:p>
          <a:p/>
          <a:p>
            <a:r>
              <a:t>PREPARATION SOURCES</a:t>
            </a:r>
          </a:p>
          <a:p>
            <a:r>
              <a:t>components/area-clubs-views.tsx: https://github.com/DurantTL/IMSDA-Events/blob/7f77c1dfeadd004deb51f91e2bae1b6c4754638b/components/area-clubs-views.tsx</a:t>
            </a:r>
          </a:p>
          <a:p>
            <a:r>
              <a:t>modules/club-reports/area-summary-domain.ts: https://github.com/DurantTL/IMSDA-Events/blob/7f77c1dfeadd004deb51f91e2bae1b6c4754638b/modules/club-reports/area-summary-domain.ts</a:t>
            </a:r>
          </a:p>
          <a:p>
            <a:r>
              <a:t>app/(public)/account/(portal)/area-clubs/reports/page.tsx: https://github.com/DurantTL/IMSDA-Events/blob/7f77c1dfeadd004deb51f91e2bae1b6c4754638b/app/%28public%29/account/%28portal%29/area-clubs/reports/page.tsx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chart gives Alex a quick comparison, and the table explains the same totals. Submitted-report points and yearly registration points are shown separately. The current rule adds fifteen hundred points for an on-time yearly registration. Alex can sort by points or club name. A name search narrows the visible rows, while ranking is based on the full list. Download points CSV includes the whole year's authorized clubs, not just the name search on screen. Check the file before sharing it, especially if you expected one club's record.</a:t>
            </a:r>
          </a:p>
          <a:p/>
          <a:p>
            <a:r>
              <a:t>SCREENSHOTS</a:t>
            </a:r>
          </a:p>
          <a:p>
            <a:r>
              <a:t>coordinator-points: Points chart and table after both Riverton reports are submitted.</a:t>
            </a:r>
          </a:p>
          <a:p/>
          <a:p>
            <a:r>
              <a:t>PREPARATION SOURCES</a:t>
            </a:r>
          </a:p>
          <a:p>
            <a:r>
              <a:t>app/(public)/account/(portal)/area-clubs/points/page.tsx: https://github.com/DurantTL/IMSDA-Events/blob/7f77c1dfeadd004deb51f91e2bae1b6c4754638b/app/%28public%29/account/%28portal%29/area-clubs/points/page.tsx</a:t>
            </a:r>
          </a:p>
          <a:p>
            <a:r>
              <a:t>components/area-clubs-views.tsx: https://github.com/DurantTL/IMSDA-Events/blob/7f77c1dfeadd004deb51f91e2bae1b6c4754638b/components/area-clubs-views.tsx</a:t>
            </a:r>
          </a:p>
          <a:p>
            <a:r>
              <a:t>modules/club-reports/area-export.ts: https://github.com/DurantTL/IMSDA-Events/blob/7f77c1dfeadd004deb51f91e2bae1b6c4754638b/modules/club-reports/area-export.ts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Before Fall Camporee, Alex opens Club events. The useful question is which clubs are participating and how many people are included. The rows show deliberately varied fictional states. Draft is not a completed registration, waitlisted is not a confirmed place, and cancelled is historical. A search can narrow the club rows while the event total continues to describe all registered clubs. Alex uses the specific event state for follow-up; this page does not let every coordinator submit or edit every club's registration.</a:t>
            </a:r>
          </a:p>
          <a:p/>
          <a:p>
            <a:r>
              <a:t>SCREENSHOTS</a:t>
            </a:r>
          </a:p>
          <a:p>
            <a:r>
              <a:t>coordinator-events: Fall Camporee club registrations: Registered, Draft, Waitlisted and Cancelled.</a:t>
            </a:r>
          </a:p>
          <a:p/>
          <a:p>
            <a:r>
              <a:t>PREPARATION SOURCES</a:t>
            </a:r>
          </a:p>
          <a:p>
            <a:r>
              <a:t>app/(public)/account/(portal)/area-clubs/events/page.tsx: https://github.com/DurantTL/IMSDA-Events/blob/7f77c1dfeadd004deb51f91e2bae1b6c4754638b/app/%28public%29/account/%28portal%29/area-clubs/events/page.tsx</a:t>
            </a:r>
          </a:p>
          <a:p>
            <a:r>
              <a:t>components/area-clubs-views.tsx: https://github.com/DurantTL/IMSDA-Events/blob/7f77c1dfeadd004deb51f91e2bae1b6c4754638b/components/area-clubs-views.tsx</a:t>
            </a:r>
          </a:p>
          <a:p>
            <a:r>
              <a:t>modules/club-reports/area-summary-domain.ts: https://github.com/DurantTL/IMSDA-Events/blob/7f77c1dfeadd004deb51f91e2bae1b6c4754638b/modules/club-reports/area-summary-domain.ts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Alex can read the fictional Harbor Adventurers application and understand what the applicant supplied. New clubs is a view-only review page for coordinators; a system administrator approves or declines the application. Team approvals is a separate, narrow exception: a coordinator may decide the eligible requests assigned to that coordinator under the event rules. Neither exception gives general editing rights to every club.</a:t>
            </a:r>
          </a:p>
          <a:p/>
          <a:p>
            <a:r>
              <a:t>SHOW / DEMO</a:t>
            </a:r>
          </a:p>
          <a:p>
            <a:r>
              <a:t>Point to New clubs, the Harbor Adventurers application and the view-only heading. There is no coordinator approval action on this page. Mention Team approvals only if relevant to the audience; use its own event rules and permitted requests.</a:t>
            </a:r>
          </a:p>
          <a:p/>
          <a:p>
            <a:r>
              <a:t>ASK</a:t>
            </a:r>
          </a:p>
          <a:p>
            <a:r>
              <a:t>Who makes the decision on this new-club application?</a:t>
            </a:r>
          </a:p>
          <a:p/>
          <a:p>
            <a:r>
              <a:t>SCREENSHOTS</a:t>
            </a:r>
          </a:p>
          <a:p>
            <a:r>
              <a:t>new-clubs: Harbor Adventurers’ fictional pending application in the coordinator’s view-only New clubs page.</a:t>
            </a:r>
          </a:p>
          <a:p/>
          <a:p>
            <a:r>
              <a:t>PREPARATION SOURCES</a:t>
            </a:r>
          </a:p>
          <a:p>
            <a:r>
              <a:t>app/(public)/account/(portal)/area-clubs/team-permissions/page.tsx: https://github.com/DurantTL/IMSDA-Events/blob/7f77c1dfeadd004deb51f91e2bae1b6c4754638b/app/%28public%29/account/%28portal%29/area-clubs/team-permissions/page.tsx</a:t>
            </a:r>
          </a:p>
          <a:p>
            <a:r>
              <a:t>modules/club-teams/permission-domain.ts: https://github.com/DurantTL/IMSDA-Events/blob/7f77c1dfeadd004deb51f91e2bae1b6c4754638b/modules/club-teams/permission-domain.ts</a:t>
            </a:r>
          </a:p>
          <a:p>
            <a:r>
              <a:t>app/(public)/account/(portal)/area-clubs/applications/page.tsx: https://github.com/DurantTL/IMSDA-Events/blob/7f77c1dfeadd004deb51f91e2bae1b6c4754638b/app/%28public%29/account/%28portal%29/area-clubs/applications/page.tsx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This is the practical connection between the two roles. Alex sees Riverton's October draft and asks Jordan a precise question: Riverton's October record is in progress; do you need help preparing it? October is not overdue on October twenty-first. In this exercise Jordan has complete fictional records, reviews the report and submits through the club workspace; Alex can then read that result. The conversation happens through the normal conference process. Opening Overview has not sent an automatic reminder, and Alex has not taken over the director's report. The screenshots represent before and after moments in the same fictional story. An older closed missing month needs follow-up with the director or office; do not promise Alex can reopen it.</a:t>
            </a:r>
          </a:p>
          <a:p/>
          <a:p>
            <a:r>
              <a:t>SHOW / DEMO</a:t>
            </a:r>
          </a:p>
          <a:p>
            <a:r>
              <a:t>Mark the two screenshots Before follow-up and After director submission to avoid contradictory state expectations. Any speech bubble is an instructor caption, not an app messaging feature.</a:t>
            </a:r>
          </a:p>
          <a:p/>
          <a:p>
            <a:r>
              <a:t>SCREENSHOTS</a:t>
            </a:r>
          </a:p>
          <a:p>
            <a:r>
              <a:t>coordinator-reports-draft: Before Jordan finishes October: coordinator grid shows Riverton September410points and OctoberDraft.</a:t>
            </a:r>
          </a:p>
          <a:p>
            <a:r>
              <a:t>report-submitted: Freshly loaded October record after actual submission:410 points,2320yearpoints and2submittedreports.</a:t>
            </a:r>
          </a:p>
          <a:p/>
          <a:p>
            <a:r>
              <a:t>PREPARATION SOURCES</a:t>
            </a:r>
          </a:p>
          <a:p>
            <a:r>
              <a:t>components/area-clubs-views.tsx: https://github.com/DurantTL/IMSDA-Events/blob/7f77c1dfeadd004deb51f91e2bae1b6c4754638b/components/area-clubs-views.tsx</a:t>
            </a:r>
          </a:p>
          <a:p>
            <a:r>
              <a:t>components/club-report-form.tsx: https://github.com/DurantTL/IMSDA-Events/blob/7f77c1dfeadd004deb51f91e2bae1b6c4754638b/components/club-report-form.tsx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If sign-in works but the club or Clubs section is missing, first check the signed-in email. The office can verify the invitation or coordinator assignment. If the password is the problem, use Forgot password instead. If an authenticator is unavailable, use a saved recovery code or configured passkey when offered; ask the office if neither is available. For a page or save problem, give support the club and year, or the event, the page, what you tried and the visible error. Do not include passwords, codes, private links or member health details in a screenshot. The existing quick-start guide can help you describe the exact step.</a:t>
            </a:r>
          </a:p>
          <a:p/>
          <a:p>
            <a:r>
              <a:t>SCREENSHOTS</a:t>
            </a:r>
          </a:p>
          <a:p>
            <a:r>
              <a:t>director-account: Director Jordan Ellis’s account entry into the Riverton club workspace.</a:t>
            </a:r>
          </a:p>
          <a:p/>
          <a:p>
            <a:r>
              <a:t>PREPARATION SOURCES</a:t>
            </a:r>
          </a:p>
          <a:p>
            <a:r>
              <a:t>components/attendee-password-reset-form.tsx: https://github.com/DurantTL/IMSDA-Events/blob/7f77c1dfeadd004deb51f91e2bae1b6c4754638b/components/attendee-password-reset-form.tsx</a:t>
            </a:r>
          </a:p>
          <a:p>
            <a:r>
              <a:t>app/(public)/account/help/authenticator/page.tsx: https://github.com/DurantTL/IMSDA-Events/blob/7f77c1dfeadd004deb51f91e2bae1b6c4754638b/app/%28public%29/account/help/authenticator/page.tsx</a:t>
            </a:r>
          </a:p>
          <a:p>
            <a:r>
              <a:t>app/(public)/account/(portal)/layout.tsx: https://github.com/DurantTL/IMSDA-Events/blob/7f77c1dfeadd004deb51f91e2bae1b6c4754638b/app/%28public%29/account/%28portal%29/layout.tsx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Class tracking keeps completed classes and supported earned items with the member. In our fictional example, Morgan is in Companion and has a recorded Friend completion. The saved history prevents recording the same completion again. That completion suggests the corresponding insignia, but it does not order anything by itself. Jordan reviews the suggested items and chooses Add to order list only for items actually needed. Other supported records include event patches, Good Conduct, TLT items and Master Award progress. This is not a checklist for every curriculum requirement. Directors and deputies record these items; narrower roles retain their own access.</a:t>
            </a:r>
          </a:p>
          <a:p/>
          <a:p>
            <a:r>
              <a:t>SHOW / DEMO</a:t>
            </a:r>
          </a:p>
          <a:p>
            <a:r>
              <a:t>Open Class tracking. Read Morgan’s saved Friend completion and Class history, then inspect the separate Suggested insignia panel and Add to order list action. Explain that marking a class completed and adding its items to the order helper are separate steps. Do not repeat a completion that is already recorded.</a:t>
            </a:r>
          </a:p>
          <a:p/>
          <a:p>
            <a:r>
              <a:t>ASK</a:t>
            </a:r>
          </a:p>
          <a:p>
            <a:r>
              <a:t>Does a completed class automatically place an order or change stock?</a:t>
            </a:r>
          </a:p>
          <a:p/>
          <a:p>
            <a:r>
              <a:t>CAPABILITY STATUS</a:t>
            </a:r>
          </a:p>
          <a:p>
            <a:r>
              <a:t>CURRENT: Completing a class suggests insignia. Add to order list is a separate choice.</a:t>
            </a:r>
          </a:p>
          <a:p/>
          <a:p>
            <a:r>
              <a:t>SCREENSHOTS</a:t>
            </a:r>
          </a:p>
          <a:p>
            <a:r>
              <a:t>club-class-tracking: Morgan Reed’s Friend completion is recorded. The filtered member table shows the completion date and Class history.</a:t>
            </a:r>
          </a:p>
          <a:p>
            <a:r>
              <a:t>club-class-suggestions: Morgan Reed’s four suggested Friend insignia items require a separate Add to order list confirmation.</a:t>
            </a:r>
          </a:p>
          <a:p>
            <a:r>
              <a:t>club-class-tracking: Morgan Reed’s Friend completion is recorded. The filtered member table shows the completion date and Class history.</a:t>
            </a:r>
          </a:p>
          <a:p/>
          <a:p>
            <a:r>
              <a:t>PREPARATION SOURCES</a:t>
            </a:r>
          </a:p>
          <a:p>
            <a:r>
              <a:t>components/club-earned-awards-workspace.tsx: https://github.com/DurantTL/IMSDA-Events/blob/7f77c1dfeadd004deb51f91e2bae1b6c4754638b/components/club-earned-awards-workspace.tsx</a:t>
            </a:r>
          </a:p>
          <a:p>
            <a:r>
              <a:t>modules/earned-awards/order-source.ts: https://github.com/DurantTL/IMSDA-Events/blob/7f77c1dfeadd004deb51f91e2bae1b6c4754638b/modules/earned-awards/order-source.ts</a:t>
            </a:r>
          </a:p>
          <a:p>
            <a:r>
              <a:t>modules/earned-awards/domain.ts: https://github.com/DurantTL/IMSDA-Events/blob/7f77c1dfeadd004deb51f91e2bae1b6c4754638b/modules/earned-awards/domain.ts</a:t>
            </a:r>
          </a:p>
          <a:p>
            <a:r>
              <a:t>modules/club-rosters/portal-nav.ts: https://github.com/DurantTL/IMSDA-Events/blob/7f77c1dfeadd004deb51f91e2bae1b6c4754638b/modules/club-rosters/portal-nav.ts</a:t>
            </a:r>
          </a:p>
          <a:p>
            <a:r>
              <a:t>Roadmap / issue #532: https://github.com/DurantTL/IMSDA-Events/issues/532</a:t>
            </a:r>
          </a:p>
          <a:p>
            <a:r>
              <a:t>Roadmap / issue #184: https://github.com/DurantTL/IMSDA-Events/issues/184</a:t>
            </a:r>
          </a:p>
          <a:p>
            <a:r>
              <a:t>Roadmap / issue #185: https://github.com/DurantTL/IMSDA-Events/issues/185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scarf row shows four needed, two available and two to order. Drew’s Good Conduct Bar is selected for an actual hand-out; the saved result leaves two on hand, down from three. The app subtracts that handed-out item automatically, so do not subtract it a second time. Orders helps Jordan turn recorded needs into a practical supply list. The fictional list includes scarves and earned items. Stock is what the club already has, and a hand-out records items actually given to a member. Those are different steps, so an item on the helper list is not proof it was purchased or handed out. Use the available CSV, printable list or pick list for the real task. This is not an online checkout and does not create a personal payment for the director. Directors and deputies manage the supported records; a registrar’s view remains narrower.</a:t>
            </a:r>
          </a:p>
          <a:p/>
          <a:p>
            <a:r>
              <a:t>SHOW / DEMO</a:t>
            </a:r>
          </a:p>
          <a:p>
            <a:r>
              <a:t>Open Orders. Read the fictional scarf and earned-item needs, then compare the stock quantity and hand-out controls. Point to available exports/pick-list actions. Use only the synthetic training records if demonstrating a stock or hand-out action.</a:t>
            </a:r>
          </a:p>
          <a:p/>
          <a:p>
            <a:r>
              <a:t>ASK</a:t>
            </a:r>
          </a:p>
          <a:p>
            <a:r>
              <a:t>If a scarf appears on the helper list, does that mean the member has received it?</a:t>
            </a:r>
          </a:p>
          <a:p/>
          <a:p>
            <a:r>
              <a:t>CAPABILITY STATUS</a:t>
            </a:r>
          </a:p>
          <a:p>
            <a:r>
              <a:t>CURRENT: Orders is a supply helper. A list, stock receipt and hand-out are different records.</a:t>
            </a:r>
          </a:p>
          <a:p/>
          <a:p>
            <a:r>
              <a:t>SCREENSHOTS</a:t>
            </a:r>
          </a:p>
          <a:p>
            <a:r>
              <a:t>club-orders-list: Actual Orders helper row: Pathfinder Scarf quantity 4 minus available stock 2 gives 2 to order. Save and Remove edit this helper list.</a:t>
            </a:r>
          </a:p>
          <a:p>
            <a:r>
              <a:t>club-orders-handout: Drew Patel’s Good Conduct Bar is ready from stock. The selected row enables the actual Mark handed out action.</a:t>
            </a:r>
          </a:p>
          <a:p>
            <a:r>
              <a:t>club-orders-stock-after: After the actual handout, Good Conduct Bar stock is 2. Drew’s need is no longer in Ready to hand out.</a:t>
            </a:r>
          </a:p>
          <a:p>
            <a:r>
              <a:t>club-orders-stock-after: After the actual handout, Good Conduct Bar stock is 2. Drew’s need is no longer in Ready to hand out.</a:t>
            </a:r>
          </a:p>
          <a:p/>
          <a:p>
            <a:r>
              <a:t>PREPARATION SOURCES</a:t>
            </a:r>
          </a:p>
          <a:p>
            <a:r>
              <a:t>app/(public)/account/(portal)/clubs/[organizationId]/orders/page.tsx: https://github.com/DurantTL/IMSDA-Events/blob/7f77c1dfeadd004deb51f91e2bae1b6c4754638b/app/%28public%29/account/%28portal%29/clubs/%5BorganizationId%5D/orders/page.tsx</a:t>
            </a:r>
          </a:p>
          <a:p>
            <a:r>
              <a:t>modules/club-orders/domain.ts: https://github.com/DurantTL/IMSDA-Events/blob/7f77c1dfeadd004deb51f91e2bae1b6c4754638b/modules/club-orders/domain.ts</a:t>
            </a:r>
          </a:p>
          <a:p>
            <a:r>
              <a:t>modules/club-supplies/domain.ts: https://github.com/DurantTL/IMSDA-Events/blob/7f77c1dfeadd004deb51f91e2bae1b6c4754638b/modules/club-supplies/domain.ts</a:t>
            </a:r>
          </a:p>
          <a:p>
            <a:r>
              <a:t>modules/club-orders/repository.ts: https://github.com/DurantTL/IMSDA-Events/blob/7f77c1dfeadd004deb51f91e2bae1b6c4754638b/modules/club-orders/repository.ts</a:t>
            </a:r>
          </a:p>
          <a:p>
            <a:r>
              <a:t>Roadmap / issue #41: https://github.com/DurantTL/IMSDA-Events/issues/41</a:t>
            </a:r>
          </a:p>
          <a:p>
            <a:r>
              <a:t>Roadmap / issue #184: https://github.com/DurantTL/IMSDA-Events/issues/184</a:t>
            </a:r>
          </a:p>
          <a:p>
            <a:r>
              <a:t>Roadmap / issue #185: https://github.com/DurantTL/IMSDA-Events/issues/185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Year-End Report uses saved club information to help prepare the yearly record. Check the report year and due date first. Review the prefilled figures and their source, then enter or correct the information the form requires. A prefilled number still needs review; it is not a guarantee the underlying record is complete. Our October training example is a draft for 2026–27, due April first, 2027. We are showing preparation, not telling clubs to submit an incomplete year early. Save draft keeps work in progress. The club’s director, deputy or reporter submits the report when it is complete; a submitted report is locked until the office reopens it.</a:t>
            </a:r>
          </a:p>
          <a:p/>
          <a:p>
            <a:r>
              <a:t>SHOW / DEMO</a:t>
            </a:r>
          </a:p>
          <a:p>
            <a:r>
              <a:t>From Monthly Records, open the appropriate Year-End Report. Read the year/span, due date, Draft state and source labels on prefilled counts. Point to Save draft. There is no separate Preview button on this form; the displayed report is the review surface. Keep the synthetic example as a draft.</a:t>
            </a:r>
          </a:p>
          <a:p/>
          <a:p>
            <a:r>
              <a:t>ASK</a:t>
            </a:r>
          </a:p>
          <a:p>
            <a:r>
              <a:t>What should you check before trusting a prefilled number? Has Save draft filed the report?</a:t>
            </a:r>
          </a:p>
          <a:p/>
          <a:p>
            <a:r>
              <a:t>CAPABILITY STATUS</a:t>
            </a:r>
          </a:p>
          <a:p>
            <a:r>
              <a:t>CURRENT: Review the saved records and any manual figures. Save draft does not submit the report.</a:t>
            </a:r>
          </a:p>
          <a:p/>
          <a:p>
            <a:r>
              <a:t>SCREENSHOTS</a:t>
            </a:r>
          </a:p>
          <a:p>
            <a:r>
              <a:t>club-year-end-header: Actual Year-End Report header: Pathfinder year 2026–27, May 1–April 30, due April 1, 2027, and Draft state.</a:t>
            </a:r>
          </a:p>
          <a:p>
            <a:r>
              <a:t>club-year-end: Year-End draft review shows membership 9, staff 1 and total membership 10, with calculated totals and roster sources.</a:t>
            </a:r>
          </a:p>
          <a:p>
            <a:r>
              <a:t>club-year-end-save: Lower Year-End sections distinguish prefilled class and honor counts from manual entries, with Save draft and Submit report.</a:t>
            </a:r>
          </a:p>
          <a:p/>
          <a:p>
            <a:r>
              <a:t>PREPARATION SOURCES</a:t>
            </a:r>
          </a:p>
          <a:p>
            <a:r>
              <a:t>components/club-year-end-report-form.tsx: https://github.com/DurantTL/IMSDA-Events/blob/7f77c1dfeadd004deb51f91e2bae1b6c4754638b/components/club-year-end-report-form.tsx</a:t>
            </a:r>
          </a:p>
          <a:p>
            <a:r>
              <a:t>modules/club-reports/year-end-domain.ts: https://github.com/DurantTL/IMSDA-Events/blob/7f77c1dfeadd004deb51f91e2bae1b6c4754638b/modules/club-reports/year-end-domain.ts</a:t>
            </a:r>
          </a:p>
          <a:p>
            <a:r>
              <a:t>modules/club-reports/year-end-repository.ts: https://github.com/DurantTL/IMSDA-Events/blob/7f77c1dfeadd004deb51f91e2bae1b6c4754638b/modules/club-reports/year-end-repository.ts</a:t>
            </a:r>
          </a:p>
          <a:p>
            <a:r>
              <a:t>app/(public)/account/(portal)/clubs/[organizationId]/reports/year-end/[year]/page.tsx: https://github.com/DurantTL/IMSDA-Events/blob/7f77c1dfeadd004deb51f91e2bae1b6c4754638b/app/%28public%29/account/%28portal%29/clubs/%5BorganizationId%5D/reports/year-end/%5Byear%5D/page.tsx</a:t>
            </a:r>
          </a:p>
          <a:p>
            <a:r>
              <a:t>Roadmap / issue #41: https://github.com/DurantTL/IMSDA-Events/issues/41</a:t>
            </a:r>
          </a:p>
          <a:p>
            <a:r>
              <a:t>Roadmap / issue #185: https://github.com/DurantTL/IMSDA-Events/issues/185</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IMSDA Events also supports the people running an event. Beforehand, authorized staff prepare its public information, publish a versioned form and manage registrations, capacity and waitlists. They can review event communications through the configured email service. On arrival, staff have pass, check-in, roster and badge tools. Financial staff have their permitted invoice, payment and reporting workflows. Lodging and meal tools can be used when the event's inventory, plans and settings are prepared. These capabilities belong to the appropriate event and staff permissions. A director or Area Coordinator assignment does not by itself provide the event team's administrative tools.</a:t>
            </a:r>
          </a:p>
          <a:p/>
          <a:p>
            <a:r>
              <a:t>SHOW / DEMO</a:t>
            </a:r>
          </a:p>
          <a:p>
            <a:r>
              <a:t>Follow the map from preparation to arrival to follow-up. Explain that configured provider delivery, lodging inventory, meal setup and payment setup are separate from the existence of the tools. This overview is not a live production readiness claim.</a:t>
            </a:r>
          </a:p>
          <a:p/>
          <a:p>
            <a:r>
              <a:t>ASK</a:t>
            </a:r>
          </a:p>
          <a:p>
            <a:r>
              <a:t>Which team owns each step at your next event?</a:t>
            </a:r>
          </a:p>
          <a:p/>
          <a:p>
            <a:r>
              <a:t>CAPABILITY STATUS</a:t>
            </a:r>
          </a:p>
          <a:p>
            <a:r>
              <a:t>CURRENT: Event staff use assigned permissions; available options depend on the event and its setup.</a:t>
            </a:r>
          </a:p>
          <a:p/>
          <a:p>
            <a:r>
              <a:t>SCREENSHOTS</a:t>
            </a:r>
          </a:p>
          <a:p/>
          <a:p/>
          <a:p>
            <a:r>
              <a:t>PREPARATION SOURCES</a:t>
            </a:r>
          </a:p>
          <a:p>
            <a:r>
              <a:t>docs/STAFF-EVENT-WORKFLOW.md: https://github.com/DurantTL/IMSDA-Events/blob/6667bc02c95b62fcce03c035b02c62823c9eb4f1/docs/STAFF-EVENT-WORKFLOW.md</a:t>
            </a:r>
          </a:p>
          <a:p>
            <a:r>
              <a:t>docs/EVENT-FEATURES.md: https://github.com/DurantTL/IMSDA-Events/blob/6667bc02c95b62fcce03c035b02c62823c9eb4f1/docs/EVENT-FEATURES.md</a:t>
            </a:r>
          </a:p>
          <a:p>
            <a:r>
              <a:t>modules/forms/repository.ts: https://github.com/DurantTL/IMSDA-Events/blob/6667bc02c95b62fcce03c035b02c62823c9eb4f1/modules/forms/repository.ts</a:t>
            </a:r>
          </a:p>
          <a:p>
            <a:r>
              <a:t>modules/checkin/README.md: https://github.com/DurantTL/IMSDA-Events/blob/6667bc02c95b62fcce03c035b02c62823c9eb4f1/modules/checkin/README.md</a:t>
            </a:r>
          </a:p>
          <a:p>
            <a:r>
              <a:t>modules/communications/effective-delivery.ts: https://github.com/DurantTL/IMSDA-Events/blob/6667bc02c95b62fcce03c035b02c62823c9eb4f1/modules/communications/effective-delivery.ts</a:t>
            </a:r>
          </a:p>
          <a:p>
            <a:r>
              <a:t>docs/BILLING-RESPONSIBILITY.md: https://github.com/DurantTL/IMSDA-Events/blob/6667bc02c95b62fcce03c035b02c62823c9eb4f1/docs/BILLING-RESPONSIBILITY.md</a:t>
            </a:r>
          </a:p>
          <a:p>
            <a:r>
              <a:t>docs/LODGING.md: https://github.com/DurantTL/IMSDA-Events/blob/6667bc02c95b62fcce03c035b02c62823c9eb4f1/docs/LODGING.md</a:t>
            </a:r>
          </a:p>
          <a:p>
            <a:r>
              <a:t>docs/MEALS.md: https://github.com/DurantTL/IMSDA-Events/blob/6667bc02c95b62fcce03c035b02c62823c9eb4f1/docs/MEALS.md</a:t>
            </a:r>
          </a:p>
          <a:p>
            <a:r>
              <a:t>Roadmap / issue #73: https://github.com/DurantTL/IMSDA-Events/issues/73</a:t>
            </a:r>
          </a:p>
          <a:p>
            <a:r>
              <a:t>Roadmap / issue #75: https://github.com/DurantTL/IMSDA-Events/issues/75</a:t>
            </a:r>
          </a:p>
          <a:p>
            <a:r>
              <a:t>Roadmap / issue #77: https://github.com/DurantTL/IMSDA-Events/issues/77</a:t>
            </a:r>
          </a:p>
          <a:p>
            <a:r>
              <a:t>Roadmap / issue #194: https://github.com/DurantTL/IMSDA-Events/issues/194</a:t>
            </a:r>
          </a:p>
          <a:p>
            <a:r>
              <a:t>Roadmap / issue #197: https://github.com/DurantTL/IMSDA-Events/issues/197</a:t>
            </a:r>
          </a:p>
          <a:p>
            <a:r>
              <a:t>Roadmap / issue #212: https://github.com/DurantTL/IMSDA-Events/issues/212</a:t>
            </a:r>
          </a:p>
          <a:p>
            <a:r>
              <a:t>Roadmap / issue #779: https://github.com/DurantTL/IMSDA-Events/issues/779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One improvement is how people recognize the work already available. The accepted role-workspace direction gives the different roles a consistent visual language while keeping their own navigation, priorities and access. Other tracked work includes clearer list columns and icons, saved task views, public-page and link previews, calendar and club-finder refinements, and guidance near the task. These are improvements to the same jobs we practiced. The accepted layout direction is a reference for implementation, not a released interface. The public-page studies have their own review status. This overview does not add another administrator menu change or give broader permissions to a role. Two operational examples in the ordered roadmap are the administrator alert feed with read and unread states, and kitchen money closeout. Those belong to their respective staff responsibilities; they are not new coordinator or attendee permissions.</a:t>
            </a:r>
          </a:p>
          <a:p/>
          <a:p>
            <a:r>
              <a:t>SHOW / DEMO</a:t>
            </a:r>
          </a:p>
          <a:p>
            <a:r>
              <a:t>Read the status attached to each track. Explain the difference between accepted design direction and proposed or planned work. No future app screen is pictured on this slide.</a:t>
            </a:r>
          </a:p>
          <a:p/>
          <a:p>
            <a:r>
              <a:t>ASK</a:t>
            </a:r>
          </a:p>
          <a:p>
            <a:r>
              <a:t>Where do people most often hesitate or ask where to go next?</a:t>
            </a:r>
          </a:p>
          <a:p/>
          <a:p>
            <a:r>
              <a:t>CAPABILITY STATUS</a:t>
            </a:r>
          </a:p>
          <a:p>
            <a:r>
              <a:t>PLANNED: The aim is easier learning while each role keeps its own responsibilities and access.</a:t>
            </a:r>
          </a:p>
          <a:p/>
          <a:p>
            <a:r>
              <a:t>SCREENSHOTS</a:t>
            </a:r>
          </a:p>
          <a:p/>
          <a:p/>
          <a:p>
            <a:r>
              <a:t>PREPARATION SOURCES</a:t>
            </a:r>
          </a:p>
          <a:p>
            <a:r>
              <a:t>docs/design/role-workspaces/README.md: https://github.com/DurantTL/IMSDA-Events/blob/6667bc02c95b62fcce03c035b02c62823c9eb4f1/docs/design/role-workspaces/README.md</a:t>
            </a:r>
          </a:p>
          <a:p>
            <a:r>
              <a:t>docs/design/role-workspaces/evidence/role-contract.md: https://github.com/DurantTL/IMSDA-Events/blob/6667bc02c95b62fcce03c035b02c62823c9eb4f1/docs/design/role-workspaces/evidence/role-contract.md</a:t>
            </a:r>
          </a:p>
          <a:p>
            <a:r>
              <a:t>docs/design/public-journeys-and-lists/review.md: https://github.com/DurantTL/IMSDA-Events/blob/6667bc02c95b62fcce03c035b02c62823c9eb4f1/docs/design/public-journeys-and-lists/review.md</a:t>
            </a:r>
          </a:p>
          <a:p>
            <a:r>
              <a:t>docs/design/public-journeys-and-lists/existing-owner-notes.md: https://github.com/DurantTL/IMSDA-Events/blob/6667bc02c95b62fcce03c035b02c62823c9eb4f1/docs/design/public-journeys-and-lists/existing-owner-notes.md</a:t>
            </a:r>
          </a:p>
          <a:p>
            <a:r>
              <a:t>Roadmap / issue #98: https://github.com/DurantTL/IMSDA-Events/issues/98</a:t>
            </a:r>
          </a:p>
          <a:p>
            <a:r>
              <a:t>Roadmap / issue #1109: https://github.com/DurantTL/IMSDA-Events/issues/1109</a:t>
            </a:r>
          </a:p>
          <a:p>
            <a:r>
              <a:t>Roadmap / issue #1111: https://github.com/DurantTL/IMSDA-Events/issues/1111</a:t>
            </a:r>
          </a:p>
          <a:p>
            <a:r>
              <a:t>Roadmap / issue #1112: https://github.com/DurantTL/IMSDA-Events/issues/1112</a:t>
            </a:r>
          </a:p>
          <a:p>
            <a:r>
              <a:t>Roadmap / issue #1113: https://github.com/DurantTL/IMSDA-Events/issues/1113</a:t>
            </a:r>
          </a:p>
          <a:p>
            <a:r>
              <a:t>Roadmap / issue #1074: https://github.com/DurantTL/IMSDA-Events/issues/1074</a:t>
            </a:r>
          </a:p>
          <a:p>
            <a:r>
              <a:t>Roadmap / issue #1077: https://github.com/DurantTL/IMSDA-Events/issues/1077</a:t>
            </a:r>
          </a:p>
          <a:p>
            <a:r>
              <a:t>Roadmap / issue #1103: https://github.com/DurantTL/IMSDA-Events/issues/1103</a:t>
            </a:r>
          </a:p>
          <a:p>
            <a:r>
              <a:t>Roadmap / issue #1115: https://github.com/DurantTL/IMSDA-Events/issues/1115</a:t>
            </a:r>
          </a:p>
          <a:p>
            <a:r>
              <a:t>Roadmap / issue #1117: https://github.com/DurantTL/IMSDA-Events/issues/1117</a:t>
            </a:r>
          </a:p>
          <a:p>
            <a:r>
              <a:t>Roadmap / issue #1118: https://github.com/DurantTL/IMSDA-Events/issues/1118</a:t>
            </a:r>
          </a:p>
          <a:p>
            <a:r>
              <a:t>Roadmap / issue #1033: https://github.com/DurantTL/IMSDA-Events/issues/1033</a:t>
            </a:r>
          </a:p>
          <a:p>
            <a:r>
              <a:t>Roadmap / issue #212: https://github.com/DurantTL/IMSDA-Events/issues/212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Start with the correct event and registration form. A starter gives you an independent copy; replacing an existing draft is a deliberate action. Check whether a question is asked once for the booking or for every attendee, and which answers are required. Save the draft, then preview and test with fictional people. A valid test is required before the first publication; later versions do not acquire another mandatory first-publication test. Review and publish the saved version, and check that the event is published too. Existing registrations keep the version they submitted. We will use the editor available for this meeting; the job is to build, check and publish the right form.</a:t>
            </a:r>
          </a:p>
          <a:p/>
          <a:p>
            <a:r>
              <a:t>SHOW / DEMO</a:t>
            </a:r>
          </a:p>
          <a:p>
            <a:r>
              <a:t>In the meeting-day editor, demonstrate New from template or Update draft from a template, question scope and Required, Save draft, Preview &amp; test, Run test submission, Publish version and the Publish form confirmation. Check Open public form. Trainer preparation: the owner expects the redesign before the meeting. Refresh actual builder screenshots and exact labels against that approved release; this workflow diagram does not claim the unfinished inspector, shared-template library, saved-question library or complete phone editor is already delivered. If it has not landed, demonstrate the actual available editor. Use a synthetic event; do not change a live public form for training.</a:t>
            </a:r>
          </a:p>
          <a:p/>
          <a:p>
            <a:r>
              <a:t>ASK</a:t>
            </a:r>
          </a:p>
          <a:p>
            <a:r>
              <a:t>If you save a draft, have you changed the form visitors are using? What else must be published?</a:t>
            </a:r>
          </a:p>
          <a:p/>
          <a:p>
            <a:r>
              <a:t>CAPABILITY STATUS</a:t>
            </a:r>
          </a:p>
          <a:p>
            <a:r>
              <a:t>CURRENT: Choose a starter, save the draft, check the attendee experience, then publish.</a:t>
            </a:r>
          </a:p>
          <a:p/>
          <a:p>
            <a:r>
              <a:t>SCREENSHOTS</a:t>
            </a:r>
          </a:p>
          <a:p/>
          <a:p/>
          <a:p>
            <a:r>
              <a:t>PREPARATION SOURCES</a:t>
            </a:r>
          </a:p>
          <a:p>
            <a:r>
              <a:t>app/(workspace)/registration-builder/page.tsx: https://github.com/DurantTL/IMSDA-Events/blob/6667bc02c95b62fcce03c035b02c62823c9eb4f1/app/%28workspace%29/registration-builder/page.tsx</a:t>
            </a:r>
          </a:p>
          <a:p>
            <a:r>
              <a:t>components/registration-builder-workspace.tsx: https://github.com/DurantTL/IMSDA-Events/blob/6667bc02c95b62fcce03c035b02c62823c9eb4f1/components/registration-builder-workspace.tsx</a:t>
            </a:r>
          </a:p>
          <a:p>
            <a:r>
              <a:t>modules/forms/repository.ts: https://github.com/DurantTL/IMSDA-Events/blob/6667bc02c95b62fcce03c035b02c62823c9eb4f1/modules/forms/repository.ts</a:t>
            </a:r>
          </a:p>
          <a:p>
            <a:r>
              <a:t>modules/forms/seeded-templates.ts: https://github.com/DurantTL/IMSDA-Events/blob/6667bc02c95b62fcce03c035b02c62823c9eb4f1/modules/forms/seeded-templates.ts</a:t>
            </a:r>
          </a:p>
          <a:p>
            <a:r>
              <a:t>docs/STAFF-EVENT-WORKFLOW.md: https://github.com/DurantTL/IMSDA-Events/blob/6667bc02c95b62fcce03c035b02c62823c9eb4f1/docs/STAFF-EVENT-WORKFLOW.md</a:t>
            </a:r>
          </a:p>
          <a:p>
            <a:r>
              <a:t>Roadmap / issue #1062: https://github.com/DurantTL/IMSDA-Events/issues/1062</a:t>
            </a:r>
          </a:p>
          <a:p>
            <a:r>
              <a:t>Roadmap / issue #1056: https://github.com/DurantTL/IMSDA-Events/issues/1056</a:t>
            </a:r>
          </a:p>
          <a:p>
            <a:r>
              <a:t>Roadmap / issue #1057: https://github.com/DurantTL/IMSDA-Events/issues/1057</a:t>
            </a:r>
          </a:p>
          <a:p>
            <a:r>
              <a:t>Roadmap / issue #1061: https://github.com/DurantTL/IMSDA-Events/issues/1061</a:t>
            </a:r>
          </a:p>
          <a:p>
            <a:r>
              <a:t>Roadmap / issue #1066: https://github.com/DurantTL/IMSDA-Events/issues/1066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 residential camp needs more than a registration and a bed assignment. The current lodging, meal, registration and check-in foundations could support future work. Camp operations would also need clear cabin and counselor responsibility, activity scheduling, guardian consent, appropriate care access, transport and authorized pickup. Those roles and policies must be designed deliberately. UltraCamp is a separate, optional discovery path in the later roadmap. Its allowed data, licensing and API coverage need confirmation, especially for protected forms and care information. We have a separate camp discovery document so this possibility can be assessed without claiming that a complete camp system or automatic synchronization is already available.</a:t>
            </a:r>
          </a:p>
          <a:p/>
          <a:p>
            <a:r>
              <a:t>SHOW / DEMO</a:t>
            </a:r>
          </a:p>
          <a:p>
            <a:r>
              <a:t>Follow the diagram from existing foundations through camp responsibility gaps to the optional vendor boundary. Describe this as a capability discussion, not an announced replacement or integration plan.</a:t>
            </a:r>
          </a:p>
          <a:p/>
          <a:p>
            <a:r>
              <a:t>ASK</a:t>
            </a:r>
          </a:p>
          <a:p>
            <a:r>
              <a:t>Which camp responsibility is hardest to manage reliably today?</a:t>
            </a:r>
          </a:p>
          <a:p/>
          <a:p>
            <a:r>
              <a:t>CAPABILITY STATUS</a:t>
            </a:r>
          </a:p>
          <a:p>
            <a:r>
              <a:t>POSSIBLE: A camp system adds care, supervision and release responsibilities beyond a lodging reservation.</a:t>
            </a:r>
          </a:p>
          <a:p/>
          <a:p>
            <a:r>
              <a:t>SCREENSHOTS</a:t>
            </a:r>
          </a:p>
          <a:p/>
          <a:p/>
          <a:p>
            <a:r>
              <a:t>PREPARATION SOURCES</a:t>
            </a:r>
          </a:p>
          <a:p>
            <a:r>
              <a:t>docs/LODGING.md: https://github.com/DurantTL/IMSDA-Events/blob/6667bc02c95b62fcce03c035b02c62823c9eb4f1/docs/LODGING.md</a:t>
            </a:r>
          </a:p>
          <a:p>
            <a:r>
              <a:t>docs/MEALS.md: https://github.com/DurantTL/IMSDA-Events/blob/6667bc02c95b62fcce03c035b02c62823c9eb4f1/docs/MEALS.md</a:t>
            </a:r>
          </a:p>
          <a:p>
            <a:r>
              <a:t>docs/decisions/0005-protected-records-policy.md: https://github.com/DurantTL/IMSDA-Events/blob/6667bc02c95b62fcce03c035b02c62823c9eb4f1/docs/decisions/0005-protected-records-policy.md</a:t>
            </a:r>
          </a:p>
          <a:p>
            <a:r>
              <a:t>docs/decisions/0011-personnel-pipeline-policy.md: https://github.com/DurantTL/IMSDA-Events/blob/6667bc02c95b62fcce03c035b02c62823c9eb4f1/docs/decisions/0011-personnel-pipeline-policy.md</a:t>
            </a:r>
          </a:p>
          <a:p>
            <a:r>
              <a:t>docs/platform-documentation/2026-10-21/content/04-camp-system-and-ultracamp.md: https://github.com/DurantTL/IMSDA-Events/blob/6667bc02c95b62fcce03c035b02c62823c9eb4f1/docs/platform-documentation/2026-10-21/content/04-camp-system-and-ultracamp.md</a:t>
            </a:r>
          </a:p>
          <a:p>
            <a:r>
              <a:t>Roadmap / issue #98: https://github.com/DurantTL/IMSDA-Events/issues/98</a:t>
            </a:r>
          </a:p>
          <a:p>
            <a:r>
              <a:t>Roadmap / issue #65: https://github.com/DurantTL/IMSDA-Events/issues/65</a:t>
            </a:r>
          </a:p>
          <a:p>
            <a:r>
              <a:t>Roadmap / issue #71: https://github.com/DurantTL/IMSDA-Events/issues/71</a:t>
            </a:r>
          </a:p>
          <a:p>
            <a:r>
              <a:t>Roadmap / issue #78: https://github.com/DurantTL/IMSDA-Events/issues/78</a:t>
            </a:r>
          </a:p>
          <a:p>
            <a:r>
              <a:t>Roadmap / issue #79: https://github.com/DurantTL/IMSDA-Events/issues/79</a:t>
            </a:r>
          </a:p>
          <a:p>
            <a:r>
              <a:t>Roadmap / issue #89: https://github.com/DurantTL/IMSDA-Events/issues/89</a:t>
            </a:r>
          </a:p>
          <a:p>
            <a:r>
              <a:t>Roadmap / issue #237: https://github.com/DurantTL/IMSDA-Events/issues/237</a:t>
            </a:r>
          </a:p>
          <a:p>
            <a:r>
              <a:t>Roadmap / issue #238: https://github.com/DurantTL/IMSDA-Events/issues/238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There are further possibilities beyond the changes to everyday screens. Adventurer ministry has its own program, materials and scope decisions. Wallet passes could build on the web passes that already exist; a native mobile experience would also need its own provider, privacy and offline rules. Merchandise checkout remains on hold, and a camp-store account would be a larger project than today's Orders helper. Surveys, certificates and recorded outcomes could improve follow-up after an event. These items have different levels of detail and different dependencies. They are possibilities on the longer roadmap, not an announcement that everything is approved, scheduled or available now. Donations, fundraising and designated funds are another later track, separate from current church invoicing and the Orders helper.</a:t>
            </a:r>
          </a:p>
          <a:p/>
          <a:p>
            <a:r>
              <a:t>SHOW / DEMO</a:t>
            </a:r>
          </a:p>
          <a:p>
            <a:r>
              <a:t>Point to the different status labels. Ask for useful examples of need rather than presenting a delivery schedule. The canonical roadmap remains the source of implementation order.</a:t>
            </a:r>
          </a:p>
          <a:p/>
          <a:p>
            <a:r>
              <a:t>ASK</a:t>
            </a:r>
          </a:p>
          <a:p>
            <a:r>
              <a:t>Which future outcome would solve a concrete problem for your club or event team?</a:t>
            </a:r>
          </a:p>
          <a:p/>
          <a:p>
            <a:r>
              <a:t>CAPABILITY STATUS</a:t>
            </a:r>
          </a:p>
          <a:p>
            <a:r>
              <a:t>POSSIBLE: Future scope follows the existing roadmap, decisions and event needs; no delivery dates are set.</a:t>
            </a:r>
          </a:p>
          <a:p/>
          <a:p>
            <a:r>
              <a:t>SCREENSHOTS</a:t>
            </a:r>
          </a:p>
          <a:p/>
          <a:p/>
          <a:p>
            <a:r>
              <a:t>PREPARATION SOURCES</a:t>
            </a:r>
          </a:p>
          <a:p>
            <a:r>
              <a:t>docs/NEW-CLUB-APPLICATIONS.md: https://github.com/DurantTL/IMSDA-Events/blob/6667bc02c95b62fcce03c035b02c62823c9eb4f1/docs/NEW-CLUB-APPLICATIONS.md</a:t>
            </a:r>
          </a:p>
          <a:p>
            <a:r>
              <a:t>docs/ATTENDEE-ACCOUNT-RELEASE.md: https://github.com/DurantTL/IMSDA-Events/blob/6667bc02c95b62fcce03c035b02c62823c9eb4f1/docs/ATTENDEE-ACCOUNT-RELEASE.md</a:t>
            </a:r>
          </a:p>
          <a:p>
            <a:r>
              <a:t>docs/MERCHANDISE-LEDGER-MIGRATION.md: https://github.com/DurantTL/IMSDA-Events/blob/6667bc02c95b62fcce03c035b02c62823c9eb4f1/docs/MERCHANDISE-LEDGER-MIGRATION.md</a:t>
            </a:r>
          </a:p>
          <a:p>
            <a:r>
              <a:t>docs/decisions/0011-personnel-pipeline-policy.md: https://github.com/DurantTL/IMSDA-Events/blob/6667bc02c95b62fcce03c035b02c62823c9eb4f1/docs/decisions/0011-personnel-pipeline-policy.md</a:t>
            </a:r>
          </a:p>
          <a:p>
            <a:r>
              <a:t>Roadmap / issue #98: https://github.com/DurantTL/IMSDA-Events/issues/98</a:t>
            </a:r>
          </a:p>
          <a:p>
            <a:r>
              <a:t>Roadmap / issue #840: https://github.com/DurantTL/IMSDA-Events/issues/840</a:t>
            </a:r>
          </a:p>
          <a:p>
            <a:r>
              <a:t>Roadmap / issue #841: https://github.com/DurantTL/IMSDA-Events/issues/841</a:t>
            </a:r>
          </a:p>
          <a:p>
            <a:r>
              <a:t>Roadmap / issue #842: https://github.com/DurantTL/IMSDA-Events/issues/842</a:t>
            </a:r>
          </a:p>
          <a:p>
            <a:r>
              <a:t>Roadmap / issue #843: https://github.com/DurantTL/IMSDA-Events/issues/843</a:t>
            </a:r>
          </a:p>
          <a:p>
            <a:r>
              <a:t>Roadmap / issue #53: https://github.com/DurantTL/IMSDA-Events/issues/53</a:t>
            </a:r>
          </a:p>
          <a:p>
            <a:r>
              <a:t>Roadmap / issue #91: https://github.com/DurantTL/IMSDA-Events/issues/91</a:t>
            </a:r>
          </a:p>
          <a:p>
            <a:r>
              <a:t>Roadmap / issue #226: https://github.com/DurantTL/IMSDA-Events/issues/226</a:t>
            </a:r>
          </a:p>
          <a:p>
            <a:r>
              <a:t>Roadmap / issue #227: https://github.com/DurantTL/IMSDA-Events/issues/227</a:t>
            </a:r>
          </a:p>
          <a:p>
            <a:r>
              <a:t>Roadmap / issue #228: https://github.com/DurantTL/IMSDA-Events/issues/228</a:t>
            </a:r>
          </a:p>
          <a:p>
            <a:r>
              <a:t>Roadmap / issue #54: https://github.com/DurantTL/IMSDA-Events/issues/54</a:t>
            </a:r>
          </a:p>
          <a:p>
            <a:r>
              <a:t>Roadmap / issue #146: https://github.com/DurantTL/IMSDA-Events/issues/146</a:t>
            </a:r>
          </a:p>
          <a:p>
            <a:r>
              <a:t>Roadmap / issue #147: https://github.com/DurantTL/IMSDA-Events/issues/147</a:t>
            </a:r>
          </a:p>
          <a:p>
            <a:r>
              <a:t>Roadmap / issue #148: https://github.com/DurantTL/IMSDA-Events/issues/148</a:t>
            </a:r>
          </a:p>
          <a:p>
            <a:r>
              <a:t>Roadmap / issue #90: https://github.com/DurantTL/IMSDA-Events/issues/90</a:t>
            </a:r>
          </a:p>
          <a:p>
            <a:r>
              <a:t>Roadmap / issue #233: https://github.com/DurantTL/IMSDA-Events/issues/233</a:t>
            </a:r>
          </a:p>
          <a:p>
            <a:r>
              <a:t>Roadmap / issue #234: https://github.com/DurantTL/IMSDA-Events/issues/234</a:t>
            </a:r>
          </a:p>
          <a:p>
            <a:r>
              <a:t>Roadmap / issue #235: https://github.com/DurantTL/IMSDA-Events/issues/235</a:t>
            </a:r>
          </a:p>
          <a:p>
            <a:r>
              <a:t>Roadmap / issue #95: https://github.com/DurantTL/IMSDA-Events/issues/95</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aim is not to memorize every menu. Use your own account, choose the right club or coordinator view and check the result of the work. A saved draft, a submitted report and an event registration confirmation mean different things. Choose one realistic task to practice next: a director can find the roster or a Monthly Record; a coordinator can find a club and read one month. Then choose Sign out, especially on a shared device. Closing a tab is not the same action. Next time, return to events dot imsda dot org and sign in with the account you already have.</a:t>
            </a:r>
          </a:p>
          <a:p/>
          <a:p>
            <a:r>
              <a:t>ASK</a:t>
            </a:r>
          </a:p>
          <a:p>
            <a:r>
              <a:t>Which one task will you practice first? Use the quick-start handout when you need the steps.</a:t>
            </a:r>
          </a:p>
          <a:p/>
          <a:p>
            <a:r>
              <a:t>SCREENSHOTS</a:t>
            </a:r>
          </a:p>
          <a:p>
            <a:r>
              <a:t>event-saved: Existing Fall Camporee registration after actual local submission, with six attendees and editing/printing controls. Published crop shows confirmation and billing text; the local check-in QR is excluded.</a:t>
            </a:r>
          </a:p>
          <a:p>
            <a:r>
              <a:t>account-sign-out: Account Profile and the actual Sign out control in the portal header.</a:t>
            </a:r>
          </a:p>
          <a:p/>
          <a:p>
            <a:r>
              <a:t>PREPARATION SOURCES</a:t>
            </a:r>
          </a:p>
          <a:p>
            <a:r>
              <a:t>components/attendee-sign-out-button.tsx: https://github.com/DurantTL/IMSDA-Events/blob/7f77c1dfeadd004deb51f91e2bae1b6c4754638b/components/attendee-sign-out-button.tsx</a:t>
            </a:r>
          </a:p>
          <a:p>
            <a:r>
              <a:t>app/page.tsx: https://github.com/DurantTL/IMSDA-Events/blob/7f77c1dfeadd004deb51f91e2bae1b6c4754638b/app/page.tsx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hyperlink" Target="https://events.imsda.org"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hyperlink" Target="https://events.imsda.org"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events.imsda.org"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hyperlink" Target="https://events.imsda.org"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events.imsda.org"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events.imsda.org"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events.imsda.org"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https://events.imsda.org" TargetMode="Externa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events.imsda.org"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hyperlink" Target="https://events.imsda.org"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events.imsda.org"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hyperlink" Target="https://events.imsda.org"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events.imsda.org"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hyperlink" Target="https://events.imsda.org" TargetMode="Externa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hyperlink" Target="https://events.imsda.org" TargetMode="Externa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s://events.imsda.org"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hyperlink" Target="https://events.imsda.org"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hyperlink" Target="https://events.imsda.org"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hyperlink" Target="https://events.imsda.org"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events.imsda.org"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hyperlink" Target="https://events.imsda.org"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1.png"/><Relationship Id="rId4" Type="http://schemas.openxmlformats.org/officeDocument/2006/relationships/hyperlink" Target="https://events.imsda.org" TargetMode="Externa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events.imsda.org"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hyperlink" Target="https://events.imsda.org" TargetMode="Externa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hyperlink" Target="https://events.imsda.org" TargetMode="Externa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hyperlink" Target="https://events.imsda.org" TargetMode="Externa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vents.imsda.org"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7.png"/><Relationship Id="rId4" Type="http://schemas.openxmlformats.org/officeDocument/2006/relationships/hyperlink" Target="https://events.imsda.org" TargetMode="External"/><Relationship Id="rId5"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F0B323"/>
                </a:solidFill>
                <a:latin typeface="Noto Sans"/>
              </a:defRPr>
            </a:pPr>
            <a:r>
              <a:t>IMSDA EVENTS · GETTING STARTED</a:t>
            </a:r>
          </a:p>
        </p:txBody>
      </p:sp>
      <p:sp>
        <p:nvSpPr>
          <p:cNvPr id="5" name="TextBox 4"/>
          <p:cNvSpPr txBox="1"/>
          <p:nvPr/>
        </p:nvSpPr>
        <p:spPr>
          <a:xfrm>
            <a:off x="640080" y="1143000"/>
            <a:ext cx="5349240" cy="2148840"/>
          </a:xfrm>
          <a:prstGeom prst="rect">
            <a:avLst/>
          </a:prstGeom>
          <a:noFill/>
        </p:spPr>
        <p:txBody>
          <a:bodyPr wrap="square" lIns="0" rIns="0" tIns="0" bIns="0">
            <a:spAutoFit/>
          </a:bodyPr>
          <a:lstStyle/>
          <a:p>
            <a:pPr>
              <a:spcAft>
                <a:spcPts val="300"/>
              </a:spcAft>
              <a:defRPr sz="3900" b="1">
                <a:solidFill>
                  <a:srgbClr val="FFFFFF"/>
                </a:solidFill>
                <a:latin typeface="Noto Sans"/>
              </a:defRPr>
            </a:pPr>
            <a:r>
              <a:t>Follow a club through a real task</a:t>
            </a:r>
          </a:p>
        </p:txBody>
      </p:sp>
      <p:sp>
        <p:nvSpPr>
          <p:cNvPr id="6" name="TextBox 5"/>
          <p:cNvSpPr txBox="1"/>
          <p:nvPr/>
        </p:nvSpPr>
        <p:spPr>
          <a:xfrm>
            <a:off x="667512" y="3611880"/>
            <a:ext cx="4937760" cy="1280160"/>
          </a:xfrm>
          <a:prstGeom prst="rect">
            <a:avLst/>
          </a:prstGeom>
          <a:noFill/>
        </p:spPr>
        <p:txBody>
          <a:bodyPr wrap="square" lIns="0" rIns="0" tIns="0" bIns="0">
            <a:spAutoFit/>
          </a:bodyPr>
          <a:lstStyle/>
          <a:p>
            <a:pPr>
              <a:spcAft>
                <a:spcPts val="300"/>
              </a:spcAft>
              <a:defRPr sz="2200" b="0">
                <a:solidFill>
                  <a:srgbClr val="FFFFFF"/>
                </a:solidFill>
                <a:latin typeface="Noto Sans"/>
              </a:defRPr>
            </a:pPr>
            <a:r>
              <a:t>Follow Jordan’s club tasks, then Alex’s coordinator review. All records are fictional.</a:t>
            </a:r>
          </a:p>
        </p:txBody>
      </p:sp>
      <p:sp>
        <p:nvSpPr>
          <p:cNvPr id="7" name="TextBox 6"/>
          <p:cNvSpPr txBox="1"/>
          <p:nvPr/>
        </p:nvSpPr>
        <p:spPr>
          <a:xfrm>
            <a:off x="667512" y="5742432"/>
            <a:ext cx="5303520" cy="502920"/>
          </a:xfrm>
          <a:prstGeom prst="rect">
            <a:avLst/>
          </a:prstGeom>
          <a:noFill/>
        </p:spPr>
        <p:txBody>
          <a:bodyPr wrap="square" lIns="0" rIns="0" tIns="0" bIns="0">
            <a:spAutoFit/>
          </a:bodyPr>
          <a:lstStyle/>
          <a:p>
            <a:pPr>
              <a:spcAft>
                <a:spcPts val="300"/>
              </a:spcAft>
              <a:defRPr sz="1100" b="0">
                <a:solidFill>
                  <a:srgbClr val="FFFFFF"/>
                </a:solidFill>
                <a:latin typeface="Noto Sans"/>
              </a:defRPr>
            </a:pPr>
            <a:r>
              <a:t>Club directors + Area Coordinators</a:t>
            </a:r>
          </a:p>
          <a:p>
            <a:pPr>
              <a:spcAft>
                <a:spcPts val="300"/>
              </a:spcAft>
              <a:defRPr sz="1100" b="0">
                <a:solidFill>
                  <a:srgbClr val="FFFFFF"/>
                </a:solidFill>
                <a:latin typeface="Noto Sans"/>
              </a:defRPr>
            </a:pPr>
            <a:r>
              <a:t>Visual orientation · October 2026</a:t>
            </a:r>
          </a:p>
        </p:txBody>
      </p:sp>
      <p:sp>
        <p:nvSpPr>
          <p:cNvPr id="8" name="Rounded Rectangle 7"/>
          <p:cNvSpPr/>
          <p:nvPr/>
        </p:nvSpPr>
        <p:spPr>
          <a:xfrm>
            <a:off x="6854112" y="891540"/>
            <a:ext cx="4259736" cy="2313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76972" y="914400"/>
            <a:ext cx="4214016" cy="2267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Jordan’s club Home — current local application with fictional training data"/>
          <p:cNvPicPr>
            <a:picLocks noChangeAspect="1"/>
          </p:cNvPicPr>
          <p:nvPr/>
        </p:nvPicPr>
        <p:blipFill>
          <a:blip r:embed="rId2"/>
          <a:stretch>
            <a:fillRect/>
          </a:stretch>
        </p:blipFill>
        <p:spPr>
          <a:xfrm>
            <a:off x="6876972" y="914400"/>
            <a:ext cx="4214016" cy="2267712"/>
          </a:xfrm>
          <a:prstGeom prst="rect">
            <a:avLst/>
          </a:prstGeom>
        </p:spPr>
      </p:pic>
      <p:sp>
        <p:nvSpPr>
          <p:cNvPr id="11" name="Rounded Rectangle 10"/>
          <p:cNvSpPr/>
          <p:nvPr/>
        </p:nvSpPr>
        <p:spPr>
          <a:xfrm>
            <a:off x="6933922" y="3396996"/>
            <a:ext cx="4100114" cy="2313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56782" y="3419856"/>
            <a:ext cx="4054394" cy="2267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x’s coordinator Overview — current local application with fictional training data"/>
          <p:cNvPicPr>
            <a:picLocks noChangeAspect="1"/>
          </p:cNvPicPr>
          <p:nvPr/>
        </p:nvPicPr>
        <p:blipFill>
          <a:blip r:embed="rId3"/>
          <a:stretch>
            <a:fillRect/>
          </a:stretch>
        </p:blipFill>
        <p:spPr>
          <a:xfrm>
            <a:off x="6956782" y="3419856"/>
            <a:ext cx="4054394" cy="2267712"/>
          </a:xfrm>
          <a:prstGeom prst="rect">
            <a:avLst/>
          </a:prstGeom>
        </p:spPr>
      </p:pic>
      <p:sp>
        <p:nvSpPr>
          <p:cNvPr id="14" name="TextBox 13"/>
          <p:cNvSpPr txBox="1"/>
          <p:nvPr/>
        </p:nvSpPr>
        <p:spPr>
          <a:xfrm>
            <a:off x="6400800" y="6062472"/>
            <a:ext cx="5212080" cy="274320"/>
          </a:xfrm>
          <a:prstGeom prst="rect">
            <a:avLst/>
          </a:prstGeom>
          <a:noFill/>
        </p:spPr>
        <p:txBody>
          <a:bodyPr wrap="square" lIns="0" rIns="0" tIns="0" bIns="0">
            <a:spAutoFit/>
          </a:bodyPr>
          <a:lstStyle/>
          <a:p>
            <a:pPr>
              <a:spcAft>
                <a:spcPts val="300"/>
              </a:spcAft>
              <a:defRPr sz="1000" b="0">
                <a:solidFill>
                  <a:srgbClr val="FFFFFF"/>
                </a:solidFill>
                <a:latin typeface="Noto Sans"/>
              </a:defRPr>
            </a:pPr>
            <a:r>
              <a:t>Actual app screens · Fictional training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WHY THE SYSTEM HELPS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Keep the people. Choose the trip.</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Club roster · who belongs</a:t>
            </a:r>
          </a:p>
        </p:txBody>
      </p:sp>
      <p:sp>
        <p:nvSpPr>
          <p:cNvPr id="7" name="Rounded Rectangle 6"/>
          <p:cNvSpPr/>
          <p:nvPr/>
        </p:nvSpPr>
        <p:spPr>
          <a:xfrm>
            <a:off x="571500" y="2934701"/>
            <a:ext cx="5449824" cy="138178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957561"/>
            <a:ext cx="5404104" cy="133606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ub roster · who belongs — current local application with fictional training data"/>
          <p:cNvPicPr>
            <a:picLocks noChangeAspect="1"/>
          </p:cNvPicPr>
          <p:nvPr/>
        </p:nvPicPr>
        <p:blipFill>
          <a:blip r:embed="rId2"/>
          <a:stretch>
            <a:fillRect/>
          </a:stretch>
        </p:blipFill>
        <p:spPr>
          <a:xfrm>
            <a:off x="594360" y="2957561"/>
            <a:ext cx="5404104" cy="1336069"/>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Morgan belongs to the club</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Fall Camporee · who is going</a:t>
            </a:r>
          </a:p>
        </p:txBody>
      </p:sp>
      <p:sp>
        <p:nvSpPr>
          <p:cNvPr id="12" name="Rounded Rectangle 11"/>
          <p:cNvSpPr/>
          <p:nvPr/>
        </p:nvSpPr>
        <p:spPr>
          <a:xfrm>
            <a:off x="6167628" y="2904788"/>
            <a:ext cx="5449824" cy="144161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927648"/>
            <a:ext cx="5404104" cy="139589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all Camporee · who is going — current local application with fictional training data"/>
          <p:cNvPicPr>
            <a:picLocks noChangeAspect="1"/>
          </p:cNvPicPr>
          <p:nvPr/>
        </p:nvPicPr>
        <p:blipFill>
          <a:blip r:embed="rId3"/>
          <a:stretch>
            <a:fillRect/>
          </a:stretch>
        </p:blipFill>
        <p:spPr>
          <a:xfrm>
            <a:off x="6190488" y="2927648"/>
            <a:ext cx="5404104" cy="1395894"/>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Choose this event’s attendees</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The roster holds club members. A registration selects the people attending one event.</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BEFORE SIGN-IN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One website, several useful starting points</a:t>
            </a:r>
          </a:p>
        </p:txBody>
      </p:sp>
      <p:sp>
        <p:nvSpPr>
          <p:cNvPr id="6" name="TextBox 5"/>
          <p:cNvSpPr txBox="1"/>
          <p:nvPr/>
        </p:nvSpPr>
        <p:spPr>
          <a:xfrm>
            <a:off x="594360"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events.imsda.org</a:t>
            </a:r>
          </a:p>
        </p:txBody>
      </p:sp>
      <p:sp>
        <p:nvSpPr>
          <p:cNvPr id="7" name="Rounded Rectangle 6"/>
          <p:cNvSpPr/>
          <p:nvPr/>
        </p:nvSpPr>
        <p:spPr>
          <a:xfrm>
            <a:off x="823613" y="2345436"/>
            <a:ext cx="4945597" cy="288036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6473" y="2368296"/>
            <a:ext cx="4899877"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vents.imsda.org — current local application with fictional training data"/>
          <p:cNvPicPr>
            <a:picLocks noChangeAspect="1"/>
          </p:cNvPicPr>
          <p:nvPr/>
        </p:nvPicPr>
        <p:blipFill>
          <a:blip r:embed="rId2"/>
          <a:stretch>
            <a:fillRect/>
          </a:stretch>
        </p:blipFill>
        <p:spPr>
          <a:xfrm>
            <a:off x="846473" y="2368296"/>
            <a:ext cx="4899877" cy="2834640"/>
          </a:xfrm>
          <a:prstGeom prst="rect">
            <a:avLst/>
          </a:prstGeom>
        </p:spPr>
      </p:pic>
      <p:sp>
        <p:nvSpPr>
          <p:cNvPr id="10" name="TextBox 9"/>
          <p:cNvSpPr txBox="1"/>
          <p:nvPr/>
        </p:nvSpPr>
        <p:spPr>
          <a:xfrm>
            <a:off x="594360"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1  Sign in  ·  2  Manage a club</a:t>
            </a:r>
          </a:p>
        </p:txBody>
      </p:sp>
      <p:sp>
        <p:nvSpPr>
          <p:cNvPr id="11" name="TextBox 10"/>
          <p:cNvSpPr txBox="1"/>
          <p:nvPr/>
        </p:nvSpPr>
        <p:spPr>
          <a:xfrm>
            <a:off x="6190488"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Conference calendar</a:t>
            </a:r>
          </a:p>
        </p:txBody>
      </p:sp>
      <p:sp>
        <p:nvSpPr>
          <p:cNvPr id="12" name="Rounded Rectangle 11"/>
          <p:cNvSpPr/>
          <p:nvPr/>
        </p:nvSpPr>
        <p:spPr>
          <a:xfrm>
            <a:off x="6310042" y="2345436"/>
            <a:ext cx="5164995" cy="288035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32902" y="2368296"/>
            <a:ext cx="5119275" cy="28346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nference calendar — current local application with fictional training data"/>
          <p:cNvPicPr>
            <a:picLocks noChangeAspect="1"/>
          </p:cNvPicPr>
          <p:nvPr/>
        </p:nvPicPr>
        <p:blipFill>
          <a:blip r:embed="rId3"/>
          <a:stretch>
            <a:fillRect/>
          </a:stretch>
        </p:blipFill>
        <p:spPr>
          <a:xfrm>
            <a:off x="6332902" y="2368296"/>
            <a:ext cx="5119275" cy="2834639"/>
          </a:xfrm>
          <a:prstGeom prst="rect">
            <a:avLst/>
          </a:prstGeom>
        </p:spPr>
      </p:pic>
      <p:sp>
        <p:nvSpPr>
          <p:cNvPr id="15" name="TextBox 14"/>
          <p:cNvSpPr txBox="1"/>
          <p:nvPr/>
        </p:nvSpPr>
        <p:spPr>
          <a:xfrm>
            <a:off x="6190488"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3  See what is coming up</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Start at events.imsda.org. Browse the calendar, find a club, or open your own account.</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SIGNING 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Use the account you already have</a:t>
            </a:r>
          </a:p>
        </p:txBody>
      </p:sp>
      <p:sp>
        <p:nvSpPr>
          <p:cNvPr id="6" name="Rounded Rectangle 5"/>
          <p:cNvSpPr/>
          <p:nvPr/>
        </p:nvSpPr>
        <p:spPr>
          <a:xfrm>
            <a:off x="2425243" y="1668780"/>
            <a:ext cx="4430673"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48103" y="1691640"/>
            <a:ext cx="4384953"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ccount sign-in — current local application with fictional training data"/>
          <p:cNvPicPr>
            <a:picLocks noChangeAspect="1"/>
          </p:cNvPicPr>
          <p:nvPr/>
        </p:nvPicPr>
        <p:blipFill>
          <a:blip r:embed="rId2"/>
          <a:stretch>
            <a:fillRect/>
          </a:stretch>
        </p:blipFill>
        <p:spPr>
          <a:xfrm>
            <a:off x="2448103" y="1691640"/>
            <a:ext cx="4384953"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Your account email</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Continue</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Reset a forgotten password</a:t>
            </a:r>
          </a:p>
        </p:txBody>
      </p:sp>
      <p:sp>
        <p:nvSpPr>
          <p:cNvPr id="18" name="Oval 17"/>
          <p:cNvSpPr/>
          <p:nvPr/>
        </p:nvSpPr>
        <p:spPr>
          <a:xfrm>
            <a:off x="2433348" y="319491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29360" y="324520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433348" y="525688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9360" y="530717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6029009" y="463829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5021" y="468858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Use your own email and password. Forgot password? starts the email-code reset process.</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FIRST-TIME DIRECTORS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An invitation connects the account to the club</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New account · verify your email</a:t>
            </a:r>
          </a:p>
        </p:txBody>
      </p:sp>
      <p:sp>
        <p:nvSpPr>
          <p:cNvPr id="7" name="Rounded Rectangle 6"/>
          <p:cNvSpPr/>
          <p:nvPr/>
        </p:nvSpPr>
        <p:spPr>
          <a:xfrm>
            <a:off x="1149231" y="2025396"/>
            <a:ext cx="4294361"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72091" y="2048256"/>
            <a:ext cx="4248641"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New account · verify your email — current local application with fictional training data"/>
          <p:cNvPicPr>
            <a:picLocks noChangeAspect="1"/>
          </p:cNvPicPr>
          <p:nvPr/>
        </p:nvPicPr>
        <p:blipFill>
          <a:blip r:embed="rId2"/>
          <a:stretch>
            <a:fillRect/>
          </a:stretch>
        </p:blipFill>
        <p:spPr>
          <a:xfrm>
            <a:off x="1172091" y="2048256"/>
            <a:ext cx="4248641"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Keep this browser open</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Account Overview · club invitation</a:t>
            </a:r>
          </a:p>
        </p:txBody>
      </p:sp>
      <p:sp>
        <p:nvSpPr>
          <p:cNvPr id="12" name="Rounded Rectangle 11"/>
          <p:cNvSpPr/>
          <p:nvPr/>
        </p:nvSpPr>
        <p:spPr>
          <a:xfrm>
            <a:off x="6167628" y="2796623"/>
            <a:ext cx="5449823" cy="165794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819483"/>
            <a:ext cx="5404103" cy="16122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ccount Overview · club invitation — current local application with fictional training data"/>
          <p:cNvPicPr>
            <a:picLocks noChangeAspect="1"/>
          </p:cNvPicPr>
          <p:nvPr/>
        </p:nvPicPr>
        <p:blipFill>
          <a:blip r:embed="rId3"/>
          <a:stretch>
            <a:fillRect/>
          </a:stretch>
        </p:blipFill>
        <p:spPr>
          <a:xfrm>
            <a:off x="6190488" y="2819483"/>
            <a:ext cx="5404103" cy="1612224"/>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Check club and role  ·  3  Connect your account</a:t>
            </a:r>
          </a:p>
        </p:txBody>
      </p:sp>
      <p:sp>
        <p:nvSpPr>
          <p:cNvPr id="16" name="Oval 15"/>
          <p:cNvSpPr/>
          <p:nvPr/>
        </p:nvSpPr>
        <p:spPr>
          <a:xfrm>
            <a:off x="1153246" y="385785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9258" y="390814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10313426" y="378561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09438" y="383590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New here? Create and verify your account. Then Accept the invitation for the correct club and role.</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CONFIRM IT’S YOU</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The extra step protects club information</a:t>
            </a:r>
          </a:p>
        </p:txBody>
      </p:sp>
      <p:sp>
        <p:nvSpPr>
          <p:cNvPr id="6" name="Rounded Rectangle 5"/>
          <p:cNvSpPr/>
          <p:nvPr/>
        </p:nvSpPr>
        <p:spPr>
          <a:xfrm>
            <a:off x="571500" y="2119122"/>
            <a:ext cx="8138160" cy="326897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141982"/>
            <a:ext cx="8092440" cy="32232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wo-step sign-in — current local application with fictional training data"/>
          <p:cNvPicPr>
            <a:picLocks noChangeAspect="1"/>
          </p:cNvPicPr>
          <p:nvPr/>
        </p:nvPicPr>
        <p:blipFill>
          <a:blip r:embed="rId2"/>
          <a:stretch>
            <a:fillRect/>
          </a:stretch>
        </p:blipFill>
        <p:spPr>
          <a:xfrm>
            <a:off x="594360" y="2141982"/>
            <a:ext cx="8092440" cy="3223260"/>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Code from your own app</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Then Continue</a:t>
            </a:r>
          </a:p>
        </p:txBody>
      </p:sp>
      <p:sp>
        <p:nvSpPr>
          <p:cNvPr id="15" name="Oval 14"/>
          <p:cNvSpPr/>
          <p:nvPr/>
        </p:nvSpPr>
        <p:spPr>
          <a:xfrm>
            <a:off x="690829" y="479991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841" y="485020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7" name="Oval 16"/>
          <p:cNvSpPr/>
          <p:nvPr/>
        </p:nvSpPr>
        <p:spPr>
          <a:xfrm>
            <a:off x="1904695" y="479991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0707" y="485020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9" name="Rounded Rectangle 18"/>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Follow the confirmation screen. Use an authenticator, recovery code or offered passkey. Keep codes private.</a:t>
            </a:r>
          </a:p>
        </p:txBody>
      </p:sp>
      <p:sp>
        <p:nvSpPr>
          <p:cNvPr id="21" name="TextBox 20"/>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2" name="TextBox 21"/>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AFTER SIGN-IN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Open the tools for the job you are doing</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Jordan · director</a:t>
            </a:r>
          </a:p>
        </p:txBody>
      </p:sp>
      <p:sp>
        <p:nvSpPr>
          <p:cNvPr id="7" name="Rounded Rectangle 6"/>
          <p:cNvSpPr/>
          <p:nvPr/>
        </p:nvSpPr>
        <p:spPr>
          <a:xfrm>
            <a:off x="710374" y="2025396"/>
            <a:ext cx="5172075"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3234" y="2048256"/>
            <a:ext cx="5126355"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Jordan · director — current local application with fictional training data"/>
          <p:cNvPicPr>
            <a:picLocks noChangeAspect="1"/>
          </p:cNvPicPr>
          <p:nvPr/>
        </p:nvPicPr>
        <p:blipFill>
          <a:blip r:embed="rId2"/>
          <a:stretch>
            <a:fillRect/>
          </a:stretch>
        </p:blipFill>
        <p:spPr>
          <a:xfrm>
            <a:off x="733234" y="2048256"/>
            <a:ext cx="5126355"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Club work</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Alex · Area Coordinator</a:t>
            </a:r>
          </a:p>
        </p:txBody>
      </p:sp>
      <p:sp>
        <p:nvSpPr>
          <p:cNvPr id="12" name="Rounded Rectangle 11"/>
          <p:cNvSpPr/>
          <p:nvPr/>
        </p:nvSpPr>
        <p:spPr>
          <a:xfrm>
            <a:off x="6784383" y="2025396"/>
            <a:ext cx="4216313"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07243" y="2048256"/>
            <a:ext cx="4170593"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lex · Area Coordinator — current local application with fictional training data"/>
          <p:cNvPicPr>
            <a:picLocks noChangeAspect="1"/>
          </p:cNvPicPr>
          <p:nvPr/>
        </p:nvPicPr>
        <p:blipFill>
          <a:blip r:embed="rId3"/>
          <a:stretch>
            <a:fillRect/>
          </a:stretch>
        </p:blipFill>
        <p:spPr>
          <a:xfrm>
            <a:off x="6807243" y="2048256"/>
            <a:ext cx="4170593" cy="3154680"/>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Coordinator oversight</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Jordan opens My club. Alex opens Clubs overview. The tools follow each person’s assigned responsibility.</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CLUB HOME</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Jordan starts with the next task</a:t>
            </a:r>
          </a:p>
        </p:txBody>
      </p:sp>
      <p:sp>
        <p:nvSpPr>
          <p:cNvPr id="6" name="Rounded Rectangle 5"/>
          <p:cNvSpPr/>
          <p:nvPr/>
        </p:nvSpPr>
        <p:spPr>
          <a:xfrm>
            <a:off x="786023" y="1668780"/>
            <a:ext cx="7709112"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08883" y="1691640"/>
            <a:ext cx="7663392"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iverton Pathfinders · Home — current local application with fictional training data"/>
          <p:cNvPicPr>
            <a:picLocks noChangeAspect="1"/>
          </p:cNvPicPr>
          <p:nvPr/>
        </p:nvPicPr>
        <p:blipFill>
          <a:blip r:embed="rId2"/>
          <a:stretch>
            <a:fillRect/>
          </a:stretch>
        </p:blipFill>
        <p:spPr>
          <a:xfrm>
            <a:off x="808883" y="1691640"/>
            <a:ext cx="7663392"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Right club and year</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Start here</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Open the saved work</a:t>
            </a:r>
          </a:p>
        </p:txBody>
      </p:sp>
      <p:sp>
        <p:nvSpPr>
          <p:cNvPr id="18" name="Oval 17"/>
          <p:cNvSpPr/>
          <p:nvPr/>
        </p:nvSpPr>
        <p:spPr>
          <a:xfrm>
            <a:off x="892481" y="183401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8493" y="188430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892481" y="323615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8493" y="328644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7253097" y="542184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9109" y="547213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the club and year. Home points to the next task and the records behind it.</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ROSTER</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Add Morgan once, then check the saved row</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Add to roster · fictional member</a:t>
            </a:r>
          </a:p>
        </p:txBody>
      </p:sp>
      <p:sp>
        <p:nvSpPr>
          <p:cNvPr id="7" name="Rounded Rectangle 6"/>
          <p:cNvSpPr/>
          <p:nvPr/>
        </p:nvSpPr>
        <p:spPr>
          <a:xfrm>
            <a:off x="571500" y="2264175"/>
            <a:ext cx="5449824" cy="19456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287035"/>
            <a:ext cx="5404104" cy="1899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dd to roster · fictional member — current local application with fictional training data"/>
          <p:cNvPicPr>
            <a:picLocks noChangeAspect="1"/>
          </p:cNvPicPr>
          <p:nvPr/>
        </p:nvPicPr>
        <p:blipFill>
          <a:blip r:embed="rId2"/>
          <a:stretch>
            <a:fillRect/>
          </a:stretch>
        </p:blipFill>
        <p:spPr>
          <a:xfrm>
            <a:off x="594360" y="2287035"/>
            <a:ext cx="5404104" cy="18998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Enter the requested details  ·  2  Save this member</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Morgan Reed is now listed</a:t>
            </a:r>
          </a:p>
        </p:txBody>
      </p:sp>
      <p:sp>
        <p:nvSpPr>
          <p:cNvPr id="12" name="Rounded Rectangle 11"/>
          <p:cNvSpPr/>
          <p:nvPr/>
        </p:nvSpPr>
        <p:spPr>
          <a:xfrm>
            <a:off x="6167628" y="2934701"/>
            <a:ext cx="5449824" cy="138178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957561"/>
            <a:ext cx="5404104" cy="133606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organ Reed is now listed — current local application with fictional training data"/>
          <p:cNvPicPr>
            <a:picLocks noChangeAspect="1"/>
          </p:cNvPicPr>
          <p:nvPr/>
        </p:nvPicPr>
        <p:blipFill>
          <a:blip r:embed="rId3"/>
          <a:stretch>
            <a:fillRect/>
          </a:stretch>
        </p:blipFill>
        <p:spPr>
          <a:xfrm>
            <a:off x="6190488" y="2957561"/>
            <a:ext cx="5404104" cy="1336069"/>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3  Check the result</a:t>
            </a:r>
          </a:p>
        </p:txBody>
      </p:sp>
      <p:sp>
        <p:nvSpPr>
          <p:cNvPr id="16" name="Oval 15"/>
          <p:cNvSpPr/>
          <p:nvPr/>
        </p:nvSpPr>
        <p:spPr>
          <a:xfrm>
            <a:off x="610179" y="242571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6191" y="247600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5882060" y="347929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78072"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0" name="Rounded Rectangle 19"/>
          <p:cNvSpPr/>
          <p:nvPr/>
        </p:nvSpPr>
        <p:spPr>
          <a:xfrm>
            <a:off x="2400300" y="4503420"/>
            <a:ext cx="1874519" cy="73152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423160" y="4526280"/>
            <a:ext cx="18288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ctual Add to roster action — current local application with fictional training data"/>
          <p:cNvPicPr>
            <a:picLocks noChangeAspect="1"/>
          </p:cNvPicPr>
          <p:nvPr/>
        </p:nvPicPr>
        <p:blipFill>
          <a:blip r:embed="rId4"/>
          <a:stretch>
            <a:fillRect/>
          </a:stretch>
        </p:blipFill>
        <p:spPr>
          <a:xfrm>
            <a:off x="2423160" y="4526280"/>
            <a:ext cx="1828800" cy="685800"/>
          </a:xfrm>
          <a:prstGeom prst="rect">
            <a:avLst/>
          </a:prstGeom>
        </p:spPr>
      </p:pic>
      <p:sp>
        <p:nvSpPr>
          <p:cNvPr id="23" name="Oval 22"/>
          <p:cNvSpPr/>
          <p:nvPr/>
        </p:nvSpPr>
        <p:spPr>
          <a:xfrm>
            <a:off x="2103120" y="4722876"/>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99132" y="4773168"/>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5" name="Rounded Rectangle 2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for an existing record. Add to roster saves the member; the new row confirms the result.</a:t>
            </a:r>
          </a:p>
        </p:txBody>
      </p:sp>
      <p:sp>
        <p:nvSpPr>
          <p:cNvPr id="27" name="TextBox 2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5"/>
              </a:rPr>
              <a:t>events.imsda.org  ·  Actual local app screens  ·  Fictional training records</a:t>
            </a:r>
          </a:p>
        </p:txBody>
      </p:sp>
      <p:sp>
        <p:nvSpPr>
          <p:cNvPr id="28" name="TextBox 2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ROSTER</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Correct the existing person</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Edit · Morgan’s existing record</a:t>
            </a:r>
          </a:p>
        </p:txBody>
      </p:sp>
      <p:sp>
        <p:nvSpPr>
          <p:cNvPr id="7" name="Rounded Rectangle 6"/>
          <p:cNvSpPr/>
          <p:nvPr/>
        </p:nvSpPr>
        <p:spPr>
          <a:xfrm>
            <a:off x="1054875" y="2025396"/>
            <a:ext cx="4483072"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77735" y="2048256"/>
            <a:ext cx="4437352"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dit · Morgan’s existing record — current local application with fictional training data"/>
          <p:cNvPicPr>
            <a:picLocks noChangeAspect="1"/>
          </p:cNvPicPr>
          <p:nvPr/>
        </p:nvPicPr>
        <p:blipFill>
          <a:blip r:embed="rId2"/>
          <a:stretch>
            <a:fillRect/>
          </a:stretch>
        </p:blipFill>
        <p:spPr>
          <a:xfrm>
            <a:off x="1077735" y="2048256"/>
            <a:ext cx="4437352"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Correct this record</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Finish · Save or Deactivate</a:t>
            </a:r>
          </a:p>
        </p:txBody>
      </p:sp>
      <p:sp>
        <p:nvSpPr>
          <p:cNvPr id="12" name="Rounded Rectangle 11"/>
          <p:cNvSpPr/>
          <p:nvPr/>
        </p:nvSpPr>
        <p:spPr>
          <a:xfrm>
            <a:off x="6167628" y="2938118"/>
            <a:ext cx="5449824" cy="1374955"/>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960978"/>
            <a:ext cx="5404104" cy="13292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nish · Save or Deactivate — current local application with fictional training data"/>
          <p:cNvPicPr>
            <a:picLocks noChangeAspect="1"/>
          </p:cNvPicPr>
          <p:nvPr/>
        </p:nvPicPr>
        <p:blipFill>
          <a:blip r:embed="rId3"/>
          <a:stretch>
            <a:fillRect/>
          </a:stretch>
        </p:blipFill>
        <p:spPr>
          <a:xfrm>
            <a:off x="6190488" y="2960978"/>
            <a:ext cx="5404104" cy="1329235"/>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Save changes or keep history with Deactivate</a:t>
            </a:r>
          </a:p>
        </p:txBody>
      </p:sp>
      <p:sp>
        <p:nvSpPr>
          <p:cNvPr id="16" name="Oval 15"/>
          <p:cNvSpPr/>
          <p:nvPr/>
        </p:nvSpPr>
        <p:spPr>
          <a:xfrm>
            <a:off x="1064552" y="237515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60564" y="242544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6206307" y="367867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2319" y="372896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Edit and Save correct a record. Deactivate keeps it on file. Remove erases details and cannot be undone.</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&amp; DEPUTY · FORMS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 form can be started, sent or submitted</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Start · choose the required form</a:t>
            </a:r>
          </a:p>
        </p:txBody>
      </p:sp>
      <p:sp>
        <p:nvSpPr>
          <p:cNvPr id="7" name="Rounded Rectangle 6"/>
          <p:cNvSpPr/>
          <p:nvPr/>
        </p:nvSpPr>
        <p:spPr>
          <a:xfrm>
            <a:off x="571500" y="2852166"/>
            <a:ext cx="5449824" cy="154686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875026"/>
            <a:ext cx="5404104" cy="15011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rt · choose the required form — current local application with fictional training data"/>
          <p:cNvPicPr>
            <a:picLocks noChangeAspect="1"/>
          </p:cNvPicPr>
          <p:nvPr/>
        </p:nvPicPr>
        <p:blipFill>
          <a:blip r:embed="rId2"/>
          <a:stretch>
            <a:fillRect/>
          </a:stretch>
        </p:blipFill>
        <p:spPr>
          <a:xfrm>
            <a:off x="594360" y="2875026"/>
            <a:ext cx="5404104" cy="150114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Fill in for a member or send a private link</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Return · read the saved state</a:t>
            </a:r>
          </a:p>
        </p:txBody>
      </p:sp>
      <p:sp>
        <p:nvSpPr>
          <p:cNvPr id="12" name="Rounded Rectangle 11"/>
          <p:cNvSpPr/>
          <p:nvPr/>
        </p:nvSpPr>
        <p:spPr>
          <a:xfrm>
            <a:off x="6167628" y="2465029"/>
            <a:ext cx="5449824" cy="23211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487889"/>
            <a:ext cx="5404104" cy="22754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eturn · read the saved state — current local application with fictional training data"/>
          <p:cNvPicPr>
            <a:picLocks noChangeAspect="1"/>
          </p:cNvPicPr>
          <p:nvPr/>
        </p:nvPicPr>
        <p:blipFill>
          <a:blip r:embed="rId3"/>
          <a:stretch>
            <a:fillRect/>
          </a:stretch>
        </p:blipFill>
        <p:spPr>
          <a:xfrm>
            <a:off x="6190488" y="2487889"/>
            <a:ext cx="5404104" cy="2275412"/>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Open a draft · View and print a submission</a:t>
            </a:r>
          </a:p>
        </p:txBody>
      </p:sp>
      <p:sp>
        <p:nvSpPr>
          <p:cNvPr id="16" name="Oval 15"/>
          <p:cNvSpPr/>
          <p:nvPr/>
        </p:nvSpPr>
        <p:spPr>
          <a:xfrm>
            <a:off x="610179" y="373448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6191" y="378477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5828019" y="297870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4031" y="3028993"/>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Use an enabled form, then return to Filled forms. Open continues a draft; View and print reads a submission.</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MONTHLY RECORDS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Capture the October meeting while it is fresh</a:t>
            </a:r>
          </a:p>
        </p:txBody>
      </p:sp>
      <p:sp>
        <p:nvSpPr>
          <p:cNvPr id="6" name="Rounded Rectangle 5"/>
          <p:cNvSpPr/>
          <p:nvPr/>
        </p:nvSpPr>
        <p:spPr>
          <a:xfrm>
            <a:off x="2543251" y="1668780"/>
            <a:ext cx="4194657"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66111" y="1691640"/>
            <a:ext cx="4148937"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October · an existing meeting note — current local application with fictional training data"/>
          <p:cNvPicPr>
            <a:picLocks noChangeAspect="1"/>
          </p:cNvPicPr>
          <p:nvPr/>
        </p:nvPicPr>
        <p:blipFill>
          <a:blip r:embed="rId2"/>
          <a:stretch>
            <a:fillRect/>
          </a:stretch>
        </p:blipFill>
        <p:spPr>
          <a:xfrm>
            <a:off x="2566111" y="1691640"/>
            <a:ext cx="4148937"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Date and head counts</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Attendance is optional</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Leave a useful note</a:t>
            </a:r>
          </a:p>
        </p:txBody>
      </p:sp>
      <p:sp>
        <p:nvSpPr>
          <p:cNvPr id="18" name="Oval 17"/>
          <p:cNvSpPr/>
          <p:nvPr/>
        </p:nvSpPr>
        <p:spPr>
          <a:xfrm>
            <a:off x="2544275" y="216392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40287" y="221421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544275" y="3566068"/>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40287" y="3616360"/>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2544275" y="5050688"/>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40287" y="5100980"/>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Record the meeting date and counts now. Optional attendance can support the Monthly Record later.</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MONTHLY RECORDS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Draft is a stopping point. Submitted is a result.</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October · draft still unfinished</a:t>
            </a:r>
          </a:p>
        </p:txBody>
      </p:sp>
      <p:sp>
        <p:nvSpPr>
          <p:cNvPr id="7" name="Rounded Rectangle 6"/>
          <p:cNvSpPr/>
          <p:nvPr/>
        </p:nvSpPr>
        <p:spPr>
          <a:xfrm>
            <a:off x="571500" y="3008284"/>
            <a:ext cx="5449824" cy="123462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3031144"/>
            <a:ext cx="5404104" cy="118890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ctober · draft still unfinished — current local application with fictional training data"/>
          <p:cNvPicPr>
            <a:picLocks noChangeAspect="1"/>
          </p:cNvPicPr>
          <p:nvPr/>
        </p:nvPicPr>
        <p:blipFill>
          <a:blip r:embed="rId2"/>
          <a:stretch>
            <a:fillRect/>
          </a:stretch>
        </p:blipFill>
        <p:spPr>
          <a:xfrm>
            <a:off x="594360" y="3031144"/>
            <a:ext cx="5404104" cy="1188902"/>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Return later if needed  ·  2  Finish the report</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October · submitted result</a:t>
            </a:r>
          </a:p>
        </p:txBody>
      </p:sp>
      <p:sp>
        <p:nvSpPr>
          <p:cNvPr id="12" name="Rounded Rectangle 11"/>
          <p:cNvSpPr/>
          <p:nvPr/>
        </p:nvSpPr>
        <p:spPr>
          <a:xfrm>
            <a:off x="6167627" y="3031879"/>
            <a:ext cx="5449824" cy="1187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054739"/>
            <a:ext cx="5404104" cy="1141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ctober · submitted result — current local application with fictional training data"/>
          <p:cNvPicPr>
            <a:picLocks noChangeAspect="1"/>
          </p:cNvPicPr>
          <p:nvPr/>
        </p:nvPicPr>
        <p:blipFill>
          <a:blip r:embed="rId3"/>
          <a:stretch>
            <a:fillRect/>
          </a:stretch>
        </p:blipFill>
        <p:spPr>
          <a:xfrm>
            <a:off x="6190488" y="3054739"/>
            <a:ext cx="5404104" cy="1141712"/>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3  Confirm the saved state</a:t>
            </a:r>
          </a:p>
        </p:txBody>
      </p:sp>
      <p:sp>
        <p:nvSpPr>
          <p:cNvPr id="16" name="Oval 15"/>
          <p:cNvSpPr/>
          <p:nvPr/>
        </p:nvSpPr>
        <p:spPr>
          <a:xfrm>
            <a:off x="826343" y="347929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2355"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2771820" y="347929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7832"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Oval 19"/>
          <p:cNvSpPr/>
          <p:nvPr/>
        </p:nvSpPr>
        <p:spPr>
          <a:xfrm>
            <a:off x="5828019" y="347929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24031"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2" name="Rounded Rectangle 21"/>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Review the month, then Submit report. Save draft keeps unfinished work; it does not send the report.</a:t>
            </a:r>
          </a:p>
        </p:txBody>
      </p:sp>
      <p:sp>
        <p:nvSpPr>
          <p:cNvPr id="24" name="TextBox 23"/>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5" name="TextBox 24"/>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CLUB EVENTS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Choose the people going to Fall Camporee</a:t>
            </a:r>
          </a:p>
        </p:txBody>
      </p:sp>
      <p:sp>
        <p:nvSpPr>
          <p:cNvPr id="6" name="Rounded Rectangle 5"/>
          <p:cNvSpPr/>
          <p:nvPr/>
        </p:nvSpPr>
        <p:spPr>
          <a:xfrm>
            <a:off x="571500" y="1824156"/>
            <a:ext cx="8138160" cy="3858911"/>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847016"/>
            <a:ext cx="8092440" cy="381319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all Camporee · Who’s going — current local application with fictional training data"/>
          <p:cNvPicPr>
            <a:picLocks noChangeAspect="1"/>
          </p:cNvPicPr>
          <p:nvPr/>
        </p:nvPicPr>
        <p:blipFill>
          <a:blip r:embed="rId2"/>
          <a:stretch>
            <a:fillRect/>
          </a:stretch>
        </p:blipFill>
        <p:spPr>
          <a:xfrm>
            <a:off x="594360" y="1847016"/>
            <a:ext cx="8092440" cy="3813191"/>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Select only the people going</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Morgan’s roster record is reused</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Then continue to details</a:t>
            </a:r>
          </a:p>
        </p:txBody>
      </p:sp>
      <p:sp>
        <p:nvSpPr>
          <p:cNvPr id="18" name="Oval 17"/>
          <p:cNvSpPr/>
          <p:nvPr/>
        </p:nvSpPr>
        <p:spPr>
          <a:xfrm>
            <a:off x="286207" y="234895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2219" y="239924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86207" y="387423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2219" y="3924523"/>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Rounded Rectangle 21"/>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Select actual attendees from the roster. Complete Each person’s details, then continue to Review.</a:t>
            </a:r>
          </a:p>
        </p:txBody>
      </p:sp>
      <p:sp>
        <p:nvSpPr>
          <p:cNvPr id="24" name="TextBox 23"/>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5" name="TextBox 24"/>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CLUB EVENTS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Review, then return to the saved registration</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Before submitting · Review</a:t>
            </a:r>
          </a:p>
        </p:txBody>
      </p:sp>
      <p:sp>
        <p:nvSpPr>
          <p:cNvPr id="7" name="Rounded Rectangle 6"/>
          <p:cNvSpPr/>
          <p:nvPr/>
        </p:nvSpPr>
        <p:spPr>
          <a:xfrm>
            <a:off x="571500" y="2492883"/>
            <a:ext cx="5449824" cy="1396746"/>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515743"/>
            <a:ext cx="5404104" cy="135102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efore submitting · Review — current local application with fictional training data"/>
          <p:cNvPicPr>
            <a:picLocks noChangeAspect="1"/>
          </p:cNvPicPr>
          <p:nvPr/>
        </p:nvPicPr>
        <p:blipFill>
          <a:blip r:embed="rId2"/>
          <a:stretch>
            <a:fillRect/>
          </a:stretch>
        </p:blipFill>
        <p:spPr>
          <a:xfrm>
            <a:off x="594360" y="2515743"/>
            <a:ext cx="5404104" cy="1351026"/>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Check who and what</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After submitting · saved registration</a:t>
            </a:r>
          </a:p>
        </p:txBody>
      </p:sp>
      <p:sp>
        <p:nvSpPr>
          <p:cNvPr id="12" name="Rounded Rectangle 11"/>
          <p:cNvSpPr/>
          <p:nvPr/>
        </p:nvSpPr>
        <p:spPr>
          <a:xfrm>
            <a:off x="6167628" y="3162514"/>
            <a:ext cx="5449824" cy="9261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185374"/>
            <a:ext cx="5404104" cy="88044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fter submitting · saved registration — current local application with fictional training data"/>
          <p:cNvPicPr>
            <a:picLocks noChangeAspect="1"/>
          </p:cNvPicPr>
          <p:nvPr/>
        </p:nvPicPr>
        <p:blipFill>
          <a:blip r:embed="rId3"/>
          <a:stretch>
            <a:fillRect/>
          </a:stretch>
        </p:blipFill>
        <p:spPr>
          <a:xfrm>
            <a:off x="6190488" y="3185374"/>
            <a:ext cx="5404104" cy="880443"/>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Read the confirmation and status  ·  3  Use the saved working copy</a:t>
            </a:r>
          </a:p>
        </p:txBody>
      </p:sp>
      <p:sp>
        <p:nvSpPr>
          <p:cNvPr id="16" name="Rounded Rectangle 15"/>
          <p:cNvSpPr/>
          <p:nvPr/>
        </p:nvSpPr>
        <p:spPr>
          <a:xfrm>
            <a:off x="1289511" y="4503420"/>
            <a:ext cx="4004656" cy="73152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12371" y="4526280"/>
            <a:ext cx="3958936"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ctual Submit registration action — current local application with fictional training data"/>
          <p:cNvPicPr>
            <a:picLocks noChangeAspect="1"/>
          </p:cNvPicPr>
          <p:nvPr/>
        </p:nvPicPr>
        <p:blipFill>
          <a:blip r:embed="rId4"/>
          <a:stretch>
            <a:fillRect/>
          </a:stretch>
        </p:blipFill>
        <p:spPr>
          <a:xfrm>
            <a:off x="1312371" y="4526280"/>
            <a:ext cx="3958936" cy="685800"/>
          </a:xfrm>
          <a:prstGeom prst="rect">
            <a:avLst/>
          </a:prstGeom>
        </p:spPr>
      </p:pic>
      <p:sp>
        <p:nvSpPr>
          <p:cNvPr id="19" name="Rounded Rectangle 18"/>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Review, submit, then check the saved registration. Use View to return or download a PDF.</a:t>
            </a:r>
          </a:p>
        </p:txBody>
      </p:sp>
      <p:sp>
        <p:nvSpPr>
          <p:cNvPr id="21" name="TextBox 20"/>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5"/>
              </a:rPr>
              <a:t>events.imsda.org  ·  Actual local app screens  ·  Fictional training records</a:t>
            </a:r>
          </a:p>
        </p:txBody>
      </p:sp>
      <p:sp>
        <p:nvSpPr>
          <p:cNvPr id="22" name="TextBox 21"/>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ACHIEVEMENTS &amp; WORKING COPIES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Turn club records into useful follow-up</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Honors · fictional earned records</a:t>
            </a:r>
          </a:p>
        </p:txBody>
      </p:sp>
      <p:sp>
        <p:nvSpPr>
          <p:cNvPr id="7" name="Rounded Rectangle 6"/>
          <p:cNvSpPr/>
          <p:nvPr/>
        </p:nvSpPr>
        <p:spPr>
          <a:xfrm>
            <a:off x="571500" y="2228811"/>
            <a:ext cx="5449824" cy="279356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251671"/>
            <a:ext cx="5404104" cy="274784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onors · fictional earned records — current local application with fictional training data"/>
          <p:cNvPicPr>
            <a:picLocks noChangeAspect="1"/>
          </p:cNvPicPr>
          <p:nvPr/>
        </p:nvPicPr>
        <p:blipFill>
          <a:blip r:embed="rId2"/>
          <a:stretch>
            <a:fillRect/>
          </a:stretch>
        </p:blipFill>
        <p:spPr>
          <a:xfrm>
            <a:off x="594360" y="2251671"/>
            <a:ext cx="5404104" cy="2747849"/>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Record a completed honor</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Roster export · preview first</a:t>
            </a:r>
          </a:p>
        </p:txBody>
      </p:sp>
      <p:sp>
        <p:nvSpPr>
          <p:cNvPr id="12" name="Rounded Rectangle 11"/>
          <p:cNvSpPr/>
          <p:nvPr/>
        </p:nvSpPr>
        <p:spPr>
          <a:xfrm>
            <a:off x="6167628" y="3004835"/>
            <a:ext cx="5449824" cy="1241521"/>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027695"/>
            <a:ext cx="5404104" cy="119580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ster export · preview first — current local application with fictional training data"/>
          <p:cNvPicPr>
            <a:picLocks noChangeAspect="1"/>
          </p:cNvPicPr>
          <p:nvPr/>
        </p:nvPicPr>
        <p:blipFill>
          <a:blip r:embed="rId3"/>
          <a:stretch>
            <a:fillRect/>
          </a:stretch>
        </p:blipFill>
        <p:spPr>
          <a:xfrm>
            <a:off x="6190488" y="3027695"/>
            <a:ext cx="5404104" cy="1195801"/>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Check columns and rows  ·  3  Create the working file</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Record earned honors. Preview an export before downloading only the fields needed for the task.</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ALL CLUBS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Alex finds Riverton and opens a view-only record</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All clubs · search by club, church or city</a:t>
            </a:r>
          </a:p>
        </p:txBody>
      </p:sp>
      <p:sp>
        <p:nvSpPr>
          <p:cNvPr id="7" name="Rounded Rectangle 6"/>
          <p:cNvSpPr/>
          <p:nvPr/>
        </p:nvSpPr>
        <p:spPr>
          <a:xfrm>
            <a:off x="571500" y="2640988"/>
            <a:ext cx="5449824" cy="196921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663848"/>
            <a:ext cx="5404104" cy="192349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ll clubs · search by club, church or city — current local application with fictional training data"/>
          <p:cNvPicPr>
            <a:picLocks noChangeAspect="1"/>
          </p:cNvPicPr>
          <p:nvPr/>
        </p:nvPicPr>
        <p:blipFill>
          <a:blip r:embed="rId2"/>
          <a:stretch>
            <a:fillRect/>
          </a:stretch>
        </p:blipFill>
        <p:spPr>
          <a:xfrm>
            <a:off x="594360" y="2663848"/>
            <a:ext cx="5404104" cy="1923494"/>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Find the club  ·  2  Read its information</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Riverton · coordinator view</a:t>
            </a:r>
          </a:p>
        </p:txBody>
      </p:sp>
      <p:sp>
        <p:nvSpPr>
          <p:cNvPr id="12" name="Rounded Rectangle 11"/>
          <p:cNvSpPr/>
          <p:nvPr/>
        </p:nvSpPr>
        <p:spPr>
          <a:xfrm>
            <a:off x="6337351" y="2025396"/>
            <a:ext cx="5110376" cy="320039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60211" y="2048256"/>
            <a:ext cx="5064656" cy="31546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iverton · coordinator view — current local application with fictional training data"/>
          <p:cNvPicPr>
            <a:picLocks noChangeAspect="1"/>
          </p:cNvPicPr>
          <p:nvPr/>
        </p:nvPicPr>
        <p:blipFill>
          <a:blip r:embed="rId3"/>
          <a:stretch>
            <a:fillRect/>
          </a:stretch>
        </p:blipFill>
        <p:spPr>
          <a:xfrm>
            <a:off x="6360211" y="2048256"/>
            <a:ext cx="5064656" cy="3154679"/>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3  Check your access</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Search All clubs, then Open. Coordinator oversight usually reads club information; the director maintains it.</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OVERVIEW</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Use Overview to decide where help is needed</a:t>
            </a:r>
          </a:p>
        </p:txBody>
      </p:sp>
      <p:sp>
        <p:nvSpPr>
          <p:cNvPr id="6" name="Rounded Rectangle 5"/>
          <p:cNvSpPr/>
          <p:nvPr/>
        </p:nvSpPr>
        <p:spPr>
          <a:xfrm>
            <a:off x="571500" y="1769364"/>
            <a:ext cx="8138160" cy="3968496"/>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792224"/>
            <a:ext cx="8092440" cy="3922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2026–27 · club summaries — current local application with fictional training data"/>
          <p:cNvPicPr>
            <a:picLocks noChangeAspect="1"/>
          </p:cNvPicPr>
          <p:nvPr/>
        </p:nvPicPr>
        <p:blipFill>
          <a:blip r:embed="rId2"/>
          <a:stretch>
            <a:fillRect/>
          </a:stretch>
        </p:blipFill>
        <p:spPr>
          <a:xfrm>
            <a:off x="594360" y="1792224"/>
            <a:ext cx="8092440" cy="3922776"/>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Year shown</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Reports and last report</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Open before following up</a:t>
            </a:r>
          </a:p>
        </p:txBody>
      </p:sp>
      <p:sp>
        <p:nvSpPr>
          <p:cNvPr id="18" name="Rounded Rectangle 1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the year, compare the summaries, then open the club behind an item needing attention.</a:t>
            </a:r>
          </a:p>
        </p:txBody>
      </p:sp>
      <p:sp>
        <p:nvSpPr>
          <p:cNvPr id="20" name="TextBox 1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1" name="TextBox 2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MONTHLY RECORDS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Read the status before asking for a report</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Monthly Records · compare club/month states</a:t>
            </a:r>
          </a:p>
        </p:txBody>
      </p:sp>
      <p:sp>
        <p:nvSpPr>
          <p:cNvPr id="7" name="Rounded Rectangle 6"/>
          <p:cNvSpPr/>
          <p:nvPr/>
        </p:nvSpPr>
        <p:spPr>
          <a:xfrm>
            <a:off x="1251688" y="2025396"/>
            <a:ext cx="4089446"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74548" y="2048256"/>
            <a:ext cx="4043726"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thly Records · compare club/month states — current local application with fictional training data"/>
          <p:cNvPicPr>
            <a:picLocks noChangeAspect="1"/>
          </p:cNvPicPr>
          <p:nvPr/>
        </p:nvPicPr>
        <p:blipFill>
          <a:blip r:embed="rId2"/>
          <a:stretch>
            <a:fillRect/>
          </a:stretch>
        </p:blipFill>
        <p:spPr>
          <a:xfrm>
            <a:off x="1274548" y="2048256"/>
            <a:ext cx="4043726"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Started, not submitted  ·  2  Check the due month  ·  3  Read what is already filed</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 submitted month · read the saved report</a:t>
            </a:r>
          </a:p>
        </p:txBody>
      </p:sp>
      <p:sp>
        <p:nvSpPr>
          <p:cNvPr id="12" name="Rounded Rectangle 11"/>
          <p:cNvSpPr/>
          <p:nvPr/>
        </p:nvSpPr>
        <p:spPr>
          <a:xfrm>
            <a:off x="6172200" y="2025396"/>
            <a:ext cx="5440680"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5060" y="2048256"/>
            <a:ext cx="5394960"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 submitted month · read the saved report — current local application with fictional training data"/>
          <p:cNvPicPr>
            <a:picLocks noChangeAspect="1"/>
          </p:cNvPicPr>
          <p:nvPr/>
        </p:nvPicPr>
        <p:blipFill>
          <a:blip r:embed="rId3"/>
          <a:stretch>
            <a:fillRect/>
          </a:stretch>
        </p:blipFill>
        <p:spPr>
          <a:xfrm>
            <a:off x="6195060" y="2048256"/>
            <a:ext cx="5394960" cy="3154680"/>
          </a:xfrm>
          <a:prstGeom prst="rect">
            <a:avLst/>
          </a:prstGeom>
        </p:spPr>
      </p:pic>
      <p:sp>
        <p:nvSpPr>
          <p:cNvPr id="15" name="Rounded Rectangle 1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Draft is unfinished. Missing is overdue without submission. A points link opens a submitted report.</a:t>
            </a:r>
          </a:p>
        </p:txBody>
      </p:sp>
      <p:sp>
        <p:nvSpPr>
          <p:cNvPr id="17" name="TextBox 1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8" name="TextBox 1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POINTS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Explain a total rather than guessing</a:t>
            </a:r>
          </a:p>
        </p:txBody>
      </p:sp>
      <p:sp>
        <p:nvSpPr>
          <p:cNvPr id="6" name="Rounded Rectangle 5"/>
          <p:cNvSpPr/>
          <p:nvPr/>
        </p:nvSpPr>
        <p:spPr>
          <a:xfrm>
            <a:off x="724716" y="1668780"/>
            <a:ext cx="7831726"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7576" y="1691640"/>
            <a:ext cx="7786006"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ints · chart and table — current local application with fictional training data"/>
          <p:cNvPicPr>
            <a:picLocks noChangeAspect="1"/>
          </p:cNvPicPr>
          <p:nvPr/>
        </p:nvPicPr>
        <p:blipFill>
          <a:blip r:embed="rId2"/>
          <a:stretch>
            <a:fillRect/>
          </a:stretch>
        </p:blipFill>
        <p:spPr>
          <a:xfrm>
            <a:off x="747576" y="1691640"/>
            <a:ext cx="7786006"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See how totals compare</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Read the components</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Understand the file’s scope</a:t>
            </a:r>
          </a:p>
        </p:txBody>
      </p:sp>
      <p:sp>
        <p:nvSpPr>
          <p:cNvPr id="18" name="Rounded Rectangle 1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the points components. The CSV includes all authorized clubs for the year.</a:t>
            </a:r>
          </a:p>
        </p:txBody>
      </p:sp>
      <p:sp>
        <p:nvSpPr>
          <p:cNvPr id="20" name="TextBox 1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1" name="TextBox 2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CLUB EVENTS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Club membership is not event participation</a:t>
            </a:r>
          </a:p>
        </p:txBody>
      </p:sp>
      <p:sp>
        <p:nvSpPr>
          <p:cNvPr id="6" name="Rounded Rectangle 5"/>
          <p:cNvSpPr/>
          <p:nvPr/>
        </p:nvSpPr>
        <p:spPr>
          <a:xfrm>
            <a:off x="571500" y="2547747"/>
            <a:ext cx="8138160" cy="241172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570607"/>
            <a:ext cx="8092440" cy="236601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all Camporee · clubs and headcounts — current local application with fictional training data"/>
          <p:cNvPicPr>
            <a:picLocks noChangeAspect="1"/>
          </p:cNvPicPr>
          <p:nvPr/>
        </p:nvPicPr>
        <p:blipFill>
          <a:blip r:embed="rId2"/>
          <a:stretch>
            <a:fillRect/>
          </a:stretch>
        </p:blipFill>
        <p:spPr>
          <a:xfrm>
            <a:off x="594360" y="2570607"/>
            <a:ext cx="8092440" cy="2366010"/>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Riverton: Registered · 6</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Pine Grove: Draft</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Lakeview: Waitlisted · 4</a:t>
            </a:r>
          </a:p>
        </p:txBody>
      </p:sp>
      <p:sp>
        <p:nvSpPr>
          <p:cNvPr id="18" name="Oval 17"/>
          <p:cNvSpPr/>
          <p:nvPr/>
        </p:nvSpPr>
        <p:spPr>
          <a:xfrm>
            <a:off x="286207" y="455371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2219" y="460400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86207" y="426979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2219" y="432008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286207" y="3985869"/>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2219" y="4036161"/>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Read each club’s event status and headcount. Draft, Waitlisted, Cancelled and Registered mean different things.</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SPECIAL CASES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Read a new-club application without approving it</a:t>
            </a:r>
          </a:p>
        </p:txBody>
      </p:sp>
      <p:sp>
        <p:nvSpPr>
          <p:cNvPr id="6" name="Rounded Rectangle 5"/>
          <p:cNvSpPr/>
          <p:nvPr/>
        </p:nvSpPr>
        <p:spPr>
          <a:xfrm>
            <a:off x="571500" y="2016252"/>
            <a:ext cx="8138160" cy="347472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039112"/>
            <a:ext cx="8092440" cy="3429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New clubs · fictional pending application — current local application with fictional training data"/>
          <p:cNvPicPr>
            <a:picLocks noChangeAspect="1"/>
          </p:cNvPicPr>
          <p:nvPr/>
        </p:nvPicPr>
        <p:blipFill>
          <a:blip r:embed="rId2"/>
          <a:stretch>
            <a:fillRect/>
          </a:stretch>
        </p:blipFill>
        <p:spPr>
          <a:xfrm>
            <a:off x="594360" y="2039112"/>
            <a:ext cx="8092440" cy="3429000"/>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Read the application</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Approval belongs to the administrator</a:t>
            </a:r>
          </a:p>
        </p:txBody>
      </p:sp>
      <p:sp>
        <p:nvSpPr>
          <p:cNvPr id="15" name="Rounded Rectangle 1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New clubs is view only for coordinators. A system administrator makes the application decision.</a:t>
            </a:r>
          </a:p>
        </p:txBody>
      </p:sp>
      <p:sp>
        <p:nvSpPr>
          <p:cNvPr id="17" name="TextBox 1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18" name="TextBox 1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PUTTING THE TWO ROLES TOGETHER</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Make the follow-up specific</a:t>
            </a:r>
          </a:p>
        </p:txBody>
      </p:sp>
      <p:sp>
        <p:nvSpPr>
          <p:cNvPr id="6" name="TextBox 5"/>
          <p:cNvSpPr txBox="1"/>
          <p:nvPr/>
        </p:nvSpPr>
        <p:spPr>
          <a:xfrm>
            <a:off x="594360"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Before · Alex sees October in progress</a:t>
            </a:r>
          </a:p>
        </p:txBody>
      </p:sp>
      <p:sp>
        <p:nvSpPr>
          <p:cNvPr id="7" name="Rounded Rectangle 6"/>
          <p:cNvSpPr/>
          <p:nvPr/>
        </p:nvSpPr>
        <p:spPr>
          <a:xfrm>
            <a:off x="1456805" y="2345436"/>
            <a:ext cx="3679213" cy="288036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79665" y="2368296"/>
            <a:ext cx="3633493"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efore · Alex sees October in progress — current local application with fictional training data"/>
          <p:cNvPicPr>
            <a:picLocks noChangeAspect="1"/>
          </p:cNvPicPr>
          <p:nvPr/>
        </p:nvPicPr>
        <p:blipFill>
          <a:blip r:embed="rId2"/>
          <a:stretch>
            <a:fillRect/>
          </a:stretch>
        </p:blipFill>
        <p:spPr>
          <a:xfrm>
            <a:off x="1479665" y="2368296"/>
            <a:ext cx="3633493" cy="2834640"/>
          </a:xfrm>
          <a:prstGeom prst="rect">
            <a:avLst/>
          </a:prstGeom>
        </p:spPr>
      </p:pic>
      <p:sp>
        <p:nvSpPr>
          <p:cNvPr id="10" name="TextBox 9"/>
          <p:cNvSpPr txBox="1"/>
          <p:nvPr/>
        </p:nvSpPr>
        <p:spPr>
          <a:xfrm>
            <a:off x="594360"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1  Read the saved state</a:t>
            </a:r>
          </a:p>
        </p:txBody>
      </p:sp>
      <p:sp>
        <p:nvSpPr>
          <p:cNvPr id="11" name="TextBox 10"/>
          <p:cNvSpPr txBox="1"/>
          <p:nvPr/>
        </p:nvSpPr>
        <p:spPr>
          <a:xfrm>
            <a:off x="6190488"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After · Jordan submits the complete example</a:t>
            </a:r>
          </a:p>
        </p:txBody>
      </p:sp>
      <p:sp>
        <p:nvSpPr>
          <p:cNvPr id="12" name="Rounded Rectangle 11"/>
          <p:cNvSpPr/>
          <p:nvPr/>
        </p:nvSpPr>
        <p:spPr>
          <a:xfrm>
            <a:off x="6167627" y="3191899"/>
            <a:ext cx="5449824" cy="1187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214759"/>
            <a:ext cx="5404104" cy="1141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fter · Jordan submits the complete example — current local application with fictional training data"/>
          <p:cNvPicPr>
            <a:picLocks noChangeAspect="1"/>
          </p:cNvPicPr>
          <p:nvPr/>
        </p:nvPicPr>
        <p:blipFill>
          <a:blip r:embed="rId3"/>
          <a:stretch>
            <a:fillRect/>
          </a:stretch>
        </p:blipFill>
        <p:spPr>
          <a:xfrm>
            <a:off x="6190488" y="3214759"/>
            <a:ext cx="5404104" cy="1141712"/>
          </a:xfrm>
          <a:prstGeom prst="rect">
            <a:avLst/>
          </a:prstGeom>
        </p:spPr>
      </p:pic>
      <p:sp>
        <p:nvSpPr>
          <p:cNvPr id="15" name="TextBox 14"/>
          <p:cNvSpPr txBox="1"/>
          <p:nvPr/>
        </p:nvSpPr>
        <p:spPr>
          <a:xfrm>
            <a:off x="6190488"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2  The director finishes the record</a:t>
            </a:r>
          </a:p>
        </p:txBody>
      </p:sp>
      <p:sp>
        <p:nvSpPr>
          <p:cNvPr id="16" name="Oval 15"/>
          <p:cNvSpPr/>
          <p:nvPr/>
        </p:nvSpPr>
        <p:spPr>
          <a:xfrm>
            <a:off x="3586127" y="4631436"/>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2139" y="468172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5828019" y="363931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4031" y="3689603"/>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“Riverton’s October record is in progress. Do you need help preparing it?”</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GETTING HELP</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When something is missing, check the account first</a:t>
            </a:r>
          </a:p>
        </p:txBody>
      </p:sp>
      <p:sp>
        <p:nvSpPr>
          <p:cNvPr id="6" name="Rounded Rectangle 5"/>
          <p:cNvSpPr/>
          <p:nvPr/>
        </p:nvSpPr>
        <p:spPr>
          <a:xfrm>
            <a:off x="1267015" y="1668780"/>
            <a:ext cx="6747128"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89875" y="1691640"/>
            <a:ext cx="6701408"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ccount Overview · signed-in identity — current local application with fictional training data"/>
          <p:cNvPicPr>
            <a:picLocks noChangeAspect="1"/>
          </p:cNvPicPr>
          <p:nvPr/>
        </p:nvPicPr>
        <p:blipFill>
          <a:blip r:embed="rId2"/>
          <a:stretch>
            <a:fillRect/>
          </a:stretch>
        </p:blipFill>
        <p:spPr>
          <a:xfrm>
            <a:off x="1289875" y="1691640"/>
            <a:ext cx="6701408"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Right account?</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Right assigned tools?</a:t>
            </a:r>
          </a:p>
        </p:txBody>
      </p:sp>
      <p:sp>
        <p:nvSpPr>
          <p:cNvPr id="15" name="Rounded Rectangle 1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your email. Tell support the club/year, page, action and error. Keep passwords and codes private.</a:t>
            </a:r>
          </a:p>
        </p:txBody>
      </p:sp>
      <p:sp>
        <p:nvSpPr>
          <p:cNvPr id="17" name="TextBox 1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18" name="TextBox 1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MORE CLUB TOOLS · CLASS TRACKING</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Record completed classes and earned items</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Morgan · recorded Friend completion</a:t>
            </a:r>
          </a:p>
        </p:txBody>
      </p:sp>
      <p:sp>
        <p:nvSpPr>
          <p:cNvPr id="7" name="Rounded Rectangle 6"/>
          <p:cNvSpPr/>
          <p:nvPr/>
        </p:nvSpPr>
        <p:spPr>
          <a:xfrm>
            <a:off x="571500" y="3416427"/>
            <a:ext cx="5449824" cy="1396746"/>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3439287"/>
            <a:ext cx="5404104" cy="135102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rgan · recorded Friend completion — current local application with fictional training data"/>
          <p:cNvPicPr>
            <a:picLocks noChangeAspect="1"/>
          </p:cNvPicPr>
          <p:nvPr/>
        </p:nvPicPr>
        <p:blipFill>
          <a:blip r:embed="rId2"/>
          <a:stretch>
            <a:fillRect/>
          </a:stretch>
        </p:blipFill>
        <p:spPr>
          <a:xfrm>
            <a:off x="594360" y="3439287"/>
            <a:ext cx="5404104" cy="1351026"/>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Read the saved completion</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Insignia · a separate order-list choice</a:t>
            </a:r>
          </a:p>
        </p:txBody>
      </p:sp>
      <p:sp>
        <p:nvSpPr>
          <p:cNvPr id="12" name="Rounded Rectangle 11"/>
          <p:cNvSpPr/>
          <p:nvPr/>
        </p:nvSpPr>
        <p:spPr>
          <a:xfrm>
            <a:off x="6167628" y="2227145"/>
            <a:ext cx="5449824" cy="27969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250005"/>
            <a:ext cx="5404104" cy="27511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nsignia · a separate order-list choice — current local application with fictional training data"/>
          <p:cNvPicPr>
            <a:picLocks noChangeAspect="1"/>
          </p:cNvPicPr>
          <p:nvPr/>
        </p:nvPicPr>
        <p:blipFill>
          <a:blip r:embed="rId3"/>
          <a:stretch>
            <a:fillRect/>
          </a:stretch>
        </p:blipFill>
        <p:spPr>
          <a:xfrm>
            <a:off x="6190488" y="2250005"/>
            <a:ext cx="5404104" cy="2751180"/>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Choose the items you actually need</a:t>
            </a:r>
          </a:p>
        </p:txBody>
      </p:sp>
      <p:sp>
        <p:nvSpPr>
          <p:cNvPr id="16" name="Rounded Rectangle 15"/>
          <p:cNvSpPr/>
          <p:nvPr/>
        </p:nvSpPr>
        <p:spPr>
          <a:xfrm>
            <a:off x="1165860" y="2309793"/>
            <a:ext cx="4069080" cy="86681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88720" y="2332653"/>
            <a:ext cx="4023360" cy="82109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ctual selected member: Reed, Morgan — current local application with fictional training data"/>
          <p:cNvPicPr>
            <a:picLocks noChangeAspect="1"/>
          </p:cNvPicPr>
          <p:nvPr/>
        </p:nvPicPr>
        <p:blipFill>
          <a:blip r:embed="rId4"/>
          <a:stretch>
            <a:fillRect/>
          </a:stretch>
        </p:blipFill>
        <p:spPr>
          <a:xfrm>
            <a:off x="1188720" y="2332653"/>
            <a:ext cx="4023360" cy="821093"/>
          </a:xfrm>
          <a:prstGeom prst="rect">
            <a:avLst/>
          </a:prstGeom>
        </p:spPr>
      </p:pic>
      <p:sp>
        <p:nvSpPr>
          <p:cNvPr id="19" name="Rounded Rectangle 18"/>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Completing a class suggests insignia. Add to order list is a separate choice.</a:t>
            </a:r>
          </a:p>
        </p:txBody>
      </p:sp>
      <p:sp>
        <p:nvSpPr>
          <p:cNvPr id="21" name="TextBox 20"/>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5"/>
              </a:rPr>
              <a:t>events.imsda.org  ·  Actual local app screens  ·  Fictional training records</a:t>
            </a:r>
          </a:p>
        </p:txBody>
      </p:sp>
      <p:sp>
        <p:nvSpPr>
          <p:cNvPr id="22" name="TextBox 21"/>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MORE CLUB TOOLS · ORDERS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Use Orders for supplies and hand-outs</a:t>
            </a:r>
          </a:p>
        </p:txBody>
      </p:sp>
      <p:sp>
        <p:nvSpPr>
          <p:cNvPr id="6" name="TextBox 5"/>
          <p:cNvSpPr txBox="1"/>
          <p:nvPr/>
        </p:nvSpPr>
        <p:spPr>
          <a:xfrm>
            <a:off x="594360" y="1609344"/>
            <a:ext cx="1097280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Helper list · 4 scarves needed − 2 available = 2 to order</a:t>
            </a:r>
          </a:p>
        </p:txBody>
      </p:sp>
      <p:sp>
        <p:nvSpPr>
          <p:cNvPr id="7" name="Rounded Rectangle 6"/>
          <p:cNvSpPr/>
          <p:nvPr/>
        </p:nvSpPr>
        <p:spPr>
          <a:xfrm>
            <a:off x="571500" y="2025560"/>
            <a:ext cx="11018520" cy="914071"/>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048420"/>
            <a:ext cx="10972800" cy="8683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lper list · 4 scarves needed − 2 available = 2 to order — current local application with fictional training data"/>
          <p:cNvPicPr>
            <a:picLocks noChangeAspect="1"/>
          </p:cNvPicPr>
          <p:nvPr/>
        </p:nvPicPr>
        <p:blipFill>
          <a:blip r:embed="rId2"/>
          <a:stretch>
            <a:fillRect/>
          </a:stretch>
        </p:blipFill>
        <p:spPr>
          <a:xfrm>
            <a:off x="594360" y="2048420"/>
            <a:ext cx="10972800" cy="868351"/>
          </a:xfrm>
          <a:prstGeom prst="rect">
            <a:avLst/>
          </a:prstGeom>
        </p:spPr>
      </p:pic>
      <p:sp>
        <p:nvSpPr>
          <p:cNvPr id="10" name="TextBox 9"/>
          <p:cNvSpPr txBox="1"/>
          <p:nvPr/>
        </p:nvSpPr>
        <p:spPr>
          <a:xfrm>
            <a:off x="594360" y="3273552"/>
            <a:ext cx="539496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Hand out · Drew’s Good Conduct Bar</a:t>
            </a:r>
          </a:p>
        </p:txBody>
      </p:sp>
      <p:sp>
        <p:nvSpPr>
          <p:cNvPr id="11" name="Rounded Rectangle 10"/>
          <p:cNvSpPr/>
          <p:nvPr/>
        </p:nvSpPr>
        <p:spPr>
          <a:xfrm>
            <a:off x="728214" y="3744468"/>
            <a:ext cx="5127250" cy="192023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1074" y="3767328"/>
            <a:ext cx="5081530" cy="18745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Hand out · Drew’s Good Conduct Bar — current local application with fictional training data"/>
          <p:cNvPicPr>
            <a:picLocks noChangeAspect="1"/>
          </p:cNvPicPr>
          <p:nvPr/>
        </p:nvPicPr>
        <p:blipFill>
          <a:blip r:embed="rId3"/>
          <a:stretch>
            <a:fillRect/>
          </a:stretch>
        </p:blipFill>
        <p:spPr>
          <a:xfrm>
            <a:off x="751074" y="3767328"/>
            <a:ext cx="5081530" cy="1874519"/>
          </a:xfrm>
          <a:prstGeom prst="rect">
            <a:avLst/>
          </a:prstGeom>
        </p:spPr>
      </p:pic>
      <p:sp>
        <p:nvSpPr>
          <p:cNvPr id="14" name="TextBox 13"/>
          <p:cNvSpPr txBox="1"/>
          <p:nvPr/>
        </p:nvSpPr>
        <p:spPr>
          <a:xfrm>
            <a:off x="6190488" y="3273552"/>
            <a:ext cx="539496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Saved result · Good Conduct stock: 3 → 2</a:t>
            </a:r>
          </a:p>
        </p:txBody>
      </p:sp>
      <p:sp>
        <p:nvSpPr>
          <p:cNvPr id="15" name="Rounded Rectangle 14"/>
          <p:cNvSpPr/>
          <p:nvPr/>
        </p:nvSpPr>
        <p:spPr>
          <a:xfrm>
            <a:off x="6167627" y="4166194"/>
            <a:ext cx="5440680" cy="35441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0488" y="4189054"/>
            <a:ext cx="5394960" cy="30869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aved result · Good Conduct stock: 3 → 2 — current local application with fictional training data"/>
          <p:cNvPicPr>
            <a:picLocks noChangeAspect="1"/>
          </p:cNvPicPr>
          <p:nvPr/>
        </p:nvPicPr>
        <p:blipFill>
          <a:blip r:embed="rId4"/>
          <a:stretch>
            <a:fillRect/>
          </a:stretch>
        </p:blipFill>
        <p:spPr>
          <a:xfrm>
            <a:off x="6190488" y="4189054"/>
            <a:ext cx="5394960" cy="308690"/>
          </a:xfrm>
          <a:prstGeom prst="rect">
            <a:avLst/>
          </a:prstGeom>
        </p:spPr>
      </p:pic>
      <p:sp>
        <p:nvSpPr>
          <p:cNvPr id="18" name="Rounded Rectangle 17"/>
          <p:cNvSpPr/>
          <p:nvPr/>
        </p:nvSpPr>
        <p:spPr>
          <a:xfrm>
            <a:off x="7691350" y="4777740"/>
            <a:ext cx="1625138" cy="86868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14210" y="4800600"/>
            <a:ext cx="1579418" cy="82295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ctual stock count after handout: 2 — current local application with fictional training data"/>
          <p:cNvPicPr>
            <a:picLocks noChangeAspect="1"/>
          </p:cNvPicPr>
          <p:nvPr/>
        </p:nvPicPr>
        <p:blipFill>
          <a:blip r:embed="rId5"/>
          <a:stretch>
            <a:fillRect/>
          </a:stretch>
        </p:blipFill>
        <p:spPr>
          <a:xfrm>
            <a:off x="7714210" y="4800600"/>
            <a:ext cx="1579418" cy="822959"/>
          </a:xfrm>
          <a:prstGeom prst="rect">
            <a:avLst/>
          </a:prstGeom>
        </p:spPr>
      </p:pic>
      <p:sp>
        <p:nvSpPr>
          <p:cNvPr id="21" name="Rounded Rectangle 20"/>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Orders is a supply helper. A list, stock receipt and hand-out are different records.</a:t>
            </a:r>
          </a:p>
        </p:txBody>
      </p:sp>
      <p:sp>
        <p:nvSpPr>
          <p:cNvPr id="23" name="TextBox 22"/>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6"/>
              </a:rPr>
              <a:t>events.imsda.org  ·  Actual local app screens  ·  Fictional training records</a:t>
            </a:r>
          </a:p>
        </p:txBody>
      </p:sp>
      <p:sp>
        <p:nvSpPr>
          <p:cNvPr id="24" name="TextBox 23"/>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MORE CLUB TOOLS · YEAR-END REPORT</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Review the Year-End Report</a:t>
            </a:r>
          </a:p>
        </p:txBody>
      </p:sp>
      <p:sp>
        <p:nvSpPr>
          <p:cNvPr id="6" name="TextBox 5"/>
          <p:cNvSpPr txBox="1"/>
          <p:nvPr/>
        </p:nvSpPr>
        <p:spPr>
          <a:xfrm>
            <a:off x="594360" y="1572768"/>
            <a:ext cx="10972800" cy="274320"/>
          </a:xfrm>
          <a:prstGeom prst="rect">
            <a:avLst/>
          </a:prstGeom>
          <a:noFill/>
        </p:spPr>
        <p:txBody>
          <a:bodyPr wrap="square" lIns="0" rIns="0" tIns="0" bIns="0">
            <a:spAutoFit/>
          </a:bodyPr>
          <a:lstStyle/>
          <a:p>
            <a:pPr>
              <a:spcAft>
                <a:spcPts val="300"/>
              </a:spcAft>
              <a:defRPr sz="1300" b="1">
                <a:solidFill>
                  <a:srgbClr val="582C83"/>
                </a:solidFill>
                <a:latin typeface="Noto Sans"/>
              </a:defRPr>
            </a:pPr>
            <a:r>
              <a:t>2026–27 · May–April · Due April 1, 2027 · Draft</a:t>
            </a:r>
          </a:p>
        </p:txBody>
      </p:sp>
      <p:sp>
        <p:nvSpPr>
          <p:cNvPr id="7" name="Rounded Rectangle 6"/>
          <p:cNvSpPr/>
          <p:nvPr/>
        </p:nvSpPr>
        <p:spPr>
          <a:xfrm>
            <a:off x="2582619" y="1851660"/>
            <a:ext cx="6996281" cy="100584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5479" y="1874519"/>
            <a:ext cx="6950561"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27 · May–April · Due April 1, 2027 · Draft — current local application with fictional training data"/>
          <p:cNvPicPr>
            <a:picLocks noChangeAspect="1"/>
          </p:cNvPicPr>
          <p:nvPr/>
        </p:nvPicPr>
        <p:blipFill>
          <a:blip r:embed="rId2"/>
          <a:stretch>
            <a:fillRect/>
          </a:stretch>
        </p:blipFill>
        <p:spPr>
          <a:xfrm>
            <a:off x="2605479" y="1874519"/>
            <a:ext cx="6950561" cy="960120"/>
          </a:xfrm>
          <a:prstGeom prst="rect">
            <a:avLst/>
          </a:prstGeom>
        </p:spPr>
      </p:pic>
      <p:sp>
        <p:nvSpPr>
          <p:cNvPr id="10" name="TextBox 9"/>
          <p:cNvSpPr txBox="1"/>
          <p:nvPr/>
        </p:nvSpPr>
        <p:spPr>
          <a:xfrm>
            <a:off x="594360" y="3063240"/>
            <a:ext cx="7863840" cy="365760"/>
          </a:xfrm>
          <a:prstGeom prst="rect">
            <a:avLst/>
          </a:prstGeom>
          <a:noFill/>
        </p:spPr>
        <p:txBody>
          <a:bodyPr wrap="square" lIns="0" rIns="0" tIns="0" bIns="0">
            <a:spAutoFit/>
          </a:bodyPr>
          <a:lstStyle/>
          <a:p>
            <a:pPr>
              <a:spcAft>
                <a:spcPts val="300"/>
              </a:spcAft>
              <a:defRPr sz="1500" b="1">
                <a:solidFill>
                  <a:srgbClr val="582C83"/>
                </a:solidFill>
                <a:latin typeface="Noto Sans"/>
              </a:defRPr>
            </a:pPr>
            <a:r>
              <a:t>Review · 9 members + 1 staff = 10 total</a:t>
            </a:r>
          </a:p>
        </p:txBody>
      </p:sp>
      <p:sp>
        <p:nvSpPr>
          <p:cNvPr id="11" name="Rounded Rectangle 10"/>
          <p:cNvSpPr/>
          <p:nvPr/>
        </p:nvSpPr>
        <p:spPr>
          <a:xfrm>
            <a:off x="1995922" y="3543300"/>
            <a:ext cx="4969275" cy="219456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8782" y="3566160"/>
            <a:ext cx="4923555"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view · 9 members + 1 staff = 10 total — current local application with fictional training data"/>
          <p:cNvPicPr>
            <a:picLocks noChangeAspect="1"/>
          </p:cNvPicPr>
          <p:nvPr/>
        </p:nvPicPr>
        <p:blipFill>
          <a:blip r:embed="rId3"/>
          <a:stretch>
            <a:fillRect/>
          </a:stretch>
        </p:blipFill>
        <p:spPr>
          <a:xfrm>
            <a:off x="2018782" y="3566160"/>
            <a:ext cx="4923555" cy="2148840"/>
          </a:xfrm>
          <a:prstGeom prst="rect">
            <a:avLst/>
          </a:prstGeom>
        </p:spPr>
      </p:pic>
      <p:sp>
        <p:nvSpPr>
          <p:cNvPr id="14" name="TextBox 13"/>
          <p:cNvSpPr txBox="1"/>
          <p:nvPr/>
        </p:nvSpPr>
        <p:spPr>
          <a:xfrm>
            <a:off x="8641080" y="3063240"/>
            <a:ext cx="2926080" cy="365760"/>
          </a:xfrm>
          <a:prstGeom prst="rect">
            <a:avLst/>
          </a:prstGeom>
          <a:noFill/>
        </p:spPr>
        <p:txBody>
          <a:bodyPr wrap="square" lIns="0" rIns="0" tIns="0" bIns="0">
            <a:spAutoFit/>
          </a:bodyPr>
          <a:lstStyle/>
          <a:p>
            <a:pPr>
              <a:spcAft>
                <a:spcPts val="300"/>
              </a:spcAft>
              <a:defRPr sz="1500" b="1">
                <a:solidFill>
                  <a:srgbClr val="582C83"/>
                </a:solidFill>
                <a:latin typeface="Noto Sans"/>
              </a:defRPr>
            </a:pPr>
            <a:r>
              <a:t>Keep unfinished work</a:t>
            </a:r>
          </a:p>
        </p:txBody>
      </p:sp>
      <p:sp>
        <p:nvSpPr>
          <p:cNvPr id="15" name="Rounded Rectangle 14"/>
          <p:cNvSpPr/>
          <p:nvPr/>
        </p:nvSpPr>
        <p:spPr>
          <a:xfrm>
            <a:off x="8902165" y="3680459"/>
            <a:ext cx="2403909" cy="96012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925025" y="3703320"/>
            <a:ext cx="2358189"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Keep unfinished work — current local application with fictional training data"/>
          <p:cNvPicPr>
            <a:picLocks noChangeAspect="1"/>
          </p:cNvPicPr>
          <p:nvPr/>
        </p:nvPicPr>
        <p:blipFill>
          <a:blip r:embed="rId4"/>
          <a:stretch>
            <a:fillRect/>
          </a:stretch>
        </p:blipFill>
        <p:spPr>
          <a:xfrm>
            <a:off x="8925025" y="3703320"/>
            <a:ext cx="2358189" cy="914400"/>
          </a:xfrm>
          <a:prstGeom prst="rect">
            <a:avLst/>
          </a:prstGeom>
        </p:spPr>
      </p:pic>
      <p:sp>
        <p:nvSpPr>
          <p:cNvPr id="18" name="TextBox 17"/>
          <p:cNvSpPr txBox="1"/>
          <p:nvPr/>
        </p:nvSpPr>
        <p:spPr>
          <a:xfrm>
            <a:off x="8641080" y="4846320"/>
            <a:ext cx="2926080" cy="822960"/>
          </a:xfrm>
          <a:prstGeom prst="rect">
            <a:avLst/>
          </a:prstGeom>
          <a:noFill/>
        </p:spPr>
        <p:txBody>
          <a:bodyPr wrap="square" lIns="0" rIns="0" tIns="0" bIns="0">
            <a:spAutoFit/>
          </a:bodyPr>
          <a:lstStyle/>
          <a:p>
            <a:pPr>
              <a:spcAft>
                <a:spcPts val="300"/>
              </a:spcAft>
              <a:defRPr sz="1700" b="0">
                <a:solidFill>
                  <a:srgbClr val="003B5C"/>
                </a:solidFill>
                <a:latin typeface="Noto Sans"/>
              </a:defRPr>
            </a:pPr>
            <a:r>
              <a:t>Review prefilled sources and manual figures before submitting.</a:t>
            </a:r>
          </a:p>
        </p:txBody>
      </p:sp>
      <p:sp>
        <p:nvSpPr>
          <p:cNvPr id="19" name="Rounded Rectangle 18"/>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Review the saved records and any manual figures. Save draft does not submit the report.</a:t>
            </a:r>
          </a:p>
        </p:txBody>
      </p:sp>
      <p:sp>
        <p:nvSpPr>
          <p:cNvPr id="21" name="TextBox 20"/>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5"/>
              </a:rPr>
              <a:t>events.imsda.org  ·  Actual local app screens  ·  Fictional training records</a:t>
            </a:r>
          </a:p>
        </p:txBody>
      </p:sp>
      <p:sp>
        <p:nvSpPr>
          <p:cNvPr id="22" name="TextBox 21"/>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CURRENT EVENT OPERATIONS · SETUP AND PERMISSIONS APPLY</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Event teams have tools before, during and after</a:t>
            </a:r>
          </a:p>
        </p:txBody>
      </p:sp>
      <p:sp>
        <p:nvSpPr>
          <p:cNvPr id="6" name="Rounded Rectangle 5"/>
          <p:cNvSpPr/>
          <p:nvPr/>
        </p:nvSpPr>
        <p:spPr>
          <a:xfrm>
            <a:off x="594360" y="1865376"/>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03940" y="2075688"/>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890991" y="2198583"/>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90991" y="231123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90991" y="242389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472184" y="2020824"/>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Publish</a:t>
            </a:r>
          </a:p>
        </p:txBody>
      </p:sp>
      <p:sp>
        <p:nvSpPr>
          <p:cNvPr id="12" name="TextBox 11"/>
          <p:cNvSpPr txBox="1"/>
          <p:nvPr/>
        </p:nvSpPr>
        <p:spPr>
          <a:xfrm>
            <a:off x="768096" y="2724912"/>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Prepare event pages and versioned forms.</a:t>
            </a:r>
          </a:p>
        </p:txBody>
      </p:sp>
      <p:sp>
        <p:nvSpPr>
          <p:cNvPr id="13" name="TextBox 12"/>
          <p:cNvSpPr txBox="1"/>
          <p:nvPr/>
        </p:nvSpPr>
        <p:spPr>
          <a:xfrm>
            <a:off x="768096" y="3392424"/>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CURRENT</a:t>
            </a:r>
          </a:p>
        </p:txBody>
      </p:sp>
      <p:sp>
        <p:nvSpPr>
          <p:cNvPr id="14" name="Rounded Rectangle 13"/>
          <p:cNvSpPr/>
          <p:nvPr/>
        </p:nvSpPr>
        <p:spPr>
          <a:xfrm>
            <a:off x="4325112" y="1865376"/>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60295" y="2075688"/>
            <a:ext cx="143377" cy="143377"/>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790724" y="2126894"/>
            <a:ext cx="122895" cy="122895"/>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09089" y="2295875"/>
            <a:ext cx="266273" cy="215066"/>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826568" y="2321478"/>
            <a:ext cx="122896"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949464" y="2321478"/>
            <a:ext cx="0" cy="18946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202936" y="2020824"/>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Register</a:t>
            </a:r>
          </a:p>
        </p:txBody>
      </p:sp>
      <p:sp>
        <p:nvSpPr>
          <p:cNvPr id="21" name="TextBox 20"/>
          <p:cNvSpPr txBox="1"/>
          <p:nvPr/>
        </p:nvSpPr>
        <p:spPr>
          <a:xfrm>
            <a:off x="4498848" y="2724912"/>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Manage bookings, capacity and waitlists.</a:t>
            </a:r>
          </a:p>
        </p:txBody>
      </p:sp>
      <p:sp>
        <p:nvSpPr>
          <p:cNvPr id="22" name="TextBox 21"/>
          <p:cNvSpPr txBox="1"/>
          <p:nvPr/>
        </p:nvSpPr>
        <p:spPr>
          <a:xfrm>
            <a:off x="4498848" y="3392424"/>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CURRENT</a:t>
            </a:r>
          </a:p>
        </p:txBody>
      </p:sp>
      <p:sp>
        <p:nvSpPr>
          <p:cNvPr id="23" name="Rounded Rectangle 22"/>
          <p:cNvSpPr/>
          <p:nvPr/>
        </p:nvSpPr>
        <p:spPr>
          <a:xfrm>
            <a:off x="8055864" y="1865376"/>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229600" y="2167859"/>
            <a:ext cx="486460" cy="32260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8229600" y="2183221"/>
            <a:ext cx="240670" cy="16386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8470270" y="2183221"/>
            <a:ext cx="245790" cy="16386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933688" y="2020824"/>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Communicate</a:t>
            </a:r>
          </a:p>
        </p:txBody>
      </p:sp>
      <p:sp>
        <p:nvSpPr>
          <p:cNvPr id="28" name="TextBox 27"/>
          <p:cNvSpPr txBox="1"/>
          <p:nvPr/>
        </p:nvSpPr>
        <p:spPr>
          <a:xfrm>
            <a:off x="8229600" y="2724912"/>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Send reviewed messages through configured email.</a:t>
            </a:r>
          </a:p>
        </p:txBody>
      </p:sp>
      <p:sp>
        <p:nvSpPr>
          <p:cNvPr id="29" name="TextBox 28"/>
          <p:cNvSpPr txBox="1"/>
          <p:nvPr/>
        </p:nvSpPr>
        <p:spPr>
          <a:xfrm>
            <a:off x="8229600" y="3392424"/>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SETUP REQUIRED</a:t>
            </a:r>
          </a:p>
        </p:txBody>
      </p:sp>
      <p:sp>
        <p:nvSpPr>
          <p:cNvPr id="30" name="Rounded Rectangle 29"/>
          <p:cNvSpPr/>
          <p:nvPr/>
        </p:nvSpPr>
        <p:spPr>
          <a:xfrm>
            <a:off x="594360" y="3886200"/>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68096" y="4147718"/>
            <a:ext cx="486460" cy="343082"/>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68096" y="4250131"/>
            <a:ext cx="4864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075334" y="4337182"/>
            <a:ext cx="76809" cy="76809"/>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472184" y="4041648"/>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Welcome people</a:t>
            </a:r>
          </a:p>
        </p:txBody>
      </p:sp>
      <p:sp>
        <p:nvSpPr>
          <p:cNvPr id="35" name="TextBox 34"/>
          <p:cNvSpPr txBox="1"/>
          <p:nvPr/>
        </p:nvSpPr>
        <p:spPr>
          <a:xfrm>
            <a:off x="768096" y="4745736"/>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Use check-in, passes, rosters and badge sheets.</a:t>
            </a:r>
          </a:p>
        </p:txBody>
      </p:sp>
      <p:sp>
        <p:nvSpPr>
          <p:cNvPr id="36" name="TextBox 35"/>
          <p:cNvSpPr txBox="1"/>
          <p:nvPr/>
        </p:nvSpPr>
        <p:spPr>
          <a:xfrm>
            <a:off x="768096" y="5413248"/>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CURRENT</a:t>
            </a:r>
          </a:p>
        </p:txBody>
      </p:sp>
      <p:sp>
        <p:nvSpPr>
          <p:cNvPr id="37" name="Rounded Rectangle 36"/>
          <p:cNvSpPr/>
          <p:nvPr/>
        </p:nvSpPr>
        <p:spPr>
          <a:xfrm>
            <a:off x="4325112" y="3886200"/>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4692" y="4096512"/>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1743" y="421940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21743" y="433206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621743" y="4444715"/>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202936" y="4041648"/>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Reconcile</a:t>
            </a:r>
          </a:p>
        </p:txBody>
      </p:sp>
      <p:sp>
        <p:nvSpPr>
          <p:cNvPr id="43" name="TextBox 42"/>
          <p:cNvSpPr txBox="1"/>
          <p:nvPr/>
        </p:nvSpPr>
        <p:spPr>
          <a:xfrm>
            <a:off x="4498848" y="4745736"/>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Review invoices, payments, reports and exports.</a:t>
            </a:r>
          </a:p>
        </p:txBody>
      </p:sp>
      <p:sp>
        <p:nvSpPr>
          <p:cNvPr id="44" name="TextBox 43"/>
          <p:cNvSpPr txBox="1"/>
          <p:nvPr/>
        </p:nvSpPr>
        <p:spPr>
          <a:xfrm>
            <a:off x="4498848" y="5413248"/>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SETUP APPLIES</a:t>
            </a:r>
          </a:p>
        </p:txBody>
      </p:sp>
      <p:sp>
        <p:nvSpPr>
          <p:cNvPr id="45" name="Rounded Rectangle 44"/>
          <p:cNvSpPr/>
          <p:nvPr/>
        </p:nvSpPr>
        <p:spPr>
          <a:xfrm>
            <a:off x="8055864" y="3886200"/>
            <a:ext cx="3511296"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50082" y="4316699"/>
            <a:ext cx="440375" cy="153619"/>
          </a:xfrm>
          <a:prstGeom prst="rect">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8270565" y="4219407"/>
            <a:ext cx="148498" cy="97292"/>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8229600" y="4188683"/>
            <a:ext cx="0" cy="394289"/>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710940" y="4316699"/>
            <a:ext cx="0" cy="266273"/>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933688" y="4041648"/>
            <a:ext cx="2468880" cy="557784"/>
          </a:xfrm>
          <a:prstGeom prst="rect">
            <a:avLst/>
          </a:prstGeom>
          <a:noFill/>
        </p:spPr>
        <p:txBody>
          <a:bodyPr wrap="square" lIns="0" rIns="0" tIns="0" bIns="0">
            <a:spAutoFit/>
          </a:bodyPr>
          <a:lstStyle/>
          <a:p>
            <a:pPr>
              <a:spcAft>
                <a:spcPts val="300"/>
              </a:spcAft>
              <a:defRPr sz="1800" b="1">
                <a:solidFill>
                  <a:srgbClr val="003B5C"/>
                </a:solidFill>
                <a:latin typeface="Noto Sans"/>
              </a:defRPr>
            </a:pPr>
            <a:r>
              <a:t>Host</a:t>
            </a:r>
          </a:p>
        </p:txBody>
      </p:sp>
      <p:sp>
        <p:nvSpPr>
          <p:cNvPr id="51" name="TextBox 50"/>
          <p:cNvSpPr txBox="1"/>
          <p:nvPr/>
        </p:nvSpPr>
        <p:spPr>
          <a:xfrm>
            <a:off x="8229600" y="4745736"/>
            <a:ext cx="3163824" cy="603504"/>
          </a:xfrm>
          <a:prstGeom prst="rect">
            <a:avLst/>
          </a:prstGeom>
          <a:noFill/>
        </p:spPr>
        <p:txBody>
          <a:bodyPr wrap="square" lIns="0" rIns="0" tIns="0" bIns="0">
            <a:spAutoFit/>
          </a:bodyPr>
          <a:lstStyle/>
          <a:p>
            <a:pPr>
              <a:spcAft>
                <a:spcPts val="300"/>
              </a:spcAft>
              <a:defRPr sz="1420" b="0">
                <a:solidFill>
                  <a:srgbClr val="243640"/>
                </a:solidFill>
                <a:latin typeface="Noto Sans"/>
              </a:defRPr>
            </a:pPr>
            <a:r>
              <a:t>Configure lodging, meals and kitchen counts.</a:t>
            </a:r>
          </a:p>
        </p:txBody>
      </p:sp>
      <p:sp>
        <p:nvSpPr>
          <p:cNvPr id="52" name="TextBox 51"/>
          <p:cNvSpPr txBox="1"/>
          <p:nvPr/>
        </p:nvSpPr>
        <p:spPr>
          <a:xfrm>
            <a:off x="8229600" y="5413248"/>
            <a:ext cx="3163824" cy="228600"/>
          </a:xfrm>
          <a:prstGeom prst="rect">
            <a:avLst/>
          </a:prstGeom>
          <a:noFill/>
        </p:spPr>
        <p:txBody>
          <a:bodyPr wrap="square" lIns="0" rIns="0" tIns="0" bIns="0">
            <a:spAutoFit/>
          </a:bodyPr>
          <a:lstStyle/>
          <a:p>
            <a:pPr>
              <a:spcAft>
                <a:spcPts val="300"/>
              </a:spcAft>
              <a:defRPr sz="869" b="1">
                <a:solidFill>
                  <a:srgbClr val="582C83"/>
                </a:solidFill>
                <a:latin typeface="Noto Sans"/>
              </a:defRPr>
            </a:pPr>
            <a:r>
              <a:t>EVENT SETUP</a:t>
            </a:r>
          </a:p>
        </p:txBody>
      </p:sp>
      <p:sp>
        <p:nvSpPr>
          <p:cNvPr id="53" name="Rounded Rectangle 52"/>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Event staff use assigned permissions; available options depend on the event and its setup.</a:t>
            </a:r>
          </a:p>
        </p:txBody>
      </p:sp>
      <p:sp>
        <p:nvSpPr>
          <p:cNvPr id="55" name="TextBox 54"/>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Current capabilities in reviewed source · Event setup and assigned access vary</a:t>
            </a:r>
          </a:p>
        </p:txBody>
      </p:sp>
      <p:sp>
        <p:nvSpPr>
          <p:cNvPr id="56" name="TextBox 55"/>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ACCEPTED DIRECTION AND PLANNED IMPROVEMENTS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Planned: make the next task easier to find</a:t>
            </a:r>
          </a:p>
        </p:txBody>
      </p:sp>
      <p:sp>
        <p:nvSpPr>
          <p:cNvPr id="6" name="Rounded Rectangle 5"/>
          <p:cNvSpPr/>
          <p:nvPr/>
        </p:nvSpPr>
        <p:spPr>
          <a:xfrm>
            <a:off x="594360"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9543" y="2075688"/>
            <a:ext cx="143377" cy="143377"/>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59972" y="2126894"/>
            <a:ext cx="122895" cy="122895"/>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8337" y="2295875"/>
            <a:ext cx="266273" cy="215066"/>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095816" y="2321478"/>
            <a:ext cx="122896"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218712" y="2321478"/>
            <a:ext cx="0" cy="18946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472184"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Workspaces for each role</a:t>
            </a:r>
          </a:p>
        </p:txBody>
      </p:sp>
      <p:sp>
        <p:nvSpPr>
          <p:cNvPr id="13" name="TextBox 12"/>
          <p:cNvSpPr txBox="1"/>
          <p:nvPr/>
        </p:nvSpPr>
        <p:spPr>
          <a:xfrm>
            <a:off x="768096"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Keep each role's priorities and access clear.</a:t>
            </a:r>
          </a:p>
        </p:txBody>
      </p:sp>
      <p:sp>
        <p:nvSpPr>
          <p:cNvPr id="14" name="TextBox 13"/>
          <p:cNvSpPr txBox="1"/>
          <p:nvPr/>
        </p:nvSpPr>
        <p:spPr>
          <a:xfrm>
            <a:off x="768096"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DESIGN DIRECTION ACCEPTED</a:t>
            </a:r>
          </a:p>
        </p:txBody>
      </p:sp>
      <p:sp>
        <p:nvSpPr>
          <p:cNvPr id="15" name="Rounded Rectangle 14"/>
          <p:cNvSpPr/>
          <p:nvPr/>
        </p:nvSpPr>
        <p:spPr>
          <a:xfrm>
            <a:off x="6190488"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00068" y="2075688"/>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487119" y="2198583"/>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487119" y="231123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87119" y="242389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068312"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Clearer lists</a:t>
            </a:r>
          </a:p>
        </p:txBody>
      </p:sp>
      <p:sp>
        <p:nvSpPr>
          <p:cNvPr id="21" name="TextBox 20"/>
          <p:cNvSpPr txBox="1"/>
          <p:nvPr/>
        </p:nvSpPr>
        <p:spPr>
          <a:xfrm>
            <a:off x="6364224"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Improve columns, icons and saved views so people can return to useful work.</a:t>
            </a:r>
          </a:p>
        </p:txBody>
      </p:sp>
      <p:sp>
        <p:nvSpPr>
          <p:cNvPr id="22" name="TextBox 21"/>
          <p:cNvSpPr txBox="1"/>
          <p:nvPr/>
        </p:nvSpPr>
        <p:spPr>
          <a:xfrm>
            <a:off x="6364224"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PLANNED</a:t>
            </a:r>
          </a:p>
        </p:txBody>
      </p:sp>
      <p:sp>
        <p:nvSpPr>
          <p:cNvPr id="23" name="Rounded Rectangle 22"/>
          <p:cNvSpPr/>
          <p:nvPr/>
        </p:nvSpPr>
        <p:spPr>
          <a:xfrm>
            <a:off x="594360"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3940" y="4096512"/>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890991" y="421940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0991" y="433206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90991" y="4444715"/>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472184"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Public pages and links</a:t>
            </a:r>
          </a:p>
        </p:txBody>
      </p:sp>
      <p:sp>
        <p:nvSpPr>
          <p:cNvPr id="29" name="TextBox 28"/>
          <p:cNvSpPr txBox="1"/>
          <p:nvPr/>
        </p:nvSpPr>
        <p:spPr>
          <a:xfrm>
            <a:off x="768096"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Help people find the right date, club, event page and registration link.</a:t>
            </a:r>
          </a:p>
        </p:txBody>
      </p:sp>
      <p:sp>
        <p:nvSpPr>
          <p:cNvPr id="30" name="TextBox 29"/>
          <p:cNvSpPr txBox="1"/>
          <p:nvPr/>
        </p:nvSpPr>
        <p:spPr>
          <a:xfrm>
            <a:off x="768096"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PROPOSED REFINEMENTS</a:t>
            </a:r>
          </a:p>
        </p:txBody>
      </p:sp>
      <p:sp>
        <p:nvSpPr>
          <p:cNvPr id="31" name="Rounded Rectangle 30"/>
          <p:cNvSpPr/>
          <p:nvPr/>
        </p:nvSpPr>
        <p:spPr>
          <a:xfrm>
            <a:off x="6190488"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400068" y="4096512"/>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487119" y="421940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487119" y="433206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487119" y="4444715"/>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068312"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Alerts and money closeout</a:t>
            </a:r>
          </a:p>
        </p:txBody>
      </p:sp>
      <p:sp>
        <p:nvSpPr>
          <p:cNvPr id="37" name="TextBox 36"/>
          <p:cNvSpPr txBox="1"/>
          <p:nvPr/>
        </p:nvSpPr>
        <p:spPr>
          <a:xfrm>
            <a:off x="6364224"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Administrator alerts and kitchen money closeout support staff following through on event work.</a:t>
            </a:r>
          </a:p>
        </p:txBody>
      </p:sp>
      <p:sp>
        <p:nvSpPr>
          <p:cNvPr id="38" name="TextBox 37"/>
          <p:cNvSpPr txBox="1"/>
          <p:nvPr/>
        </p:nvSpPr>
        <p:spPr>
          <a:xfrm>
            <a:off x="6364224"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IN THE ORDERED ROADMAP</a:t>
            </a:r>
          </a:p>
        </p:txBody>
      </p:sp>
      <p:sp>
        <p:nvSpPr>
          <p:cNvPr id="39" name="Rounded Rectangle 38"/>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The aim is easier learning while each role keeps its own responsibilities and access.</a:t>
            </a:r>
          </a:p>
        </p:txBody>
      </p:sp>
      <p:sp>
        <p:nvSpPr>
          <p:cNvPr id="41" name="TextBox 40"/>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Planned work / accepted design direction · Delivery dates are not set</a:t>
            </a:r>
          </a:p>
        </p:txBody>
      </p:sp>
      <p:sp>
        <p:nvSpPr>
          <p:cNvPr id="42" name="TextBox 41"/>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MEETING WORKFLOW · AUTHORIZED EVENT STAFF</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Build and check an event form</a:t>
            </a:r>
          </a:p>
        </p:txBody>
      </p:sp>
      <p:sp>
        <p:nvSpPr>
          <p:cNvPr id="6" name="Rounded Rectangle 5"/>
          <p:cNvSpPr/>
          <p:nvPr/>
        </p:nvSpPr>
        <p:spPr>
          <a:xfrm>
            <a:off x="594360"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03940" y="2075688"/>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890991" y="2198583"/>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90991" y="231123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90991" y="242389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472184"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Choose a starter</a:t>
            </a:r>
          </a:p>
        </p:txBody>
      </p:sp>
      <p:sp>
        <p:nvSpPr>
          <p:cNvPr id="12" name="TextBox 11"/>
          <p:cNvSpPr txBox="1"/>
          <p:nvPr/>
        </p:nvSpPr>
        <p:spPr>
          <a:xfrm>
            <a:off x="768096"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Make an independent copy; update an existing draft deliberately.</a:t>
            </a:r>
          </a:p>
        </p:txBody>
      </p:sp>
      <p:sp>
        <p:nvSpPr>
          <p:cNvPr id="13" name="TextBox 12"/>
          <p:cNvSpPr txBox="1"/>
          <p:nvPr/>
        </p:nvSpPr>
        <p:spPr>
          <a:xfrm>
            <a:off x="768096"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INDEPENDENT FORM COPY</a:t>
            </a:r>
          </a:p>
        </p:txBody>
      </p:sp>
      <p:sp>
        <p:nvSpPr>
          <p:cNvPr id="14" name="Rounded Rectangle 13"/>
          <p:cNvSpPr/>
          <p:nvPr/>
        </p:nvSpPr>
        <p:spPr>
          <a:xfrm>
            <a:off x="6190488"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00068" y="2075688"/>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487119" y="2198583"/>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487119" y="231123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487119" y="242389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068312"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Edit and save the draft</a:t>
            </a:r>
          </a:p>
        </p:txBody>
      </p:sp>
      <p:sp>
        <p:nvSpPr>
          <p:cNvPr id="20" name="TextBox 19"/>
          <p:cNvSpPr txBox="1"/>
          <p:nvPr/>
        </p:nvSpPr>
        <p:spPr>
          <a:xfrm>
            <a:off x="6364224"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Check question scope and required answers, then save.</a:t>
            </a:r>
          </a:p>
        </p:txBody>
      </p:sp>
      <p:sp>
        <p:nvSpPr>
          <p:cNvPr id="21" name="TextBox 20"/>
          <p:cNvSpPr txBox="1"/>
          <p:nvPr/>
        </p:nvSpPr>
        <p:spPr>
          <a:xfrm>
            <a:off x="6364224"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DRAFT IS NOT PUBLIC</a:t>
            </a:r>
          </a:p>
        </p:txBody>
      </p:sp>
      <p:sp>
        <p:nvSpPr>
          <p:cNvPr id="22" name="Rounded Rectangle 21"/>
          <p:cNvSpPr/>
          <p:nvPr/>
        </p:nvSpPr>
        <p:spPr>
          <a:xfrm>
            <a:off x="594360"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68096" y="4096512"/>
            <a:ext cx="491581" cy="332841"/>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1008766" y="4439594"/>
            <a:ext cx="0" cy="117775"/>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85870" y="4557369"/>
            <a:ext cx="250912"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44905" y="4198924"/>
            <a:ext cx="256032"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72184"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Preview and test</a:t>
            </a:r>
          </a:p>
        </p:txBody>
      </p:sp>
      <p:sp>
        <p:nvSpPr>
          <p:cNvPr id="28" name="TextBox 27"/>
          <p:cNvSpPr txBox="1"/>
          <p:nvPr/>
        </p:nvSpPr>
        <p:spPr>
          <a:xfrm>
            <a:off x="768096"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Try the attendee flow; first publication requires a valid test.</a:t>
            </a:r>
          </a:p>
        </p:txBody>
      </p:sp>
      <p:sp>
        <p:nvSpPr>
          <p:cNvPr id="29" name="TextBox 28"/>
          <p:cNvSpPr txBox="1"/>
          <p:nvPr/>
        </p:nvSpPr>
        <p:spPr>
          <a:xfrm>
            <a:off x="768096"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FIRST-PUBLISH TEST</a:t>
            </a:r>
          </a:p>
        </p:txBody>
      </p:sp>
      <p:sp>
        <p:nvSpPr>
          <p:cNvPr id="30" name="Rounded Rectangle 29"/>
          <p:cNvSpPr/>
          <p:nvPr/>
        </p:nvSpPr>
        <p:spPr>
          <a:xfrm>
            <a:off x="6190488"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400068" y="4096512"/>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87119" y="421940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487119" y="433206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487119" y="4444715"/>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068312"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Publish the version</a:t>
            </a:r>
          </a:p>
        </p:txBody>
      </p:sp>
      <p:sp>
        <p:nvSpPr>
          <p:cNvPr id="36" name="TextBox 35"/>
          <p:cNvSpPr txBox="1"/>
          <p:nvPr/>
        </p:nvSpPr>
        <p:spPr>
          <a:xfrm>
            <a:off x="6364224"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Confirm the version, then check the public form and event.</a:t>
            </a:r>
          </a:p>
        </p:txBody>
      </p:sp>
      <p:sp>
        <p:nvSpPr>
          <p:cNvPr id="37" name="TextBox 36"/>
          <p:cNvSpPr txBox="1"/>
          <p:nvPr/>
        </p:nvSpPr>
        <p:spPr>
          <a:xfrm>
            <a:off x="6364224"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CHECK EVENT PUBLICATION TOO</a:t>
            </a:r>
          </a:p>
        </p:txBody>
      </p:sp>
      <p:sp>
        <p:nvSpPr>
          <p:cNvPr id="38" name="Rounded Rectangle 3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Choose a starter, save the draft, check the attendee experience, then publish.</a:t>
            </a:r>
          </a:p>
        </p:txBody>
      </p:sp>
      <p:sp>
        <p:nvSpPr>
          <p:cNvPr id="40" name="TextBox 3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Current capabilities in reviewed source · Event setup and assigned access vary</a:t>
            </a:r>
          </a:p>
        </p:txBody>
      </p:sp>
      <p:sp>
        <p:nvSpPr>
          <p:cNvPr id="41" name="TextBox 4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FUTURE CAMP POSSIBILITY · DISCOVERY AND POLICY WORK REMAIN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 full camp workflow could build on this foundation</a:t>
            </a:r>
          </a:p>
        </p:txBody>
      </p:sp>
      <p:sp>
        <p:nvSpPr>
          <p:cNvPr id="6" name="Rounded Rectangle 5"/>
          <p:cNvSpPr/>
          <p:nvPr/>
        </p:nvSpPr>
        <p:spPr>
          <a:xfrm>
            <a:off x="594360" y="1874519"/>
            <a:ext cx="3493008" cy="3767328"/>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874519"/>
            <a:ext cx="50292" cy="3767328"/>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3318" y="2466045"/>
            <a:ext cx="652698" cy="227685"/>
          </a:xfrm>
          <a:prstGeom prst="rect">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3676" y="2321844"/>
            <a:ext cx="220096" cy="14420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822960" y="2276307"/>
            <a:ext cx="0" cy="584393"/>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36374" y="2466045"/>
            <a:ext cx="0" cy="394655"/>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3816" y="3127248"/>
            <a:ext cx="3054096" cy="786384"/>
          </a:xfrm>
          <a:prstGeom prst="rect">
            <a:avLst/>
          </a:prstGeom>
          <a:noFill/>
        </p:spPr>
        <p:txBody>
          <a:bodyPr wrap="square" lIns="0" rIns="0" tIns="0" bIns="0">
            <a:spAutoFit/>
          </a:bodyPr>
          <a:lstStyle/>
          <a:p>
            <a:pPr>
              <a:spcAft>
                <a:spcPts val="300"/>
              </a:spcAft>
              <a:defRPr sz="2100" b="1">
                <a:solidFill>
                  <a:srgbClr val="003B5C"/>
                </a:solidFill>
                <a:latin typeface="Noto Sans"/>
              </a:defRPr>
            </a:pPr>
            <a:r>
              <a:t>Existing foundations</a:t>
            </a:r>
          </a:p>
        </p:txBody>
      </p:sp>
      <p:sp>
        <p:nvSpPr>
          <p:cNvPr id="13" name="TextBox 12"/>
          <p:cNvSpPr txBox="1"/>
          <p:nvPr/>
        </p:nvSpPr>
        <p:spPr>
          <a:xfrm>
            <a:off x="813816" y="4105656"/>
            <a:ext cx="3054096" cy="932688"/>
          </a:xfrm>
          <a:prstGeom prst="rect">
            <a:avLst/>
          </a:prstGeom>
          <a:noFill/>
        </p:spPr>
        <p:txBody>
          <a:bodyPr wrap="square" lIns="0" rIns="0" tIns="0" bIns="0">
            <a:spAutoFit/>
          </a:bodyPr>
          <a:lstStyle/>
          <a:p>
            <a:pPr>
              <a:spcAft>
                <a:spcPts val="300"/>
              </a:spcAft>
              <a:defRPr sz="1800" b="0">
                <a:solidFill>
                  <a:srgbClr val="243640"/>
                </a:solidFill>
                <a:latin typeface="Noto Sans"/>
              </a:defRPr>
            </a:pPr>
            <a:r>
              <a:t>Build on registration, lodging, meals and check-in.</a:t>
            </a:r>
          </a:p>
        </p:txBody>
      </p:sp>
      <p:sp>
        <p:nvSpPr>
          <p:cNvPr id="14" name="TextBox 13"/>
          <p:cNvSpPr txBox="1"/>
          <p:nvPr/>
        </p:nvSpPr>
        <p:spPr>
          <a:xfrm>
            <a:off x="813816" y="5102352"/>
            <a:ext cx="3054096" cy="347472"/>
          </a:xfrm>
          <a:prstGeom prst="rect">
            <a:avLst/>
          </a:prstGeom>
          <a:noFill/>
        </p:spPr>
        <p:txBody>
          <a:bodyPr wrap="square" lIns="0" rIns="0" tIns="0" bIns="0">
            <a:spAutoFit/>
          </a:bodyPr>
          <a:lstStyle/>
          <a:p>
            <a:pPr>
              <a:spcAft>
                <a:spcPts val="300"/>
              </a:spcAft>
              <a:defRPr sz="1030" b="1">
                <a:solidFill>
                  <a:srgbClr val="582C83"/>
                </a:solidFill>
                <a:latin typeface="Noto Sans"/>
              </a:defRPr>
            </a:pPr>
            <a:r>
              <a:t>CURRENT FOUNDATION</a:t>
            </a:r>
          </a:p>
        </p:txBody>
      </p:sp>
      <p:sp>
        <p:nvSpPr>
          <p:cNvPr id="15" name="Rounded Rectangle 14"/>
          <p:cNvSpPr/>
          <p:nvPr/>
        </p:nvSpPr>
        <p:spPr>
          <a:xfrm>
            <a:off x="4334256" y="1874519"/>
            <a:ext cx="3493008" cy="3767328"/>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34256" y="1874519"/>
            <a:ext cx="50292" cy="3767328"/>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V="1">
            <a:off x="4562856" y="2192822"/>
            <a:ext cx="341528" cy="57680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4384" y="2192822"/>
            <a:ext cx="379476" cy="57680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562856" y="2769626"/>
            <a:ext cx="721004"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904384" y="2192822"/>
            <a:ext cx="0" cy="57680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53712" y="3127248"/>
            <a:ext cx="3054096" cy="786384"/>
          </a:xfrm>
          <a:prstGeom prst="rect">
            <a:avLst/>
          </a:prstGeom>
          <a:noFill/>
        </p:spPr>
        <p:txBody>
          <a:bodyPr wrap="square" lIns="0" rIns="0" tIns="0" bIns="0">
            <a:spAutoFit/>
          </a:bodyPr>
          <a:lstStyle/>
          <a:p>
            <a:pPr>
              <a:spcAft>
                <a:spcPts val="300"/>
              </a:spcAft>
              <a:defRPr sz="2100" b="1">
                <a:solidFill>
                  <a:srgbClr val="003B5C"/>
                </a:solidFill>
                <a:latin typeface="Noto Sans"/>
              </a:defRPr>
            </a:pPr>
            <a:r>
              <a:t>Camp responsibilities to define</a:t>
            </a:r>
          </a:p>
        </p:txBody>
      </p:sp>
      <p:sp>
        <p:nvSpPr>
          <p:cNvPr id="22" name="TextBox 21"/>
          <p:cNvSpPr txBox="1"/>
          <p:nvPr/>
        </p:nvSpPr>
        <p:spPr>
          <a:xfrm>
            <a:off x="4553712" y="4105656"/>
            <a:ext cx="3054096" cy="932688"/>
          </a:xfrm>
          <a:prstGeom prst="rect">
            <a:avLst/>
          </a:prstGeom>
          <a:noFill/>
        </p:spPr>
        <p:txBody>
          <a:bodyPr wrap="square" lIns="0" rIns="0" tIns="0" bIns="0">
            <a:spAutoFit/>
          </a:bodyPr>
          <a:lstStyle/>
          <a:p>
            <a:pPr>
              <a:spcAft>
                <a:spcPts val="300"/>
              </a:spcAft>
              <a:defRPr sz="1800" b="0">
                <a:solidFill>
                  <a:srgbClr val="243640"/>
                </a:solidFill>
                <a:latin typeface="Noto Sans"/>
              </a:defRPr>
            </a:pPr>
            <a:r>
              <a:t>Define cabin groups, counselor care and safe pickup.</a:t>
            </a:r>
          </a:p>
        </p:txBody>
      </p:sp>
      <p:sp>
        <p:nvSpPr>
          <p:cNvPr id="23" name="TextBox 22"/>
          <p:cNvSpPr txBox="1"/>
          <p:nvPr/>
        </p:nvSpPr>
        <p:spPr>
          <a:xfrm>
            <a:off x="4553712" y="5102352"/>
            <a:ext cx="3054096" cy="347472"/>
          </a:xfrm>
          <a:prstGeom prst="rect">
            <a:avLst/>
          </a:prstGeom>
          <a:noFill/>
        </p:spPr>
        <p:txBody>
          <a:bodyPr wrap="square" lIns="0" rIns="0" tIns="0" bIns="0">
            <a:spAutoFit/>
          </a:bodyPr>
          <a:lstStyle/>
          <a:p>
            <a:pPr>
              <a:spcAft>
                <a:spcPts val="300"/>
              </a:spcAft>
              <a:defRPr sz="1030" b="1">
                <a:solidFill>
                  <a:srgbClr val="582C83"/>
                </a:solidFill>
                <a:latin typeface="Noto Sans"/>
              </a:defRPr>
            </a:pPr>
            <a:r>
              <a:t>FUTURE SCOPE</a:t>
            </a:r>
          </a:p>
        </p:txBody>
      </p:sp>
      <p:sp>
        <p:nvSpPr>
          <p:cNvPr id="24" name="Rounded Rectangle 23"/>
          <p:cNvSpPr/>
          <p:nvPr/>
        </p:nvSpPr>
        <p:spPr>
          <a:xfrm>
            <a:off x="8074152" y="1874519"/>
            <a:ext cx="3493008" cy="3767328"/>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74152" y="1874519"/>
            <a:ext cx="50292" cy="3767328"/>
          </a:xfrm>
          <a:prstGeom prst="rect">
            <a:avLst/>
          </a:prstGeom>
          <a:solidFill>
            <a:srgbClr val="582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355878" y="2139696"/>
            <a:ext cx="584393" cy="713414"/>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8484900" y="2321844"/>
            <a:ext cx="3187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484900" y="2488813"/>
            <a:ext cx="3187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84900" y="2655783"/>
            <a:ext cx="3187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293608" y="3127248"/>
            <a:ext cx="3054096" cy="786384"/>
          </a:xfrm>
          <a:prstGeom prst="rect">
            <a:avLst/>
          </a:prstGeom>
          <a:noFill/>
        </p:spPr>
        <p:txBody>
          <a:bodyPr wrap="square" lIns="0" rIns="0" tIns="0" bIns="0">
            <a:spAutoFit/>
          </a:bodyPr>
          <a:lstStyle/>
          <a:p>
            <a:pPr>
              <a:spcAft>
                <a:spcPts val="300"/>
              </a:spcAft>
              <a:defRPr sz="2100" b="1">
                <a:solidFill>
                  <a:srgbClr val="003B5C"/>
                </a:solidFill>
                <a:latin typeface="Noto Sans"/>
              </a:defRPr>
            </a:pPr>
            <a:r>
              <a:t>Optional vendor connection</a:t>
            </a:r>
          </a:p>
        </p:txBody>
      </p:sp>
      <p:sp>
        <p:nvSpPr>
          <p:cNvPr id="31" name="TextBox 30"/>
          <p:cNvSpPr txBox="1"/>
          <p:nvPr/>
        </p:nvSpPr>
        <p:spPr>
          <a:xfrm>
            <a:off x="8293608" y="4105656"/>
            <a:ext cx="3054096" cy="932688"/>
          </a:xfrm>
          <a:prstGeom prst="rect">
            <a:avLst/>
          </a:prstGeom>
          <a:noFill/>
        </p:spPr>
        <p:txBody>
          <a:bodyPr wrap="square" lIns="0" rIns="0" tIns="0" bIns="0">
            <a:spAutoFit/>
          </a:bodyPr>
          <a:lstStyle/>
          <a:p>
            <a:pPr>
              <a:spcAft>
                <a:spcPts val="300"/>
              </a:spcAft>
              <a:defRPr sz="1800" b="0">
                <a:solidFill>
                  <a:srgbClr val="243640"/>
                </a:solidFill>
                <a:latin typeface="Noto Sans"/>
              </a:defRPr>
            </a:pPr>
            <a:r>
              <a:t>Explore UltraCamp data, APIs and licensing.</a:t>
            </a:r>
          </a:p>
        </p:txBody>
      </p:sp>
      <p:sp>
        <p:nvSpPr>
          <p:cNvPr id="32" name="TextBox 31"/>
          <p:cNvSpPr txBox="1"/>
          <p:nvPr/>
        </p:nvSpPr>
        <p:spPr>
          <a:xfrm>
            <a:off x="8293608" y="5102352"/>
            <a:ext cx="3054096" cy="347472"/>
          </a:xfrm>
          <a:prstGeom prst="rect">
            <a:avLst/>
          </a:prstGeom>
          <a:noFill/>
        </p:spPr>
        <p:txBody>
          <a:bodyPr wrap="square" lIns="0" rIns="0" tIns="0" bIns="0">
            <a:spAutoFit/>
          </a:bodyPr>
          <a:lstStyle/>
          <a:p>
            <a:pPr>
              <a:spcAft>
                <a:spcPts val="300"/>
              </a:spcAft>
              <a:defRPr sz="1030" b="1">
                <a:solidFill>
                  <a:srgbClr val="582C83"/>
                </a:solidFill>
                <a:latin typeface="Noto Sans"/>
              </a:defRPr>
            </a:pPr>
            <a:r>
              <a:t>EXPLORATION</a:t>
            </a:r>
          </a:p>
        </p:txBody>
      </p:sp>
      <p:sp>
        <p:nvSpPr>
          <p:cNvPr id="33" name="Rounded Rectangle 32"/>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A camp system adds care, supervision and release responsibilities beyond a lodging reservation.</a:t>
            </a:r>
          </a:p>
        </p:txBody>
      </p:sp>
      <p:sp>
        <p:nvSpPr>
          <p:cNvPr id="35" name="TextBox 34"/>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Future possibility / discovery · Scope and timing require further decisions</a:t>
            </a:r>
          </a:p>
        </p:txBody>
      </p:sp>
      <p:sp>
        <p:nvSpPr>
          <p:cNvPr id="36" name="TextBox 35"/>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LATER ROADMAP · DECISIONS AND DEPENDENCIES APPLY</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Longer-term possibilities to develop</a:t>
            </a:r>
          </a:p>
        </p:txBody>
      </p:sp>
      <p:sp>
        <p:nvSpPr>
          <p:cNvPr id="6" name="Rounded Rectangle 5"/>
          <p:cNvSpPr/>
          <p:nvPr/>
        </p:nvSpPr>
        <p:spPr>
          <a:xfrm>
            <a:off x="594360"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44905" y="2075688"/>
            <a:ext cx="332841" cy="332841"/>
          </a:xfrm>
          <a:prstGeom prst="ellipse">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flipH="1">
            <a:off x="844905" y="2388047"/>
            <a:ext cx="66568" cy="174101"/>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6299" y="2388047"/>
            <a:ext cx="66568" cy="174101"/>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47318" y="2239548"/>
            <a:ext cx="51206" cy="56327"/>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998524" y="2183221"/>
            <a:ext cx="92172" cy="112654"/>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472184"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Adventurer ministry</a:t>
            </a:r>
          </a:p>
        </p:txBody>
      </p:sp>
      <p:sp>
        <p:nvSpPr>
          <p:cNvPr id="13" name="TextBox 12"/>
          <p:cNvSpPr txBox="1"/>
          <p:nvPr/>
        </p:nvSpPr>
        <p:spPr>
          <a:xfrm>
            <a:off x="768096"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Extend ministry-specific records and coordinator scope after program decisions and materials.</a:t>
            </a:r>
          </a:p>
        </p:txBody>
      </p:sp>
      <p:sp>
        <p:nvSpPr>
          <p:cNvPr id="14" name="TextBox 13"/>
          <p:cNvSpPr txBox="1"/>
          <p:nvPr/>
        </p:nvSpPr>
        <p:spPr>
          <a:xfrm>
            <a:off x="768096"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DECISIONS OPEN</a:t>
            </a:r>
          </a:p>
        </p:txBody>
      </p:sp>
      <p:sp>
        <p:nvSpPr>
          <p:cNvPr id="15" name="Rounded Rectangle 14"/>
          <p:cNvSpPr/>
          <p:nvPr/>
        </p:nvSpPr>
        <p:spPr>
          <a:xfrm>
            <a:off x="6190488" y="1865376"/>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76878" y="2075688"/>
            <a:ext cx="276514" cy="491581"/>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558808" y="2152497"/>
            <a:ext cx="112654"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594652" y="2475097"/>
            <a:ext cx="40965" cy="40965"/>
          </a:xfrm>
          <a:prstGeom prst="ellipse">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68312" y="2020824"/>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Wallet passes and mobile access</a:t>
            </a:r>
          </a:p>
        </p:txBody>
      </p:sp>
      <p:sp>
        <p:nvSpPr>
          <p:cNvPr id="20" name="TextBox 19"/>
          <p:cNvSpPr txBox="1"/>
          <p:nvPr/>
        </p:nvSpPr>
        <p:spPr>
          <a:xfrm>
            <a:off x="6364224" y="2724912"/>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Make event information easier to keep; current web passes already work on a phone.</a:t>
            </a:r>
          </a:p>
        </p:txBody>
      </p:sp>
      <p:sp>
        <p:nvSpPr>
          <p:cNvPr id="21" name="TextBox 20"/>
          <p:cNvSpPr txBox="1"/>
          <p:nvPr/>
        </p:nvSpPr>
        <p:spPr>
          <a:xfrm>
            <a:off x="6364224" y="3392424"/>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PLANNED EXTENSION</a:t>
            </a:r>
          </a:p>
        </p:txBody>
      </p:sp>
      <p:sp>
        <p:nvSpPr>
          <p:cNvPr id="22" name="Rounded Rectangle 21"/>
          <p:cNvSpPr/>
          <p:nvPr/>
        </p:nvSpPr>
        <p:spPr>
          <a:xfrm>
            <a:off x="594360"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8096" y="4163080"/>
            <a:ext cx="486460" cy="368686"/>
          </a:xfrm>
          <a:prstGeom prst="rect">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768096" y="4270613"/>
            <a:ext cx="486460"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08766" y="4163080"/>
            <a:ext cx="0" cy="107533"/>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60267" y="4403750"/>
            <a:ext cx="122895"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72184"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Merchandise and fundraising</a:t>
            </a:r>
          </a:p>
        </p:txBody>
      </p:sp>
      <p:sp>
        <p:nvSpPr>
          <p:cNvPr id="28" name="TextBox 27"/>
          <p:cNvSpPr txBox="1"/>
          <p:nvPr/>
        </p:nvSpPr>
        <p:spPr>
          <a:xfrm>
            <a:off x="768096"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Separate checkout is held; fundraising needs its own scope.</a:t>
            </a:r>
          </a:p>
        </p:txBody>
      </p:sp>
      <p:sp>
        <p:nvSpPr>
          <p:cNvPr id="29" name="TextBox 28"/>
          <p:cNvSpPr txBox="1"/>
          <p:nvPr/>
        </p:nvSpPr>
        <p:spPr>
          <a:xfrm>
            <a:off x="768096"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CHECKOUT ON HOLD</a:t>
            </a:r>
          </a:p>
        </p:txBody>
      </p:sp>
      <p:sp>
        <p:nvSpPr>
          <p:cNvPr id="30" name="Rounded Rectangle 29"/>
          <p:cNvSpPr/>
          <p:nvPr/>
        </p:nvSpPr>
        <p:spPr>
          <a:xfrm>
            <a:off x="6190488" y="3886200"/>
            <a:ext cx="5376672" cy="1810512"/>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400068" y="4096512"/>
            <a:ext cx="394289" cy="481340"/>
          </a:xfrm>
          <a:prstGeom prst="roundRect">
            <a:avLst>
              <a:gd name="adj" fmla="val 7000"/>
            </a:avLst>
          </a:prstGeom>
          <a:noFill/>
          <a:ln w="30480">
            <a:solidFill>
              <a:srgbClr val="003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87119" y="4219407"/>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487119" y="4332061"/>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487119" y="4444715"/>
            <a:ext cx="215067" cy="0"/>
          </a:xfrm>
          <a:prstGeom prst="line">
            <a:avLst/>
          </a:prstGeom>
          <a:ln w="25400">
            <a:solidFill>
              <a:srgbClr val="003B5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068312" y="4041648"/>
            <a:ext cx="4334256" cy="557784"/>
          </a:xfrm>
          <a:prstGeom prst="rect">
            <a:avLst/>
          </a:prstGeom>
          <a:noFill/>
        </p:spPr>
        <p:txBody>
          <a:bodyPr wrap="square" lIns="0" rIns="0" tIns="0" bIns="0">
            <a:spAutoFit/>
          </a:bodyPr>
          <a:lstStyle/>
          <a:p>
            <a:pPr>
              <a:spcAft>
                <a:spcPts val="300"/>
              </a:spcAft>
              <a:defRPr sz="2000" b="1">
                <a:solidFill>
                  <a:srgbClr val="003B5C"/>
                </a:solidFill>
                <a:latin typeface="Noto Sans"/>
              </a:defRPr>
            </a:pPr>
            <a:r>
              <a:t>Feedback and certificates</a:t>
            </a:r>
          </a:p>
        </p:txBody>
      </p:sp>
      <p:sp>
        <p:nvSpPr>
          <p:cNvPr id="36" name="TextBox 35"/>
          <p:cNvSpPr txBox="1"/>
          <p:nvPr/>
        </p:nvSpPr>
        <p:spPr>
          <a:xfrm>
            <a:off x="6364224" y="4745736"/>
            <a:ext cx="5029200" cy="603504"/>
          </a:xfrm>
          <a:prstGeom prst="rect">
            <a:avLst/>
          </a:prstGeom>
          <a:noFill/>
        </p:spPr>
        <p:txBody>
          <a:bodyPr wrap="square" lIns="0" rIns="0" tIns="0" bIns="0">
            <a:spAutoFit/>
          </a:bodyPr>
          <a:lstStyle/>
          <a:p>
            <a:pPr>
              <a:spcAft>
                <a:spcPts val="300"/>
              </a:spcAft>
              <a:defRPr sz="1680" b="0">
                <a:solidFill>
                  <a:srgbClr val="243640"/>
                </a:solidFill>
                <a:latin typeface="Noto Sans"/>
              </a:defRPr>
            </a:pPr>
            <a:r>
              <a:t>Extend event follow-up with feedback and useful records of participation or completion.</a:t>
            </a:r>
          </a:p>
        </p:txBody>
      </p:sp>
      <p:sp>
        <p:nvSpPr>
          <p:cNvPr id="37" name="TextBox 36"/>
          <p:cNvSpPr txBox="1"/>
          <p:nvPr/>
        </p:nvSpPr>
        <p:spPr>
          <a:xfrm>
            <a:off x="6364224" y="5413248"/>
            <a:ext cx="5029200" cy="228600"/>
          </a:xfrm>
          <a:prstGeom prst="rect">
            <a:avLst/>
          </a:prstGeom>
          <a:noFill/>
        </p:spPr>
        <p:txBody>
          <a:bodyPr wrap="square" lIns="0" rIns="0" tIns="0" bIns="0">
            <a:spAutoFit/>
          </a:bodyPr>
          <a:lstStyle/>
          <a:p>
            <a:pPr>
              <a:spcAft>
                <a:spcPts val="300"/>
              </a:spcAft>
              <a:defRPr sz="919" b="1">
                <a:solidFill>
                  <a:srgbClr val="582C83"/>
                </a:solidFill>
                <a:latin typeface="Noto Sans"/>
              </a:defRPr>
            </a:pPr>
            <a:r>
              <a:t>LATER ROADMAP</a:t>
            </a:r>
          </a:p>
        </p:txBody>
      </p:sp>
      <p:sp>
        <p:nvSpPr>
          <p:cNvPr id="38" name="Rounded Rectangle 3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Future scope follows the existing roadmap, decisions and event needs; no delivery dates are set.</a:t>
            </a:r>
          </a:p>
        </p:txBody>
      </p:sp>
      <p:sp>
        <p:nvSpPr>
          <p:cNvPr id="40" name="TextBox 3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2"/>
              </a:rPr>
              <a:t>Future possibility / discovery · Scope and timing require further decisions</a:t>
            </a:r>
          </a:p>
        </p:txBody>
      </p:sp>
      <p:sp>
        <p:nvSpPr>
          <p:cNvPr id="41" name="TextBox 4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READY TO USE IT</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Check the result. Sign out. Return to the same place.</a:t>
            </a:r>
          </a:p>
        </p:txBody>
      </p:sp>
      <p:sp>
        <p:nvSpPr>
          <p:cNvPr id="6" name="Rounded Rectangle 5"/>
          <p:cNvSpPr/>
          <p:nvPr/>
        </p:nvSpPr>
        <p:spPr>
          <a:xfrm>
            <a:off x="571500" y="3197831"/>
            <a:ext cx="6812280" cy="1148137"/>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3220691"/>
            <a:ext cx="6766560" cy="110241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xample · a saved registration — current local application with fictional training data"/>
          <p:cNvPicPr>
            <a:picLocks noChangeAspect="1"/>
          </p:cNvPicPr>
          <p:nvPr/>
        </p:nvPicPr>
        <p:blipFill>
          <a:blip r:embed="rId2"/>
          <a:stretch>
            <a:fillRect/>
          </a:stretch>
        </p:blipFill>
        <p:spPr>
          <a:xfrm>
            <a:off x="594360" y="3220691"/>
            <a:ext cx="6766560" cy="1102417"/>
          </a:xfrm>
          <a:prstGeom prst="rect">
            <a:avLst/>
          </a:prstGeom>
        </p:spPr>
      </p:pic>
      <p:sp>
        <p:nvSpPr>
          <p:cNvPr id="9" name="TextBox 8"/>
          <p:cNvSpPr txBox="1"/>
          <p:nvPr/>
        </p:nvSpPr>
        <p:spPr>
          <a:xfrm>
            <a:off x="7818120" y="1773936"/>
            <a:ext cx="3611880" cy="585216"/>
          </a:xfrm>
          <a:prstGeom prst="rect">
            <a:avLst/>
          </a:prstGeom>
          <a:noFill/>
        </p:spPr>
        <p:txBody>
          <a:bodyPr wrap="square" lIns="0" rIns="0" tIns="0" bIns="0">
            <a:spAutoFit/>
          </a:bodyPr>
          <a:lstStyle/>
          <a:p>
            <a:pPr>
              <a:spcAft>
                <a:spcPts val="300"/>
              </a:spcAft>
              <a:defRPr sz="2400" b="1">
                <a:solidFill>
                  <a:srgbClr val="582C83"/>
                </a:solidFill>
                <a:latin typeface="Noto Sans"/>
              </a:defRPr>
            </a:pPr>
            <a:r>
              <a:t>Finish safely</a:t>
            </a:r>
          </a:p>
        </p:txBody>
      </p:sp>
      <p:sp>
        <p:nvSpPr>
          <p:cNvPr id="10" name="Rounded Rectangle 9"/>
          <p:cNvSpPr/>
          <p:nvPr/>
        </p:nvSpPr>
        <p:spPr>
          <a:xfrm>
            <a:off x="7795260" y="2702997"/>
            <a:ext cx="3794759" cy="172632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18120" y="2725857"/>
            <a:ext cx="3749039" cy="1680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 Sign out before leaving — current local application with fictional training data"/>
          <p:cNvPicPr>
            <a:picLocks noChangeAspect="1"/>
          </p:cNvPicPr>
          <p:nvPr/>
        </p:nvPicPr>
        <p:blipFill>
          <a:blip r:embed="rId3"/>
          <a:stretch>
            <a:fillRect/>
          </a:stretch>
        </p:blipFill>
        <p:spPr>
          <a:xfrm>
            <a:off x="7818120" y="2725857"/>
            <a:ext cx="3749039" cy="1680604"/>
          </a:xfrm>
          <a:prstGeom prst="rect">
            <a:avLst/>
          </a:prstGeom>
        </p:spPr>
      </p:pic>
      <p:sp>
        <p:nvSpPr>
          <p:cNvPr id="13" name="TextBox 12"/>
          <p:cNvSpPr txBox="1"/>
          <p:nvPr/>
        </p:nvSpPr>
        <p:spPr>
          <a:xfrm>
            <a:off x="7818120" y="4818888"/>
            <a:ext cx="3749039" cy="758952"/>
          </a:xfrm>
          <a:prstGeom prst="rect">
            <a:avLst/>
          </a:prstGeom>
          <a:noFill/>
        </p:spPr>
        <p:txBody>
          <a:bodyPr wrap="square" lIns="0" rIns="0" tIns="0" bIns="0">
            <a:spAutoFit/>
          </a:bodyPr>
          <a:lstStyle/>
          <a:p>
            <a:pPr>
              <a:spcAft>
                <a:spcPts val="300"/>
              </a:spcAft>
              <a:defRPr sz="2000" b="1">
                <a:solidFill>
                  <a:srgbClr val="003B5C"/>
                </a:solidFill>
                <a:latin typeface="Noto Sans"/>
              </a:defRPr>
            </a:pPr>
            <a:r>
              <a:t>Use Sign out before leaving a shared device.</a:t>
            </a:r>
          </a:p>
        </p:txBody>
      </p:sp>
      <p:sp>
        <p:nvSpPr>
          <p:cNvPr id="14" name="Oval 13"/>
          <p:cNvSpPr/>
          <p:nvPr/>
        </p:nvSpPr>
        <p:spPr>
          <a:xfrm>
            <a:off x="245059" y="3680716"/>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1071" y="3731008"/>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6" name="Oval 15"/>
          <p:cNvSpPr/>
          <p:nvPr/>
        </p:nvSpPr>
        <p:spPr>
          <a:xfrm>
            <a:off x="8234172" y="333582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0184" y="338611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8" name="Rounded Rectangle 1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Try one task for your role. Check its saved state, then Sign out—especially on a shared device.</a:t>
            </a:r>
          </a:p>
        </p:txBody>
      </p:sp>
      <p:sp>
        <p:nvSpPr>
          <p:cNvPr id="20" name="TextBox 1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1" name="TextBox 2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IMSDA Events: See it, try it — a visual guide for club leaders</dc:title>
  <dc:subject>Practical orientation, more current capabilities and clearly labelled future possibilities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