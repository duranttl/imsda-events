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deck with the five companion documents. This is a repository-based briefing, not a statement of deployment or production readiness. The source baseline is main 5e367b7c. Existing rehearsals, decision records and sample imports/outputs are referenced rather than recreated.</a:t>
            </a:r>
          </a:p>
          <a:p/>
          <a:p>
            <a:r>
              <a:t>Sources:</a:t>
            </a:r>
          </a:p>
          <a:p>
            <a:r>
              <a:t>Source baseline: https://github.com/DurantTL/IMSDA-Events/commit/5e367b7c4d1b3c173d37c0415e335be76170b300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labels prevent a common misunderstanding: a merged change, a design sample and a future issue do not have the same meaning. The documents use the same distinctions. No proposed feature in this deck is a new delivery commitment.</a:t>
            </a:r>
          </a:p>
          <a:p/>
          <a:p>
            <a:r>
              <a:t>Sources:</a:t>
            </a:r>
          </a:p>
          <a:p>
            <a:r>
              <a:t>Ordered roadmap: https://github.com/DurantTL/IMSDA-Events/issues/98</a:t>
            </a:r>
          </a:p>
          <a:p>
            <a:r>
              <a:t>Design direction: https://github.com/DurantTL/IMSDA-Events/issues/1109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grouped foundations rather than a promise that every long-term epic is complete. The feature guide gives current limits and source links. The future append-only ledger is distinct from the current payment/refund/adjustment system.</a:t>
            </a:r>
          </a:p>
          <a:p/>
          <a:p>
            <a:r>
              <a:t>Sources:</a:t>
            </a:r>
          </a:p>
          <a:p>
            <a:r>
              <a:t>Feature inventory: https://github.com/DurantTL/IMSDA-Events/blob/5e367b7c4d1b3c173d37c0415e335be76170b300/docs/EVENT-FEATURES.md</a:t>
            </a:r>
          </a:p>
          <a:p>
            <a:r>
              <a:t>Source modules: https://github.com/DurantTL/IMSDA-Events/tree/5e367b7c4d1b3c173d37c0415e335be76170b300/modules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turn these personas into four options anyone can select. Workspaces follow real grants and authentication. A multi-person registration does not establish permanent household or guardian authority. Current coordinator source selects all active clubs; ministry-scoped access is a later project.</a:t>
            </a:r>
          </a:p>
          <a:p/>
          <a:p>
            <a:r>
              <a:t>Sources:</a:t>
            </a:r>
          </a:p>
          <a:p>
            <a:r>
              <a:t>Role contract: https://github.com/DurantTL/IMSDA-Events/blob/5e367b7c4d1b3c173d37c0415e335be76170b300/docs/design/role-workspaces/evidence/role-contract.md</a:t>
            </a:r>
          </a:p>
          <a:p>
            <a:r>
              <a:t>Accepted roles: https://github.com/DurantTL/IMSDA-Events/issues/1109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actual event and registration state before suggesting Pay now or Change registration. #1100 is the open lifecycle display defect. Private management links carry access: help users recover access through the intended path rather than forwarding tokens or posting them in support channels.</a:t>
            </a:r>
          </a:p>
          <a:p/>
          <a:p>
            <a:r>
              <a:t>Sources:</a:t>
            </a:r>
          </a:p>
          <a:p>
            <a:r>
              <a:t>Private access: https://github.com/DurantTL/IMSDA-Events/issues/61</a:t>
            </a:r>
          </a:p>
          <a:p>
            <a:r>
              <a:t>Lifecycle display correction: https://github.com/DurantTL/IMSDA-Events/issues/1100</a:t>
            </a:r>
          </a:p>
          <a:p>
            <a:r>
              <a:t>Attendee design: https://github.com/DurantTL/IMSDA-Events/issues/1111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director work already exists; #1112 is the accepted shell/roster usability follow-up. A registrar is not a director with a different label, and a reporter does not gain roster access. Do not teach the future Help &amp; learning page as a current destination.</a:t>
            </a:r>
          </a:p>
          <a:p/>
          <a:p>
            <a:r>
              <a:t>Sources:</a:t>
            </a:r>
          </a:p>
          <a:p>
            <a:r>
              <a:t>Club capabilities: https://github.com/DurantTL/IMSDA-Events/blob/5e367b7c4d1b3c173d37c0415e335be76170b300/modules/club-rosters/access.ts</a:t>
            </a:r>
          </a:p>
          <a:p>
            <a:r>
              <a:t>Director design: https://github.com/DurantTL/IMSDA-Events/issues/1112</a:t>
            </a:r>
          </a:p>
          <a:p>
            <a:r>
              <a:t>Invoicing: https://github.com/DurantTL/IMSDA-Events/blob/5e367b7c4d1b3c173d37c0415e335be76170b300/docs/INVOICES.md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#840/#843 describe the later ministry scope. The accepted future direction is whole-ministry visibility for now, but it is not the current enforced predicate. Current health sheets and the encrypted Pathfinder Health Record are different sources with different guards.</a:t>
            </a:r>
          </a:p>
          <a:p/>
          <a:p>
            <a:r>
              <a:t>Sources:</a:t>
            </a:r>
          </a:p>
          <a:p>
            <a:r>
              <a:t>Coordinator design: https://github.com/DurantTL/IMSDA-Events/issues/1113</a:t>
            </a:r>
          </a:p>
          <a:p>
            <a:r>
              <a:t>Future ministry scope: https://github.com/DurantTL/IMSDA-Events/issues/843</a:t>
            </a:r>
          </a:p>
          <a:p>
            <a:r>
              <a:t>Health policy: https://github.com/DurantTL/IMSDA-Events/blob/5e367b7c4d1b3c173d37c0415e335be76170b300/docs/decisions/0005-protected-records-policy.md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column names existing responsibilities. The right column summarizes accepted design direction in #1073–#1077 and should not be presented as fully shipped. These documents preserve the agreed administrator menu; later page mockup sidebars do not redefine it.</a:t>
            </a:r>
          </a:p>
          <a:p/>
          <a:p>
            <a:r>
              <a:t>Sources:</a:t>
            </a:r>
          </a:p>
          <a:p>
            <a:r>
              <a:t>Admin design owner: https://github.com/DurantTL/IMSDA-Events/issues/1073</a:t>
            </a:r>
          </a:p>
          <a:p>
            <a:r>
              <a:t>Navigation owner: https://github.com/DurantTL/IMSDA-Events/issues/1074</a:t>
            </a:r>
          </a:p>
          <a:p>
            <a:r>
              <a:t>Dashboard owner: https://github.com/DurantTL/IMSDA-Events/issues/1075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form-builder foundation sequence is #1063, then #1064, then #1065. The latest October 20 decision permits those foundation slices before the separate visual review for steps 3–6. First-publish-only builder testing and draft replacement from a template are delivered. Do not confuse a form configuration copy with copying reservations, people or health records.</a:t>
            </a:r>
          </a:p>
          <a:p/>
          <a:p>
            <a:r>
              <a:t>Sources:</a:t>
            </a:r>
          </a:p>
          <a:p>
            <a:r>
              <a:t>Builder epic: https://github.com/DurantTL/IMSDA-Events/issues/1062</a:t>
            </a:r>
          </a:p>
          <a:p>
            <a:r>
              <a:t>Editable templates: https://github.com/DurantTL/IMSDA-Events/issues/1064</a:t>
            </a:r>
          </a:p>
          <a:p>
            <a:r>
              <a:t>Template provenance: https://github.com/DurantTL/IMSDA-Events/issues/1065</a:t>
            </a:r>
          </a:p>
          <a:p>
            <a:r>
              <a:t>Saved questions: https://github.com/DurantTL/IMSDA-Events/issues/1070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Kitchen scanner import1028 and count entry1029 are delivered;212 now retains money closeout and exceptions. The current Sterling policy keeps registration/login/roster available while gating applicable adult/staff check-in at youth/children events, with an audited override and adult-event clarification.</a:t>
            </a:r>
          </a:p>
          <a:p/>
          <a:p>
            <a:r>
              <a:t>Sources:</a:t>
            </a:r>
          </a:p>
          <a:p>
            <a:r>
              <a:t>Meals: https://github.com/DurantTL/IMSDA-Events/blob/5e367b7c4d1b3c173d37c0415e335be76170b300/docs/MEALS.md</a:t>
            </a:r>
          </a:p>
          <a:p>
            <a:r>
              <a:t>Kitchen residual: https://github.com/DurantTL/IMSDA-Events/issues/212</a:t>
            </a:r>
          </a:p>
          <a:p>
            <a:r>
              <a:t>Screening rule: https://github.com/DurantTL/IMSDA-Events/issues/874</a:t>
            </a:r>
          </a:p>
          <a:p>
            <a:r>
              <a:t>Future ledger: https://github.com/DurantTL/IMSDA-Events/issues/74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is a source/specification synthesis with clearly identified historical visual references. Read the usability document for concrete findings, related WCAG guidance and verification limits. A successful layout test is useful evidence but not a screen-reader or production usability session.</a:t>
            </a:r>
          </a:p>
          <a:p/>
          <a:p>
            <a:r>
              <a:t>Sources:</a:t>
            </a:r>
          </a:p>
          <a:p>
            <a:r>
              <a:t>Responsive conventions: https://github.com/DurantTL/IMSDA-Events/blob/5e367b7c4d1b3c173d37c0415e335be76170b300/docs/RESPONSIVE.md</a:t>
            </a:r>
          </a:p>
          <a:p>
            <a:r>
              <a:t>Current design review: https://github.com/DurantTL/IMSDA-Events/issues/1114</a:t>
            </a:r>
          </a:p>
          <a:p>
            <a:r>
              <a:t>Open test resilience work: https://github.com/DurantTL/IMSDA-Events/issues/917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existing open issues, not newly discovered production incidents. The companion review explains reproducible source behavior, user impact and acceptance examples. This slide does not reprioritize the canonical queue.</a:t>
            </a:r>
          </a:p>
          <a:p/>
          <a:p>
            <a:r>
              <a:t>Sources:</a:t>
            </a:r>
          </a:p>
          <a:p>
            <a:r>
              <a:t>Review and ownership: https://github.com/DurantTL/IMSDA-Events/issues/1114</a:t>
            </a:r>
          </a:p>
          <a:p>
            <a:r>
              <a:t>Saved links: https://github.com/DurantTL/IMSDA-Events/issues/1115</a:t>
            </a:r>
          </a:p>
          <a:p>
            <a:r>
              <a:t>Dirty roster: https://github.com/DurantTL/IMSDA-Events/issues/1101</a:t>
            </a:r>
          </a:p>
          <a:p>
            <a:r>
              <a:t>Tablet overflow: https://github.com/DurantTL/IMSDA-Events/issues/1045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images are synthetic accepted role-workspace mockups from the existing reference pack. They are not production screenshots. Their accepted role separation and the existing navigation owners remain authoritative. No additional administrator menu changes are proposed by this briefing.</a:t>
            </a:r>
          </a:p>
          <a:p/>
          <a:p>
            <a:r>
              <a:t>Sources:</a:t>
            </a:r>
          </a:p>
          <a:p>
            <a:r>
              <a:t>Accepted role gallery: https://github.com/DurantTL/IMSDA-Events/blob/5e367b7c4d1b3c173d37c0415e335be76170b300/docs/design/role-workspaces/README.md</a:t>
            </a:r>
          </a:p>
          <a:p>
            <a:r>
              <a:t>Director owner: https://github.com/DurantTL/IMSDA-Events/issues/1112</a:t>
            </a:r>
          </a:p>
          <a:p>
            <a:r>
              <a:t>Admin owner: https://github.com/DurantTL/IMSDA-Events/issues/1073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help kit is prepared content, not a new Help screen. Draft messages are not sent. Before operational use, check audience, source state, current permission and any event-specific wording. Never place private management links, health details or sensitive records into a general support discussion.</a:t>
            </a:r>
          </a:p>
          <a:p/>
          <a:p>
            <a:r>
              <a:t>Sources:</a:t>
            </a:r>
          </a:p>
          <a:p>
            <a:r>
              <a:t>Current communications templates: https://github.com/DurantTL/IMSDA-Events/blob/5e367b7c4d1b3c173d37c0415e335be76170b300/modules/communications/templates.ts</a:t>
            </a:r>
          </a:p>
          <a:p>
            <a:r>
              <a:t>Future Help owner: https://github.com/DurantTL/IMSDA-Events/issues/1077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groups summarize existing issues; they are not a newly ordered roadmap. Each has different maturity and gates. Do not promise dates, automatically enable vendors or treat conference-level approval of one narrow feature as approval of every adjacent parent.</a:t>
            </a:r>
          </a:p>
          <a:p/>
          <a:p>
            <a:r>
              <a:t>Sources:</a:t>
            </a:r>
          </a:p>
          <a:p>
            <a:r>
              <a:t>Ordered roadmap: https://github.com/DurantTL/IMSDA-Events/issues/98</a:t>
            </a:r>
          </a:p>
          <a:p>
            <a:r>
              <a:t>Comparison index: https://github.com/DurantTL/IMSDA-Events/issues/844</a:t>
            </a:r>
          </a:p>
          <a:p>
            <a:r>
              <a:t>Adventurers: https://github.com/DurantTL/IMSDA-Events/issues/840</a:t>
            </a:r>
          </a:p>
          <a:p>
            <a:r>
              <a:t>Future site builder: https://github.com/DurantTL/IMSDA-Events/issues/84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Conference Camp Meeting and residential youth/summer camp are different operating models. Existing lodging beds do not by themselves create a counselor/camper supervision model. The separate camp report maps capability, authoritative records and human policy to existing owners. Missing evidence is marked unknown, not asserted absent from UltraCamp.</a:t>
            </a:r>
          </a:p>
          <a:p/>
          <a:p>
            <a:r>
              <a:t>Sources:</a:t>
            </a:r>
          </a:p>
          <a:p>
            <a:r>
              <a:t>Camp report companion: 04-camp-system-and-ultracamp.pdf</a:t>
            </a:r>
          </a:p>
          <a:p>
            <a:r>
              <a:t>Legacy operations: https://github.com/DurantTL/IMSDA-Events/blob/5e367b7c4d1b3c173d37c0415e335be76170b300/docs/LEGACY-EVENT-SYSTEMS.md</a:t>
            </a:r>
          </a:p>
          <a:p>
            <a:r>
              <a:t>UltraCamp scope: https://github.com/DurantTL/IMSDA-Events/issues/71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draft information request for the owner to use; nothing is sent to UltraCamp. Ask the camp operator and vendor for synthetic/blank examples, not live camper exports. Public documentation gaps do not prove there is no supported interface. All UltraCamp implementation stays Phase 5 under the existing owner decision.</a:t>
            </a:r>
          </a:p>
          <a:p/>
          <a:p>
            <a:r>
              <a:t>Sources:</a:t>
            </a:r>
          </a:p>
          <a:p>
            <a:r>
              <a:t>Existing UltraCamp research: https://github.com/DurantTL/IMSDA-Events/issues/71</a:t>
            </a:r>
          </a:p>
          <a:p>
            <a:r>
              <a:t>Health discovery index: https://github.com/DurantTL/IMSDA-Events/issues/389</a:t>
            </a:r>
          </a:p>
          <a:p>
            <a:r>
              <a:t>Phase order: https://github.com/DurantTL/IMSDA-Events/issues/98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report includes a deeper module/data-flow map and code references. Staff User and AttendeeAccount remain linked1:1 with separate authentication boundaries. Current payment/refund/adjustment/invoice records are not the future generalized ledger. Protected domains have narrower guards than ordinary event access.</a:t>
            </a:r>
          </a:p>
          <a:p/>
          <a:p>
            <a:r>
              <a:t>Sources:</a:t>
            </a:r>
          </a:p>
          <a:p>
            <a:r>
              <a:t>Automation guide: https://github.com/DurantTL/IMSDA-Events/blob/5e367b7c4d1b3c173d37c0415e335be76170b300/AGENTS.md</a:t>
            </a:r>
          </a:p>
          <a:p>
            <a:r>
              <a:t>Schema: https://github.com/DurantTL/IMSDA-Events/blob/5e367b7c4d1b3c173d37c0415e335be76170b300/prisma/schema.prisma</a:t>
            </a:r>
          </a:p>
          <a:p>
            <a:r>
              <a:t>Architecture ADR: https://github.com/DurantTL/IMSDA-Events/blob/5e367b7c4d1b3c173d37c0415e335be76170b300/docs/decisions/0001-foundation-architecture.md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current main push run 39609956369, job 119260142581, commit 5e367b7c. The skipped backup-script test requires root; the CI runner is nonroot. The full verify job is intentionally skipped on main push; extended database/HTTP evidence is recorded separately for application PR head 9879edba. The app/scripts/workflows are identical between that head and this baseline; the intervening 58 paths are all documentation. These are CI results, not deployment verification.</a:t>
            </a:r>
          </a:p>
          <a:p/>
          <a:p>
            <a:r>
              <a:t>Sources:</a:t>
            </a:r>
          </a:p>
          <a:p>
            <a:r>
              <a:t>Current main CI run: https://github.com/DurantTL/IMSDA-Events/actions/runs/39609956369</a:t>
            </a:r>
          </a:p>
          <a:p>
            <a:r>
              <a:t>Last application verification: https://github.com/DurantTL/IMSDA-Events/actions/runs/39520473876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mobile run is 39520478915; it opened 301 dialogs and checked 1,871 fields plus 56 date fields, with 0 accepted findings and 0 page script errors. Screenshots were disabled, so the report is evidence but not a visual screenshot archive. Badge run 39520473962 is automated evidence, not a real printer test. Existing readiness/rehearsal documents remain the owner of human steps; this deck does not recreate them.</a:t>
            </a:r>
          </a:p>
          <a:p/>
          <a:p>
            <a:r>
              <a:t>Sources:</a:t>
            </a:r>
          </a:p>
          <a:p>
            <a:r>
              <a:t>Mobile run: https://github.com/DurantTL/IMSDA-Events/actions/runs/39520478915</a:t>
            </a:r>
          </a:p>
          <a:p>
            <a:r>
              <a:t>Badge run: https://github.com/DurantTL/IMSDA-Events/actions/runs/39520473962</a:t>
            </a:r>
          </a:p>
          <a:p>
            <a:r>
              <a:t>Readiness evidence: https://github.com/DurantTL/IMSDA-Events/blob/5e367b7c4d1b3c173d37c0415e335be76170b300/docs/PRODUCTION-READINESS-REVIEW.md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responds to the owner’s correction: the project already has rehearsals, decision records, import preparation and PDF/CSV/JSON outputs. The new feature guide provides an index into them. It does not create another competing decision register, importer or go-live checklist.</a:t>
            </a:r>
          </a:p>
          <a:p/>
          <a:p>
            <a:r>
              <a:t>Sources:</a:t>
            </a:r>
          </a:p>
          <a:p>
            <a:r>
              <a:t>Existing docs: https://github.com/DurantTL/IMSDA-Events/tree/5e367b7c4d1b3c173d37c0415e335be76170b300/docs</a:t>
            </a:r>
          </a:p>
          <a:p>
            <a:r>
              <a:t>Import references: https://github.com/DurantTL/IMSDA-Events/tree/5e367b7c4d1b3c173d37c0415e335be76170b300/docs/reference/imports</a:t>
            </a:r>
          </a:p>
          <a:p>
            <a:r>
              <a:t>Sample registration PDF: https://github.com/DurantTL/IMSDA-Events/blob/5e367b7c4d1b3c173d37c0415e335be76170b300/docs/samples/registration-pdf-sample.pdf</a:t>
            </a:r>
          </a:p>
          <a:p>
            <a:r>
              <a:t>Public/list studies: https://github.com/DurantTL/IMSDA-Events/blob/5e367b7c4d1b3c173d37c0415e335be76170b300/docs/design/public-journeys-and-lists/README.md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deliverables are documentation. Application code, menus, roles, queues and production switches are unchanged. Future implementation continues from #98 and its existing bounded issues. Use the README to select the right document for the audience.</a:t>
            </a:r>
          </a:p>
          <a:p/>
          <a:p>
            <a:r>
              <a:t>Sources:</a:t>
            </a:r>
          </a:p>
          <a:p>
            <a:r>
              <a:t>Backlog review index: https://github.com/DurantTL/IMSDA-Events/issues/844</a:t>
            </a:r>
          </a:p>
          <a:p>
            <a:r>
              <a:t>Canonical queue: https://github.com/DurantTL/IMSDA-Events/issues/98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 baseline https://github.com/DurantTL/IMSDA-Events/commit/5e367b7c4d1b3c173d37c0415e335be76170b300. The generated documents cite stable source paths and live issue owners. External references are evidence at the dates stated, not a promise about vendor entitlement. This deck uses synthetic accepted design screenshots only, clearly labelled.</a:t>
            </a:r>
          </a:p>
          <a:p/>
          <a:p>
            <a:r>
              <a:t>Sources:</a:t>
            </a:r>
          </a:p>
          <a:p>
            <a:r>
              <a:t>Roadmap: https://github.com/DurantTL/IMSDA-Events/issues/98</a:t>
            </a:r>
          </a:p>
          <a:p>
            <a:r>
              <a:t>Review index: https://github.com/DurantTL/IMSDA-Events/issues/844</a:t>
            </a:r>
          </a:p>
          <a:p>
            <a:r>
              <a:t>Role design: https://github.com/DurantTL/IMSDA-Events/issues/1109</a:t>
            </a:r>
          </a:p>
          <a:p>
            <a:r>
              <a:t>Builder: https://github.com/DurantTL/IMSDA-Events/issues/1062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98"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docs/EVENT-FEATURES.md"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docs/design/role-workspaces/evidence/role-contract.md"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61"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modules/club-rosters/access.ts"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1113"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1073"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1062"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docs/MEALS.md"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docs/RESPONSIVE.md"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1114"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DurantTL/IMSDA-Events/blob/5e367b7c4d1b3c173d37c0415e335be76170b300/docs/design/role-workspaces/README.md"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modules/communications/templates.ts"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98"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04-camp-system-and-ultracamp.pdf"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71"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blob/5e367b7c4d1b3c173d37c0415e335be76170b300/AGENTS.m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actions/runs/39609956369"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actions/runs/3952047891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tree/5e367b7c4d1b3c173d37c0415e335be76170b300/docs"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844"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urantTL/IMSDA-Events/issues/98" TargetMode="External"/><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F0B323"/>
                </a:solidFill>
                <a:latin typeface="Noto Sans"/>
              </a:defRPr>
            </a:pPr>
            <a:r>
              <a:t>PLATFORM BRIEFING  /  OCTOBER 21, 2026</a:t>
            </a:r>
          </a:p>
        </p:txBody>
      </p:sp>
      <p:sp>
        <p:nvSpPr>
          <p:cNvPr id="5" name="Rectangle 4"/>
          <p:cNvSpPr/>
          <p:nvPr/>
        </p:nvSpPr>
        <p:spPr>
          <a:xfrm>
            <a:off x="8915400" y="0"/>
            <a:ext cx="3291840" cy="685800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915400" y="6199632"/>
            <a:ext cx="3291840" cy="658368"/>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53312"/>
            <a:ext cx="7955279" cy="2286000"/>
          </a:xfrm>
          <a:prstGeom prst="rect">
            <a:avLst/>
          </a:prstGeom>
          <a:noFill/>
        </p:spPr>
        <p:txBody>
          <a:bodyPr wrap="square" lIns="0" rIns="0" tIns="0" bIns="0">
            <a:spAutoFit/>
          </a:bodyPr>
          <a:lstStyle/>
          <a:p>
            <a:pPr>
              <a:spcAft>
                <a:spcPts val="400"/>
              </a:spcAft>
              <a:defRPr sz="4300" b="1">
                <a:solidFill>
                  <a:srgbClr val="FFFFFF"/>
                </a:solidFill>
                <a:latin typeface="Noto Sans"/>
              </a:defRPr>
            </a:pPr>
            <a:r>
              <a:t>A clearer guide to</a:t>
            </a:r>
          </a:p>
          <a:p>
            <a:pPr>
              <a:spcAft>
                <a:spcPts val="400"/>
              </a:spcAft>
              <a:defRPr sz="4300" b="1">
                <a:solidFill>
                  <a:srgbClr val="FFFFFF"/>
                </a:solidFill>
                <a:latin typeface="Noto Sans"/>
              </a:defRPr>
            </a:pPr>
            <a:r>
              <a:t>IMSDA Events</a:t>
            </a:r>
          </a:p>
        </p:txBody>
      </p:sp>
      <p:sp>
        <p:nvSpPr>
          <p:cNvPr id="8" name="TextBox 7"/>
          <p:cNvSpPr txBox="1"/>
          <p:nvPr/>
        </p:nvSpPr>
        <p:spPr>
          <a:xfrm>
            <a:off x="758952" y="3886200"/>
            <a:ext cx="7635240" cy="914400"/>
          </a:xfrm>
          <a:prstGeom prst="rect">
            <a:avLst/>
          </a:prstGeom>
          <a:noFill/>
        </p:spPr>
        <p:txBody>
          <a:bodyPr wrap="square" lIns="0" rIns="0" tIns="0" bIns="0">
            <a:spAutoFit/>
          </a:bodyPr>
          <a:lstStyle/>
          <a:p>
            <a:pPr>
              <a:spcAft>
                <a:spcPts val="400"/>
              </a:spcAft>
              <a:defRPr sz="2400" b="0">
                <a:solidFill>
                  <a:srgbClr val="FFFFFF"/>
                </a:solidFill>
                <a:latin typeface="Noto Sans"/>
              </a:defRPr>
            </a:pPr>
            <a:r>
              <a:t>Current features. Practical help. Future possibilities.</a:t>
            </a:r>
          </a:p>
        </p:txBody>
      </p:sp>
      <p:sp>
        <p:nvSpPr>
          <p:cNvPr id="9" name="TextBox 8"/>
          <p:cNvSpPr txBox="1"/>
          <p:nvPr/>
        </p:nvSpPr>
        <p:spPr>
          <a:xfrm>
            <a:off x="758952" y="5687568"/>
            <a:ext cx="7498079" cy="548640"/>
          </a:xfrm>
          <a:prstGeom prst="rect">
            <a:avLst/>
          </a:prstGeom>
          <a:noFill/>
        </p:spPr>
        <p:txBody>
          <a:bodyPr wrap="square" lIns="0" rIns="0" tIns="0" bIns="0">
            <a:spAutoFit/>
          </a:bodyPr>
          <a:lstStyle/>
          <a:p>
            <a:pPr>
              <a:spcAft>
                <a:spcPts val="400"/>
              </a:spcAft>
              <a:defRPr sz="1200" b="0">
                <a:solidFill>
                  <a:srgbClr val="FFFFFF"/>
                </a:solidFill>
                <a:latin typeface="Noto Sans"/>
              </a:defRPr>
            </a:pPr>
            <a:r>
              <a:t>Prepared for the IMSDA Events team</a:t>
            </a:r>
          </a:p>
          <a:p>
            <a:pPr>
              <a:spcAft>
                <a:spcPts val="400"/>
              </a:spcAft>
              <a:defRPr sz="1200" b="0">
                <a:solidFill>
                  <a:srgbClr val="FFFFFF"/>
                </a:solidFill>
                <a:latin typeface="Noto Sans"/>
              </a:defRPr>
            </a:pPr>
            <a:r>
              <a:t>Repository baseline 5e367b7c  ·  Editable briefing</a:t>
            </a:r>
          </a:p>
        </p:txBody>
      </p:sp>
      <p:sp>
        <p:nvSpPr>
          <p:cNvPr id="10" name="TextBox 9"/>
          <p:cNvSpPr txBox="1"/>
          <p:nvPr/>
        </p:nvSpPr>
        <p:spPr>
          <a:xfrm>
            <a:off x="9308592" y="1554480"/>
            <a:ext cx="2423160" cy="3566160"/>
          </a:xfrm>
          <a:prstGeom prst="rect">
            <a:avLst/>
          </a:prstGeom>
          <a:noFill/>
        </p:spPr>
        <p:txBody>
          <a:bodyPr wrap="square" lIns="0" rIns="0" tIns="0" bIns="0">
            <a:spAutoFit/>
          </a:bodyPr>
          <a:lstStyle/>
          <a:p>
            <a:pPr>
              <a:spcAft>
                <a:spcPts val="400"/>
              </a:spcAft>
              <a:defRPr sz="2400" b="1">
                <a:solidFill>
                  <a:srgbClr val="FFFFFF"/>
                </a:solidFill>
                <a:latin typeface="Noto Sans"/>
              </a:defRPr>
            </a:pPr>
            <a:r>
              <a:t>CURRENT</a:t>
            </a:r>
          </a:p>
          <a:p>
            <a:pPr>
              <a:spcAft>
                <a:spcPts val="400"/>
              </a:spcAft>
              <a:defRPr sz="2400" b="1">
                <a:solidFill>
                  <a:srgbClr val="FFFFFF"/>
                </a:solidFill>
                <a:latin typeface="Noto Sans"/>
              </a:defRPr>
            </a:pPr>
          </a:p>
          <a:p>
            <a:pPr>
              <a:spcAft>
                <a:spcPts val="400"/>
              </a:spcAft>
              <a:defRPr sz="2400" b="1">
                <a:solidFill>
                  <a:srgbClr val="FFFFFF"/>
                </a:solidFill>
                <a:latin typeface="Noto Sans"/>
              </a:defRPr>
            </a:pPr>
            <a:r>
              <a:t>HELP</a:t>
            </a:r>
          </a:p>
          <a:p>
            <a:pPr>
              <a:spcAft>
                <a:spcPts val="400"/>
              </a:spcAft>
              <a:defRPr sz="2400" b="1">
                <a:solidFill>
                  <a:srgbClr val="FFFFFF"/>
                </a:solidFill>
                <a:latin typeface="Noto Sans"/>
              </a:defRPr>
            </a:pPr>
          </a:p>
          <a:p>
            <a:pPr>
              <a:spcAft>
                <a:spcPts val="400"/>
              </a:spcAft>
              <a:defRPr sz="2400" b="1">
                <a:solidFill>
                  <a:srgbClr val="FFFFFF"/>
                </a:solidFill>
                <a:latin typeface="Noto Sans"/>
              </a:defRPr>
            </a:pPr>
            <a:r>
              <a:t>FUTURE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HOW TO USE THIS DECK</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Read every feature with its status</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Implemented</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Present in the repository. Confirm configuration and serving release before training on a live event.</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Gated or needs setup</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Code exists, but activation, credentials, approved scope or operational evidence is still required.</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Accepted design</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The visual direction is accepted. The production interface may still be awaiting implementation.</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Later plan</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An issue or proposal describes possible future work. Timing and decisions remain with the roadmap.</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Ordered roadmap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A substantial event foundation already exists</a:t>
            </a:r>
          </a:p>
        </p:txBody>
      </p:sp>
      <p:sp>
        <p:nvSpPr>
          <p:cNvPr id="6" name="Rounded Rectangle 5"/>
          <p:cNvSpPr/>
          <p:nvPr/>
        </p:nvSpPr>
        <p:spPr>
          <a:xfrm>
            <a:off x="68580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Registration</a:t>
            </a:r>
          </a:p>
        </p:txBody>
      </p:sp>
      <p:sp>
        <p:nvSpPr>
          <p:cNvPr id="9" name="TextBox 8"/>
          <p:cNvSpPr txBox="1"/>
          <p:nvPr/>
        </p:nvSpPr>
        <p:spPr>
          <a:xfrm>
            <a:off x="86868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Versioned forms, group/club flows, amendments, waitlists and private management links.</a:t>
            </a:r>
          </a:p>
        </p:txBody>
      </p:sp>
      <p:sp>
        <p:nvSpPr>
          <p:cNvPr id="10" name="Rounded Rectangle 9"/>
          <p:cNvSpPr/>
          <p:nvPr/>
        </p:nvSpPr>
        <p:spPr>
          <a:xfrm>
            <a:off x="435864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864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152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Money</a:t>
            </a:r>
          </a:p>
        </p:txBody>
      </p:sp>
      <p:sp>
        <p:nvSpPr>
          <p:cNvPr id="13" name="TextBox 12"/>
          <p:cNvSpPr txBox="1"/>
          <p:nvPr/>
        </p:nvSpPr>
        <p:spPr>
          <a:xfrm>
            <a:off x="454152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Payments, refunds, adjustments, church invoices, sponsorship and reconciliation reports.</a:t>
            </a:r>
          </a:p>
        </p:txBody>
      </p:sp>
      <p:sp>
        <p:nvSpPr>
          <p:cNvPr id="14" name="Rounded Rectangle 13"/>
          <p:cNvSpPr/>
          <p:nvPr/>
        </p:nvSpPr>
        <p:spPr>
          <a:xfrm>
            <a:off x="803148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148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4359"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Event operations</a:t>
            </a:r>
          </a:p>
        </p:txBody>
      </p:sp>
      <p:sp>
        <p:nvSpPr>
          <p:cNvPr id="17" name="TextBox 16"/>
          <p:cNvSpPr txBox="1"/>
          <p:nvPr/>
        </p:nvSpPr>
        <p:spPr>
          <a:xfrm>
            <a:off x="8214359"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Lodging, meal tickets, scanner imports, kitchen counts, assets and check-in.</a:t>
            </a:r>
          </a:p>
        </p:txBody>
      </p:sp>
      <p:sp>
        <p:nvSpPr>
          <p:cNvPr id="18" name="Rounded Rectangle 17"/>
          <p:cNvSpPr/>
          <p:nvPr/>
        </p:nvSpPr>
        <p:spPr>
          <a:xfrm>
            <a:off x="68580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Club ministry</a:t>
            </a:r>
          </a:p>
        </p:txBody>
      </p:sp>
      <p:sp>
        <p:nvSpPr>
          <p:cNvPr id="21" name="TextBox 20"/>
          <p:cNvSpPr txBox="1"/>
          <p:nvPr/>
        </p:nvSpPr>
        <p:spPr>
          <a:xfrm>
            <a:off x="86868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Annual rosters, forms, Monthly Records, honors, orders and scoped portals.</a:t>
            </a:r>
          </a:p>
        </p:txBody>
      </p:sp>
      <p:sp>
        <p:nvSpPr>
          <p:cNvPr id="22" name="Rounded Rectangle 21"/>
          <p:cNvSpPr/>
          <p:nvPr/>
        </p:nvSpPr>
        <p:spPr>
          <a:xfrm>
            <a:off x="435864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5864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152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Communication</a:t>
            </a:r>
          </a:p>
        </p:txBody>
      </p:sp>
      <p:sp>
        <p:nvSpPr>
          <p:cNvPr id="25" name="TextBox 24"/>
          <p:cNvSpPr txBox="1"/>
          <p:nvPr/>
        </p:nvSpPr>
        <p:spPr>
          <a:xfrm>
            <a:off x="454152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Central Email, templates, announcements, schedules and reviewed audiences.</a:t>
            </a:r>
          </a:p>
        </p:txBody>
      </p:sp>
      <p:sp>
        <p:nvSpPr>
          <p:cNvPr id="26" name="Rounded Rectangle 25"/>
          <p:cNvSpPr/>
          <p:nvPr/>
        </p:nvSpPr>
        <p:spPr>
          <a:xfrm>
            <a:off x="803148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148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4359"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Public discovery</a:t>
            </a:r>
          </a:p>
        </p:txBody>
      </p:sp>
      <p:sp>
        <p:nvSpPr>
          <p:cNvPr id="29" name="TextBox 28"/>
          <p:cNvSpPr txBox="1"/>
          <p:nvPr/>
        </p:nvSpPr>
        <p:spPr>
          <a:xfrm>
            <a:off x="8214359"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Event pages, public calendar, club finder, content and existing public links.</a:t>
            </a:r>
          </a:p>
        </p:txBody>
      </p:sp>
      <p:sp>
        <p:nvSpPr>
          <p:cNvPr id="30" name="Rectangle 29"/>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Feature inventory  ·  See speaker notes and companion documents</a:t>
            </a:r>
          </a:p>
        </p:txBody>
      </p:sp>
      <p:sp>
        <p:nvSpPr>
          <p:cNvPr id="32" name="TextBox 31"/>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ROLE BOUNDARIES</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One visual language. Four different jobs.</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Attendee</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Manage accessible registrations, profile and permitted next actions.</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Director</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Work within a selected club and club year, using the capabilities actually granted.</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Area Coordinator</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Review available clubs and reports, with narrow existing decision permissions.</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System administrator</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Manage the platform and deliberately enter an event for authorized work.</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Role contract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Attendee help starts with the next action</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What people can do</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Register as a guest or use their account.</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Return through an authorized account or private management link.</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Review registration state, event information and permitted payment or change actions.</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What help must explain</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A waitlist request is different from a confirmed place.</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Cancelled registrations remain part of history.</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Payment, registration and check-in states mean different things.</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Private access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Directors work from club and year</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Daily tasks</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Maintain the authorized club roster and fix missing details.</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Complete club forms and Monthly Records.</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Choose people for events and manage permitted changes.</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Keep these distinctions visible</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Deputy, registrar and reporter have different capabilities.</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Church-billed events belong to the sponsoring church’s invoice flow.</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Birth dates and health information have separate access rules.</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Club capabilities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Coordinators need oversight, not a director clone</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Current oversight</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Review clubs available to the role.</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Follow Monthly Records, points and event participation.</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Use existing scoped review paths, including the narrow Team approval exception.</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Avoid misleading training</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Do not imply an enforced area/ministry filter exists today.</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Club and report views are generally read-only.</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Event health information follows a separate permission and time-window contract.</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Coordinator design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Administrator training should follow real work</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Existing system responsibilities</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Event and access administration.</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Central Email and notification settings.</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Calendar, directory, imports and operational readiness evidence.</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Accepted design improves clarity</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Explicit System versus Event context.</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Action-first summaries with truthful count meanings.</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Clear settings impact, dirty-edit recovery and task-based help.</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Admin design owner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Form reuse has several distinct meanings</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Event template</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 starting configuration for an event; operational module data has its own ownership.</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Form template</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 copied form definition. Seeded versions exist; app-editable templates remain planned work.</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Published form version</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Each registration stays tied to the version it used. A draft change does not rewrite old answers.</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Future saved questions</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 separate copy-on-insert library proposal, with reference and permission details still owned by its issue.</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Builder epic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09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CURRENT FOUNDATION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Operations depend on distinct records and states</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Registration ≠ payment</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 request, booking state and balance each answer a different question.</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Check-in ≠ screening</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Arrival uses the existing event eligibility and audited override rules.</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Meals sold ≠ meals served</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Scanner records, cancellations and kitchen-entered counts keep their own meaning.</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Money report ≠ future ledger</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Current financial records are the baseline; the general append-only ledger is later work.</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Meals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USABILITY &amp; ACCESSIBILITY</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Accessibility has a useful existing foundation</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Shared controls</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Reusable labelled actions, dialogs, sortable tables and form validation.</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Responsive work</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Existing phone/card layouts and automated page/dialog/field audits.</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Recovery patterns</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Current dirty-navigation and error patterns can be applied consistently.</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Evidence boundary</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Source checks and automated layout tests do not certify keyboard, screen-reader or WCAG conformance.</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Responsive conventions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OPEN USABILITY CORRECTIONS</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Fix confusing behavior before adding more surface</a:t>
            </a:r>
          </a:p>
        </p:txBody>
      </p:sp>
      <p:sp>
        <p:nvSpPr>
          <p:cNvPr id="6" name="Rounded Rectangle 5"/>
          <p:cNvSpPr/>
          <p:nvPr/>
        </p:nvSpPr>
        <p:spPr>
          <a:xfrm>
            <a:off x="68580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Trustworthy links</a:t>
            </a:r>
          </a:p>
        </p:txBody>
      </p:sp>
      <p:sp>
        <p:nvSpPr>
          <p:cNvPr id="9" name="TextBox 8"/>
          <p:cNvSpPr txBox="1"/>
          <p:nvPr/>
        </p:nvSpPr>
        <p:spPr>
          <a:xfrm>
            <a:off x="86868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Copy saved public URLs, not an unsaved slug. #1115</a:t>
            </a:r>
          </a:p>
        </p:txBody>
      </p:sp>
      <p:sp>
        <p:nvSpPr>
          <p:cNvPr id="10" name="Rounded Rectangle 9"/>
          <p:cNvSpPr/>
          <p:nvPr/>
        </p:nvSpPr>
        <p:spPr>
          <a:xfrm>
            <a:off x="435864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864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152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Truthful results</a:t>
            </a:r>
          </a:p>
        </p:txBody>
      </p:sp>
      <p:sp>
        <p:nvSpPr>
          <p:cNvPr id="13" name="TextBox 12"/>
          <p:cNvSpPr txBox="1"/>
          <p:nvPr/>
        </p:nvSpPr>
        <p:spPr>
          <a:xfrm>
            <a:off x="454152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Describe the active sort and disclose the email recipient cap. #1116 / #1103</a:t>
            </a:r>
          </a:p>
        </p:txBody>
      </p:sp>
      <p:sp>
        <p:nvSpPr>
          <p:cNvPr id="14" name="Rounded Rectangle 13"/>
          <p:cNvSpPr/>
          <p:nvPr/>
        </p:nvSpPr>
        <p:spPr>
          <a:xfrm>
            <a:off x="803148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148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4359"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Recoverable edits</a:t>
            </a:r>
          </a:p>
        </p:txBody>
      </p:sp>
      <p:sp>
        <p:nvSpPr>
          <p:cNvPr id="17" name="TextBox 16"/>
          <p:cNvSpPr txBox="1"/>
          <p:nvPr/>
        </p:nvSpPr>
        <p:spPr>
          <a:xfrm>
            <a:off x="8214359"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Protect unfinished roster, announcement and schedule work. #1101 / #1104</a:t>
            </a:r>
          </a:p>
        </p:txBody>
      </p:sp>
      <p:sp>
        <p:nvSpPr>
          <p:cNvPr id="18" name="Rounded Rectangle 17"/>
          <p:cNvSpPr/>
          <p:nvPr/>
        </p:nvSpPr>
        <p:spPr>
          <a:xfrm>
            <a:off x="68580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Complete discovery</a:t>
            </a:r>
          </a:p>
        </p:txBody>
      </p:sp>
      <p:sp>
        <p:nvSpPr>
          <p:cNvPr id="21" name="TextBox 20"/>
          <p:cNvSpPr txBox="1"/>
          <p:nvPr/>
        </p:nvSpPr>
        <p:spPr>
          <a:xfrm>
            <a:off x="86868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Open the full crowded calendar day and explain finder/map coverage. #1117 / #1118</a:t>
            </a:r>
          </a:p>
        </p:txBody>
      </p:sp>
      <p:sp>
        <p:nvSpPr>
          <p:cNvPr id="22" name="Rounded Rectangle 21"/>
          <p:cNvSpPr/>
          <p:nvPr/>
        </p:nvSpPr>
        <p:spPr>
          <a:xfrm>
            <a:off x="435864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5864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152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Lifecycle meaning</a:t>
            </a:r>
          </a:p>
        </p:txBody>
      </p:sp>
      <p:sp>
        <p:nvSpPr>
          <p:cNvPr id="25" name="TextBox 24"/>
          <p:cNvSpPr txBox="1"/>
          <p:nvPr/>
        </p:nvSpPr>
        <p:spPr>
          <a:xfrm>
            <a:off x="454152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Align attendee amount-due and upcoming summaries. #1100</a:t>
            </a:r>
          </a:p>
        </p:txBody>
      </p:sp>
      <p:sp>
        <p:nvSpPr>
          <p:cNvPr id="26" name="Rounded Rectangle 25"/>
          <p:cNvSpPr/>
          <p:nvPr/>
        </p:nvSpPr>
        <p:spPr>
          <a:xfrm>
            <a:off x="803148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148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4359"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Intermediate widths</a:t>
            </a:r>
          </a:p>
        </p:txBody>
      </p:sp>
      <p:sp>
        <p:nvSpPr>
          <p:cNvPr id="29" name="TextBox 28"/>
          <p:cNvSpPr txBox="1"/>
          <p:nvPr/>
        </p:nvSpPr>
        <p:spPr>
          <a:xfrm>
            <a:off x="8214359"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Resolve invitation-table overflow around 861px. #1045</a:t>
            </a:r>
          </a:p>
        </p:txBody>
      </p:sp>
      <p:sp>
        <p:nvSpPr>
          <p:cNvPr id="30" name="Rectangle 29"/>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Review and ownership  ·  See speaker notes and companion documents</a:t>
            </a:r>
          </a:p>
        </p:txBody>
      </p:sp>
      <p:sp>
        <p:nvSpPr>
          <p:cNvPr id="32" name="TextBox 31"/>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ACCEPTED DESIGN  /  IMPLEMENTATION STILL OPEN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Accepted design is a reference, not a shipped screen</a:t>
            </a:r>
          </a:p>
        </p:txBody>
      </p:sp>
      <p:sp>
        <p:nvSpPr>
          <p:cNvPr id="6" name="TextBox 5"/>
          <p:cNvSpPr txBox="1"/>
          <p:nvPr/>
        </p:nvSpPr>
        <p:spPr>
          <a:xfrm>
            <a:off x="685800" y="1892807"/>
            <a:ext cx="5330952" cy="365760"/>
          </a:xfrm>
          <a:prstGeom prst="rect">
            <a:avLst/>
          </a:prstGeom>
          <a:noFill/>
        </p:spPr>
        <p:txBody>
          <a:bodyPr wrap="square" lIns="0" rIns="0" tIns="0" bIns="0">
            <a:spAutoFit/>
          </a:bodyPr>
          <a:lstStyle/>
          <a:p>
            <a:pPr>
              <a:spcAft>
                <a:spcPts val="400"/>
              </a:spcAft>
              <a:defRPr sz="1700" b="1">
                <a:solidFill>
                  <a:srgbClr val="582C83"/>
                </a:solidFill>
                <a:latin typeface="Noto Sans"/>
              </a:defRPr>
            </a:pPr>
            <a:r>
              <a:t>Director club/year workspace</a:t>
            </a:r>
          </a:p>
        </p:txBody>
      </p:sp>
      <p:pic>
        <p:nvPicPr>
          <p:cNvPr id="7" name="Picture 6" descr="director-desktop.png"/>
          <p:cNvPicPr>
            <a:picLocks noChangeAspect="1"/>
          </p:cNvPicPr>
          <p:nvPr/>
        </p:nvPicPr>
        <p:blipFill>
          <a:blip r:embed="rId2"/>
          <a:stretch>
            <a:fillRect/>
          </a:stretch>
        </p:blipFill>
        <p:spPr>
          <a:xfrm>
            <a:off x="685800" y="2350008"/>
            <a:ext cx="5330952" cy="3887152"/>
          </a:xfrm>
          <a:prstGeom prst="rect">
            <a:avLst/>
          </a:prstGeom>
        </p:spPr>
      </p:pic>
      <p:sp>
        <p:nvSpPr>
          <p:cNvPr id="8" name="TextBox 7"/>
          <p:cNvSpPr txBox="1"/>
          <p:nvPr/>
        </p:nvSpPr>
        <p:spPr>
          <a:xfrm>
            <a:off x="6217920" y="1892807"/>
            <a:ext cx="5330952" cy="365760"/>
          </a:xfrm>
          <a:prstGeom prst="rect">
            <a:avLst/>
          </a:prstGeom>
          <a:noFill/>
        </p:spPr>
        <p:txBody>
          <a:bodyPr wrap="square" lIns="0" rIns="0" tIns="0" bIns="0">
            <a:spAutoFit/>
          </a:bodyPr>
          <a:lstStyle/>
          <a:p>
            <a:pPr>
              <a:spcAft>
                <a:spcPts val="400"/>
              </a:spcAft>
              <a:defRPr sz="1700" b="1">
                <a:solidFill>
                  <a:srgbClr val="582C83"/>
                </a:solidFill>
                <a:latin typeface="Noto Sans"/>
              </a:defRPr>
            </a:pPr>
            <a:r>
              <a:t>System administrator workspace</a:t>
            </a:r>
          </a:p>
        </p:txBody>
      </p:sp>
      <p:pic>
        <p:nvPicPr>
          <p:cNvPr id="9" name="Picture 8" descr="admin-desktop.png"/>
          <p:cNvPicPr>
            <a:picLocks noChangeAspect="1"/>
          </p:cNvPicPr>
          <p:nvPr/>
        </p:nvPicPr>
        <p:blipFill>
          <a:blip r:embed="rId3"/>
          <a:stretch>
            <a:fillRect/>
          </a:stretch>
        </p:blipFill>
        <p:spPr>
          <a:xfrm>
            <a:off x="6217920" y="2350008"/>
            <a:ext cx="5330952" cy="3887152"/>
          </a:xfrm>
          <a:prstGeom prst="rect">
            <a:avLst/>
          </a:prstGeom>
        </p:spPr>
      </p:pic>
      <p:sp>
        <p:nvSpPr>
          <p:cNvPr id="10" name="Rectangle 9"/>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4"/>
              </a:rPr>
              <a:t>SOURCE  Accepted role gallery  ·  See speaker notes and companion documents</a:t>
            </a:r>
          </a:p>
        </p:txBody>
      </p:sp>
      <p:sp>
        <p:nvSpPr>
          <p:cNvPr id="12" name="TextBox 11"/>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PREPARED HELP &amp; COMMUNICATION KIT</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Help should answer a task in plain language</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Included in the companion guide</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Four role-specific quick starts.</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Short FAQs and recovery explanations.</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Support triage and task-oriented help copy.</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Draft content stays honest</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Editorial placeholders are not runtime template tokens.</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Messages name the event, current state and permitted next action.</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Future features are announced only after their actual availability is confirmed.</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Current communications templates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LATER ROADMAP  /  NO NEW DELIVERY COMMITMENTS</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Future possibilities extend the foundation</a:t>
            </a:r>
          </a:p>
        </p:txBody>
      </p:sp>
      <p:sp>
        <p:nvSpPr>
          <p:cNvPr id="6" name="Rounded Rectangle 5"/>
          <p:cNvSpPr/>
          <p:nvPr/>
        </p:nvSpPr>
        <p:spPr>
          <a:xfrm>
            <a:off x="68580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Authoring &amp; presentation</a:t>
            </a:r>
          </a:p>
        </p:txBody>
      </p:sp>
      <p:sp>
        <p:nvSpPr>
          <p:cNvPr id="9" name="TextBox 8"/>
          <p:cNvSpPr txBox="1"/>
          <p:nvPr/>
        </p:nvSpPr>
        <p:spPr>
          <a:xfrm>
            <a:off x="86868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Editable form libraries, improved builder, saved views and versioned presentation.</a:t>
            </a:r>
          </a:p>
        </p:txBody>
      </p:sp>
      <p:sp>
        <p:nvSpPr>
          <p:cNvPr id="10" name="Rounded Rectangle 9"/>
          <p:cNvSpPr/>
          <p:nvPr/>
        </p:nvSpPr>
        <p:spPr>
          <a:xfrm>
            <a:off x="435864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864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152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Ministry expansion</a:t>
            </a:r>
          </a:p>
        </p:txBody>
      </p:sp>
      <p:sp>
        <p:nvSpPr>
          <p:cNvPr id="13" name="TextBox 12"/>
          <p:cNvSpPr txBox="1"/>
          <p:nvPr/>
        </p:nvSpPr>
        <p:spPr>
          <a:xfrm>
            <a:off x="454152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Adventurer classes, awards and voluntary reviewed adoption after supplied materials.</a:t>
            </a:r>
          </a:p>
        </p:txBody>
      </p:sp>
      <p:sp>
        <p:nvSpPr>
          <p:cNvPr id="14" name="Rounded Rectangle 13"/>
          <p:cNvSpPr/>
          <p:nvPr/>
        </p:nvSpPr>
        <p:spPr>
          <a:xfrm>
            <a:off x="803148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148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4359"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Attendee convenience</a:t>
            </a:r>
          </a:p>
        </p:txBody>
      </p:sp>
      <p:sp>
        <p:nvSpPr>
          <p:cNvPr id="17" name="TextBox 16"/>
          <p:cNvSpPr txBox="1"/>
          <p:nvPr/>
        </p:nvSpPr>
        <p:spPr>
          <a:xfrm>
            <a:off x="8214359"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Reviewed returning profiles, wallet passes and native access.</a:t>
            </a:r>
          </a:p>
        </p:txBody>
      </p:sp>
      <p:sp>
        <p:nvSpPr>
          <p:cNvPr id="18" name="Rounded Rectangle 17"/>
          <p:cNvSpPr/>
          <p:nvPr/>
        </p:nvSpPr>
        <p:spPr>
          <a:xfrm>
            <a:off x="68580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Operational depth</a:t>
            </a:r>
          </a:p>
        </p:txBody>
      </p:sp>
      <p:sp>
        <p:nvSpPr>
          <p:cNvPr id="21" name="TextBox 20"/>
          <p:cNvSpPr txBox="1"/>
          <p:nvPr/>
        </p:nvSpPr>
        <p:spPr>
          <a:xfrm>
            <a:off x="86868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General sessions, volunteers, transportation, personnel, incidents and minor release.</a:t>
            </a:r>
          </a:p>
        </p:txBody>
      </p:sp>
      <p:sp>
        <p:nvSpPr>
          <p:cNvPr id="22" name="Rounded Rectangle 21"/>
          <p:cNvSpPr/>
          <p:nvPr/>
        </p:nvSpPr>
        <p:spPr>
          <a:xfrm>
            <a:off x="435864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5864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152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Publishing &amp; exchange</a:t>
            </a:r>
          </a:p>
        </p:txBody>
      </p:sp>
      <p:sp>
        <p:nvSpPr>
          <p:cNvPr id="25" name="TextBox 24"/>
          <p:cNvSpPr txBox="1"/>
          <p:nvPr/>
        </p:nvSpPr>
        <p:spPr>
          <a:xfrm>
            <a:off x="454152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Full event sites, scoped APIs/webhooks and approved provider adapters.</a:t>
            </a:r>
          </a:p>
        </p:txBody>
      </p:sp>
      <p:sp>
        <p:nvSpPr>
          <p:cNvPr id="26" name="Rounded Rectangle 25"/>
          <p:cNvSpPr/>
          <p:nvPr/>
        </p:nvSpPr>
        <p:spPr>
          <a:xfrm>
            <a:off x="803148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148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4359"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Other business models</a:t>
            </a:r>
          </a:p>
        </p:txBody>
      </p:sp>
      <p:sp>
        <p:nvSpPr>
          <p:cNvPr id="29" name="TextBox 28"/>
          <p:cNvSpPr txBox="1"/>
          <p:nvPr/>
        </p:nvSpPr>
        <p:spPr>
          <a:xfrm>
            <a:off x="8214359"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Installments, store balances, fundraising and other parent scopes remain separate.</a:t>
            </a:r>
          </a:p>
        </p:txBody>
      </p:sp>
      <p:sp>
        <p:nvSpPr>
          <p:cNvPr id="30" name="Rectangle 29"/>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Ordered roadmap  ·  See speaker notes and companion documents</a:t>
            </a:r>
          </a:p>
        </p:txBody>
      </p:sp>
      <p:sp>
        <p:nvSpPr>
          <p:cNvPr id="32" name="TextBox 31"/>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SEPARATE CAMP DISCOVERY</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A full youth-camp system needs more than events</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Reusable IMSDA foundation</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Registration and financial records.</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Lodging inventory, meals and issued assets.</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Club/guardian declarations, check-in and scoped communication.</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Camp capabilities to establish</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Camper/guardian authority and session enrollment depth.</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Counselor supervision, cabins/bunks and daily activities.</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Medication/treatment records, custody release, store allowances and camp outage procedures.</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Camp report companion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VENDOR DISCOVERY PACKET  /  NOT A LIVE INTEGRATION</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What we need from UltraCamp</a:t>
            </a:r>
          </a:p>
        </p:txBody>
      </p:sp>
      <p:sp>
        <p:nvSpPr>
          <p:cNvPr id="6" name="Rounded Rectangle 5"/>
          <p:cNvSpPr/>
          <p:nvPr/>
        </p:nvSpPr>
        <p:spPr>
          <a:xfrm>
            <a:off x="68580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Operational walkthrough</a:t>
            </a:r>
          </a:p>
        </p:txBody>
      </p:sp>
      <p:sp>
        <p:nvSpPr>
          <p:cNvPr id="9" name="TextBox 8"/>
          <p:cNvSpPr txBox="1"/>
          <p:nvPr/>
        </p:nvSpPr>
        <p:spPr>
          <a:xfrm>
            <a:off x="86868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How the camp actually handles a family, camper, session, cabin, activities and daily exceptions.</a:t>
            </a:r>
          </a:p>
        </p:txBody>
      </p:sp>
      <p:sp>
        <p:nvSpPr>
          <p:cNvPr id="10" name="Rounded Rectangle 9"/>
          <p:cNvSpPr/>
          <p:nvPr/>
        </p:nvSpPr>
        <p:spPr>
          <a:xfrm>
            <a:off x="435864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864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152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Data dictionary</a:t>
            </a:r>
          </a:p>
        </p:txBody>
      </p:sp>
      <p:sp>
        <p:nvSpPr>
          <p:cNvPr id="13" name="TextBox 12"/>
          <p:cNvSpPr txBox="1"/>
          <p:nvPr/>
        </p:nvSpPr>
        <p:spPr>
          <a:xfrm>
            <a:off x="454152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Stable IDs, relationships, status meanings, history and changed/deleted-record behavior.</a:t>
            </a:r>
          </a:p>
        </p:txBody>
      </p:sp>
      <p:sp>
        <p:nvSpPr>
          <p:cNvPr id="14" name="Rounded Rectangle 13"/>
          <p:cNvSpPr/>
          <p:nvPr/>
        </p:nvSpPr>
        <p:spPr>
          <a:xfrm>
            <a:off x="803148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148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4359"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Supported access</a:t>
            </a:r>
          </a:p>
        </p:txBody>
      </p:sp>
      <p:sp>
        <p:nvSpPr>
          <p:cNvPr id="17" name="TextBox 16"/>
          <p:cNvSpPr txBox="1"/>
          <p:nvPr/>
        </p:nvSpPr>
        <p:spPr>
          <a:xfrm>
            <a:off x="8214359"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Approved API/report/export methods, entitlement, limits and synthetic examples.</a:t>
            </a:r>
          </a:p>
        </p:txBody>
      </p:sp>
      <p:sp>
        <p:nvSpPr>
          <p:cNvPr id="18" name="Rounded Rectangle 17"/>
          <p:cNvSpPr/>
          <p:nvPr/>
        </p:nvSpPr>
        <p:spPr>
          <a:xfrm>
            <a:off x="68580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Protected boundaries</a:t>
            </a:r>
          </a:p>
        </p:txBody>
      </p:sp>
      <p:sp>
        <p:nvSpPr>
          <p:cNvPr id="21" name="TextBox 20"/>
          <p:cNvSpPr txBox="1"/>
          <p:nvPr/>
        </p:nvSpPr>
        <p:spPr>
          <a:xfrm>
            <a:off x="86868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Health, medication, insurance, authority and retention capabilities require explicit approval.</a:t>
            </a:r>
          </a:p>
        </p:txBody>
      </p:sp>
      <p:sp>
        <p:nvSpPr>
          <p:cNvPr id="22" name="Rounded Rectangle 21"/>
          <p:cNvSpPr/>
          <p:nvPr/>
        </p:nvSpPr>
        <p:spPr>
          <a:xfrm>
            <a:off x="435864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5864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152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Financial evidence</a:t>
            </a:r>
          </a:p>
        </p:txBody>
      </p:sp>
      <p:sp>
        <p:nvSpPr>
          <p:cNvPr id="25" name="TextBox 24"/>
          <p:cNvSpPr txBox="1"/>
          <p:nvPr/>
        </p:nvSpPr>
        <p:spPr>
          <a:xfrm>
            <a:off x="454152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Balances, transactions, refunds, credits and processor reconciliation; no portable card secrets.</a:t>
            </a:r>
          </a:p>
        </p:txBody>
      </p:sp>
      <p:sp>
        <p:nvSpPr>
          <p:cNvPr id="26" name="Rounded Rectangle 25"/>
          <p:cNvSpPr/>
          <p:nvPr/>
        </p:nvSpPr>
        <p:spPr>
          <a:xfrm>
            <a:off x="803148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148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4359"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Written operating terms</a:t>
            </a:r>
          </a:p>
        </p:txBody>
      </p:sp>
      <p:sp>
        <p:nvSpPr>
          <p:cNvPr id="29" name="TextBox 28"/>
          <p:cNvSpPr txBox="1"/>
          <p:nvPr/>
        </p:nvSpPr>
        <p:spPr>
          <a:xfrm>
            <a:off x="8214359"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Permitted use, vendor approval, ownership, support and an agreed continuity/exit method.</a:t>
            </a:r>
          </a:p>
        </p:txBody>
      </p:sp>
      <p:sp>
        <p:nvSpPr>
          <p:cNvPr id="30" name="Rectangle 29"/>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Existing UltraCamp research  ·  See speaker notes and companion documents</a:t>
            </a:r>
          </a:p>
        </p:txBody>
      </p:sp>
      <p:sp>
        <p:nvSpPr>
          <p:cNvPr id="32" name="TextBox 31"/>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TECHNICAL HANDOFF</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The code is a modular monolith</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Pages &amp; route handlers</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Next.js entry points collect input and invoke server-side access and domain services.</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Owning domain modules</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Forms, registrations, access, finance, lodging, meals, honors and communication keep their boundaries.</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Persistence &amp; work queues</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Prisma/PostgreSQL, immutable versions, audit records, private storage and email outbox.</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External adapters</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Payment/email/providers use defined adapters; provider payloads are not the core domain model.</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Automation guide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ACTUAL GITHUB ACTIONS EVIDENCE</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There is measured verification evidence</a:t>
            </a:r>
          </a:p>
        </p:txBody>
      </p:sp>
      <p:sp>
        <p:nvSpPr>
          <p:cNvPr id="6" name="Rounded Rectangle 5"/>
          <p:cNvSpPr/>
          <p:nvPr/>
        </p:nvSpPr>
        <p:spPr>
          <a:xfrm>
            <a:off x="731520" y="2011680"/>
            <a:ext cx="3520440" cy="20574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59152"/>
            <a:ext cx="3154680" cy="914400"/>
          </a:xfrm>
          <a:prstGeom prst="rect">
            <a:avLst/>
          </a:prstGeom>
          <a:noFill/>
        </p:spPr>
        <p:txBody>
          <a:bodyPr wrap="square" lIns="0" rIns="0" tIns="0" bIns="0">
            <a:spAutoFit/>
          </a:bodyPr>
          <a:lstStyle/>
          <a:p>
            <a:pPr>
              <a:spcAft>
                <a:spcPts val="400"/>
              </a:spcAft>
              <a:defRPr sz="4800" b="1">
                <a:solidFill>
                  <a:srgbClr val="582C83"/>
                </a:solidFill>
                <a:latin typeface="Noto Sans"/>
              </a:defRPr>
            </a:pPr>
            <a:r>
              <a:t>13,504</a:t>
            </a:r>
          </a:p>
        </p:txBody>
      </p:sp>
      <p:sp>
        <p:nvSpPr>
          <p:cNvPr id="8" name="TextBox 7"/>
          <p:cNvSpPr txBox="1"/>
          <p:nvPr/>
        </p:nvSpPr>
        <p:spPr>
          <a:xfrm>
            <a:off x="914400" y="3383280"/>
            <a:ext cx="3154680" cy="502920"/>
          </a:xfrm>
          <a:prstGeom prst="rect">
            <a:avLst/>
          </a:prstGeom>
          <a:noFill/>
        </p:spPr>
        <p:txBody>
          <a:bodyPr wrap="square" lIns="0" rIns="0" tIns="0" bIns="0">
            <a:spAutoFit/>
          </a:bodyPr>
          <a:lstStyle/>
          <a:p>
            <a:pPr>
              <a:spcAft>
                <a:spcPts val="400"/>
              </a:spcAft>
              <a:defRPr sz="1900" b="0">
                <a:solidFill>
                  <a:srgbClr val="003B5C"/>
                </a:solidFill>
                <a:latin typeface="Noto Sans"/>
              </a:defRPr>
            </a:pPr>
            <a:r>
              <a:t>tests passed</a:t>
            </a:r>
          </a:p>
        </p:txBody>
      </p:sp>
      <p:sp>
        <p:nvSpPr>
          <p:cNvPr id="9" name="Rounded Rectangle 8"/>
          <p:cNvSpPr/>
          <p:nvPr/>
        </p:nvSpPr>
        <p:spPr>
          <a:xfrm>
            <a:off x="4498848" y="2011680"/>
            <a:ext cx="3520440" cy="20574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2359152"/>
            <a:ext cx="3154680" cy="914400"/>
          </a:xfrm>
          <a:prstGeom prst="rect">
            <a:avLst/>
          </a:prstGeom>
          <a:noFill/>
        </p:spPr>
        <p:txBody>
          <a:bodyPr wrap="square" lIns="0" rIns="0" tIns="0" bIns="0">
            <a:spAutoFit/>
          </a:bodyPr>
          <a:lstStyle/>
          <a:p>
            <a:pPr>
              <a:spcAft>
                <a:spcPts val="400"/>
              </a:spcAft>
              <a:defRPr sz="4800" b="1">
                <a:solidFill>
                  <a:srgbClr val="582C83"/>
                </a:solidFill>
                <a:latin typeface="Noto Sans"/>
              </a:defRPr>
            </a:pPr>
            <a:r>
              <a:t>1</a:t>
            </a:r>
          </a:p>
        </p:txBody>
      </p:sp>
      <p:sp>
        <p:nvSpPr>
          <p:cNvPr id="11" name="TextBox 10"/>
          <p:cNvSpPr txBox="1"/>
          <p:nvPr/>
        </p:nvSpPr>
        <p:spPr>
          <a:xfrm>
            <a:off x="4681728" y="3383280"/>
            <a:ext cx="3154680" cy="502920"/>
          </a:xfrm>
          <a:prstGeom prst="rect">
            <a:avLst/>
          </a:prstGeom>
          <a:noFill/>
        </p:spPr>
        <p:txBody>
          <a:bodyPr wrap="square" lIns="0" rIns="0" tIns="0" bIns="0">
            <a:spAutoFit/>
          </a:bodyPr>
          <a:lstStyle/>
          <a:p>
            <a:pPr>
              <a:spcAft>
                <a:spcPts val="400"/>
              </a:spcAft>
              <a:defRPr sz="1900" b="0">
                <a:solidFill>
                  <a:srgbClr val="003B5C"/>
                </a:solidFill>
                <a:latin typeface="Noto Sans"/>
              </a:defRPr>
            </a:pPr>
            <a:r>
              <a:t>test skipped</a:t>
            </a:r>
          </a:p>
        </p:txBody>
      </p:sp>
      <p:sp>
        <p:nvSpPr>
          <p:cNvPr id="12" name="Rounded Rectangle 11"/>
          <p:cNvSpPr/>
          <p:nvPr/>
        </p:nvSpPr>
        <p:spPr>
          <a:xfrm>
            <a:off x="8266176" y="2011680"/>
            <a:ext cx="3520440" cy="20574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49056" y="2359152"/>
            <a:ext cx="3154680" cy="914400"/>
          </a:xfrm>
          <a:prstGeom prst="rect">
            <a:avLst/>
          </a:prstGeom>
          <a:noFill/>
        </p:spPr>
        <p:txBody>
          <a:bodyPr wrap="square" lIns="0" rIns="0" tIns="0" bIns="0">
            <a:spAutoFit/>
          </a:bodyPr>
          <a:lstStyle/>
          <a:p>
            <a:pPr>
              <a:spcAft>
                <a:spcPts val="400"/>
              </a:spcAft>
              <a:defRPr sz="4800" b="1">
                <a:solidFill>
                  <a:srgbClr val="582C83"/>
                </a:solidFill>
                <a:latin typeface="Noto Sans"/>
              </a:defRPr>
            </a:pPr>
            <a:r>
              <a:t>1,015</a:t>
            </a:r>
          </a:p>
        </p:txBody>
      </p:sp>
      <p:sp>
        <p:nvSpPr>
          <p:cNvPr id="14" name="TextBox 13"/>
          <p:cNvSpPr txBox="1"/>
          <p:nvPr/>
        </p:nvSpPr>
        <p:spPr>
          <a:xfrm>
            <a:off x="8449056" y="3383280"/>
            <a:ext cx="3154680" cy="502920"/>
          </a:xfrm>
          <a:prstGeom prst="rect">
            <a:avLst/>
          </a:prstGeom>
          <a:noFill/>
        </p:spPr>
        <p:txBody>
          <a:bodyPr wrap="square" lIns="0" rIns="0" tIns="0" bIns="0">
            <a:spAutoFit/>
          </a:bodyPr>
          <a:lstStyle/>
          <a:p>
            <a:pPr>
              <a:spcAft>
                <a:spcPts val="400"/>
              </a:spcAft>
              <a:defRPr sz="1900" b="0">
                <a:solidFill>
                  <a:srgbClr val="003B5C"/>
                </a:solidFill>
                <a:latin typeface="Noto Sans"/>
              </a:defRPr>
            </a:pPr>
            <a:r>
              <a:t>test files passed</a:t>
            </a:r>
          </a:p>
        </p:txBody>
      </p:sp>
      <p:sp>
        <p:nvSpPr>
          <p:cNvPr id="15" name="TextBox 14"/>
          <p:cNvSpPr txBox="1"/>
          <p:nvPr/>
        </p:nvSpPr>
        <p:spPr>
          <a:xfrm>
            <a:off x="777240" y="4553712"/>
            <a:ext cx="10607040" cy="1051560"/>
          </a:xfrm>
          <a:prstGeom prst="rect">
            <a:avLst/>
          </a:prstGeom>
          <a:noFill/>
        </p:spPr>
        <p:txBody>
          <a:bodyPr wrap="square" lIns="0" rIns="0" tIns="0" bIns="0">
            <a:spAutoFit/>
          </a:bodyPr>
          <a:lstStyle/>
          <a:p>
            <a:pPr>
              <a:spcAft>
                <a:spcPts val="400"/>
              </a:spcAft>
              <a:defRPr sz="2300" b="1">
                <a:solidFill>
                  <a:srgbClr val="003B5C"/>
                </a:solidFill>
                <a:latin typeface="Noto Sans"/>
              </a:defRPr>
            </a:pPr>
            <a:r>
              <a:t>Current main smoke passed: clean migrations, schema drift, seed, lint, typecheck and Vitest.</a:t>
            </a:r>
          </a:p>
        </p:txBody>
      </p:sp>
      <p:sp>
        <p:nvSpPr>
          <p:cNvPr id="16" name="Rectangle 15"/>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Current main CI run  ·  See speaker notes and companion documents</a:t>
            </a:r>
          </a:p>
        </p:txBody>
      </p:sp>
      <p:sp>
        <p:nvSpPr>
          <p:cNvPr id="18" name="TextBox 17"/>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EVIDENCE LIMITS</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Know what those checks do not prove</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Additional recorded checks</a:t>
            </a:r>
          </a:p>
        </p:txBody>
      </p:sp>
      <p:sp>
        <p:nvSpPr>
          <p:cNvPr id="8" name="TextBox 7"/>
          <p:cNvSpPr txBox="1"/>
          <p:nvPr/>
        </p:nvSpPr>
        <p:spPr>
          <a:xfrm>
            <a:off x="914400"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Last application PR: extended real-DB/HTTP suites passed.</a:t>
            </a:r>
          </a:p>
        </p:txBody>
      </p:sp>
      <p:sp>
        <p:nvSpPr>
          <p:cNvPr id="10" name="TextBox 9"/>
          <p:cNvSpPr txBox="1"/>
          <p:nvPr/>
        </p:nvSpPr>
        <p:spPr>
          <a:xfrm>
            <a:off x="914400"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Mobile audit: 320 page/width combinations at 360 and 1024px passed.</a:t>
            </a:r>
          </a:p>
        </p:txBody>
      </p:sp>
      <p:sp>
        <p:nvSpPr>
          <p:cNvPr id="12" name="TextBox 11"/>
          <p:cNvSpPr txBox="1"/>
          <p:nvPr/>
        </p:nvSpPr>
        <p:spPr>
          <a:xfrm>
            <a:off x="914400"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Optional badge-print checks passed on that application revision.</a:t>
            </a:r>
          </a:p>
        </p:txBody>
      </p:sp>
      <p:sp>
        <p:nvSpPr>
          <p:cNvPr id="14" name="Rounded Rectangle 13"/>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Human &amp; physical evidence</a:t>
            </a:r>
          </a:p>
        </p:txBody>
      </p:sp>
      <p:sp>
        <p:nvSpPr>
          <p:cNvPr id="16" name="TextBox 15"/>
          <p:cNvSpPr txBox="1"/>
          <p:nvPr/>
        </p:nvSpPr>
        <p:spPr>
          <a:xfrm>
            <a:off x="6455664" y="2898648"/>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7" name="TextBox 16"/>
          <p:cNvSpPr txBox="1"/>
          <p:nvPr/>
        </p:nvSpPr>
        <p:spPr>
          <a:xfrm>
            <a:off x="6748272" y="2898648"/>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Serving release, production configuration and real key restore.</a:t>
            </a:r>
          </a:p>
        </p:txBody>
      </p:sp>
      <p:sp>
        <p:nvSpPr>
          <p:cNvPr id="18" name="TextBox 17"/>
          <p:cNvSpPr txBox="1"/>
          <p:nvPr/>
        </p:nvSpPr>
        <p:spPr>
          <a:xfrm>
            <a:off x="6455664" y="3886200"/>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3886200"/>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Screen-reader/keyboard usability and broader device/zoom testing.</a:t>
            </a:r>
          </a:p>
        </p:txBody>
      </p:sp>
      <p:sp>
        <p:nvSpPr>
          <p:cNvPr id="20" name="TextBox 19"/>
          <p:cNvSpPr txBox="1"/>
          <p:nvPr/>
        </p:nvSpPr>
        <p:spPr>
          <a:xfrm>
            <a:off x="6455664" y="4873752"/>
            <a:ext cx="182880" cy="88696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4873752"/>
            <a:ext cx="4526280" cy="886968"/>
          </a:xfrm>
          <a:prstGeom prst="rect">
            <a:avLst/>
          </a:prstGeom>
          <a:noFill/>
        </p:spPr>
        <p:txBody>
          <a:bodyPr wrap="square" lIns="0" rIns="0" tIns="0" bIns="0">
            <a:spAutoFit/>
          </a:bodyPr>
          <a:lstStyle/>
          <a:p>
            <a:pPr>
              <a:spcAft>
                <a:spcPts val="400"/>
              </a:spcAft>
              <a:defRPr sz="1830" b="0">
                <a:solidFill>
                  <a:srgbClr val="243640"/>
                </a:solidFill>
                <a:latin typeface="Noto Sans"/>
              </a:defRPr>
            </a:pPr>
            <a:r>
              <a:t>Physical printer/label scans, provider activation and operational sign-off.</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Mobile run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EXISTING REFERENCE LIBRARY</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Build on the materials already in Git</a:t>
            </a:r>
          </a:p>
        </p:txBody>
      </p:sp>
      <p:sp>
        <p:nvSpPr>
          <p:cNvPr id="6" name="Rounded Rectangle 5"/>
          <p:cNvSpPr/>
          <p:nvPr/>
        </p:nvSpPr>
        <p:spPr>
          <a:xfrm>
            <a:off x="685800"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Decisions &amp; policy</a:t>
            </a:r>
          </a:p>
        </p:txBody>
      </p:sp>
      <p:sp>
        <p:nvSpPr>
          <p:cNvPr id="9" name="TextBox 8"/>
          <p:cNvSpPr txBox="1"/>
          <p:nvPr/>
        </p:nvSpPr>
        <p:spPr>
          <a:xfrm>
            <a:off x="86868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Existing ADRs and the roadmap preserve authority, scope and approval history.</a:t>
            </a:r>
          </a:p>
        </p:txBody>
      </p:sp>
      <p:sp>
        <p:nvSpPr>
          <p:cNvPr id="10" name="Rounded Rectangle 9"/>
          <p:cNvSpPr/>
          <p:nvPr/>
        </p:nvSpPr>
        <p:spPr>
          <a:xfrm>
            <a:off x="6195059" y="196596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7940" y="212140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Rehearsal &amp; release</a:t>
            </a:r>
          </a:p>
        </p:txBody>
      </p:sp>
      <p:sp>
        <p:nvSpPr>
          <p:cNvPr id="13" name="TextBox 12"/>
          <p:cNvSpPr txBox="1"/>
          <p:nvPr/>
        </p:nvSpPr>
        <p:spPr>
          <a:xfrm>
            <a:off x="6377940" y="267004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Readiness reviews, event runbooks and physical print checks already cover operational preparation.</a:t>
            </a:r>
          </a:p>
        </p:txBody>
      </p:sp>
      <p:sp>
        <p:nvSpPr>
          <p:cNvPr id="14" name="Rounded Rectangle 13"/>
          <p:cNvSpPr/>
          <p:nvPr/>
        </p:nvSpPr>
        <p:spPr>
          <a:xfrm>
            <a:off x="685800"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Imports &amp; sample outputs</a:t>
            </a:r>
          </a:p>
        </p:txBody>
      </p:sp>
      <p:sp>
        <p:nvSpPr>
          <p:cNvPr id="17" name="TextBox 16"/>
          <p:cNvSpPr txBox="1"/>
          <p:nvPr/>
        </p:nvSpPr>
        <p:spPr>
          <a:xfrm>
            <a:off x="86868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Existing JSON/CSV fixtures and sample registration PDFs show supported inputs and outputs.</a:t>
            </a:r>
          </a:p>
        </p:txBody>
      </p:sp>
      <p:sp>
        <p:nvSpPr>
          <p:cNvPr id="18" name="Rounded Rectangle 17"/>
          <p:cNvSpPr/>
          <p:nvPr/>
        </p:nvSpPr>
        <p:spPr>
          <a:xfrm>
            <a:off x="6195059" y="4069080"/>
            <a:ext cx="530809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5059"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4224528"/>
            <a:ext cx="4942331" cy="484632"/>
          </a:xfrm>
          <a:prstGeom prst="rect">
            <a:avLst/>
          </a:prstGeom>
          <a:noFill/>
        </p:spPr>
        <p:txBody>
          <a:bodyPr wrap="square" lIns="0" rIns="0" tIns="0" bIns="0">
            <a:spAutoFit/>
          </a:bodyPr>
          <a:lstStyle/>
          <a:p>
            <a:pPr>
              <a:spcAft>
                <a:spcPts val="400"/>
              </a:spcAft>
              <a:defRPr sz="2100" b="1">
                <a:solidFill>
                  <a:srgbClr val="003B5C"/>
                </a:solidFill>
                <a:latin typeface="Noto Sans"/>
              </a:defRPr>
            </a:pPr>
            <a:r>
              <a:t>Design references</a:t>
            </a:r>
          </a:p>
        </p:txBody>
      </p:sp>
      <p:sp>
        <p:nvSpPr>
          <p:cNvPr id="21" name="TextBox 20"/>
          <p:cNvSpPr txBox="1"/>
          <p:nvPr/>
        </p:nvSpPr>
        <p:spPr>
          <a:xfrm>
            <a:off x="6377940" y="4773168"/>
            <a:ext cx="4942331" cy="1115568"/>
          </a:xfrm>
          <a:prstGeom prst="rect">
            <a:avLst/>
          </a:prstGeom>
          <a:noFill/>
        </p:spPr>
        <p:txBody>
          <a:bodyPr wrap="square" lIns="0" rIns="0" tIns="0" bIns="0">
            <a:spAutoFit/>
          </a:bodyPr>
          <a:lstStyle/>
          <a:p>
            <a:pPr>
              <a:spcAft>
                <a:spcPts val="400"/>
              </a:spcAft>
              <a:defRPr sz="1900" b="0">
                <a:solidFill>
                  <a:srgbClr val="243640"/>
                </a:solidFill>
                <a:latin typeface="Noto Sans"/>
              </a:defRPr>
            </a:pPr>
            <a:r>
              <a:t>Accepted role layouts and proposed public/list studies are published with clear ownership.</a:t>
            </a:r>
          </a:p>
        </p:txBody>
      </p:sp>
      <p:sp>
        <p:nvSpPr>
          <p:cNvPr id="22" name="Rectangle 21"/>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Existing docs  ·  See speaker notes and companion documents</a:t>
            </a:r>
          </a:p>
        </p:txBody>
      </p:sp>
      <p:sp>
        <p:nvSpPr>
          <p:cNvPr id="24" name="TextBox 23"/>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DOCUMENTATION HANDOFF</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Use the pack for explanation and review</a:t>
            </a:r>
          </a:p>
        </p:txBody>
      </p:sp>
      <p:sp>
        <p:nvSpPr>
          <p:cNvPr id="6" name="Rounded Rectangle 5"/>
          <p:cNvSpPr/>
          <p:nvPr/>
        </p:nvSpPr>
        <p:spPr>
          <a:xfrm>
            <a:off x="68580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Feature guide</a:t>
            </a:r>
          </a:p>
        </p:txBody>
      </p:sp>
      <p:sp>
        <p:nvSpPr>
          <p:cNvPr id="9" name="TextBox 8"/>
          <p:cNvSpPr txBox="1"/>
          <p:nvPr/>
        </p:nvSpPr>
        <p:spPr>
          <a:xfrm>
            <a:off x="86868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Explain what is implemented, gated, accepted as design and planned.</a:t>
            </a:r>
          </a:p>
        </p:txBody>
      </p:sp>
      <p:sp>
        <p:nvSpPr>
          <p:cNvPr id="10" name="Rounded Rectangle 9"/>
          <p:cNvSpPr/>
          <p:nvPr/>
        </p:nvSpPr>
        <p:spPr>
          <a:xfrm>
            <a:off x="435864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864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1520"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Usability review</a:t>
            </a:r>
          </a:p>
        </p:txBody>
      </p:sp>
      <p:sp>
        <p:nvSpPr>
          <p:cNvPr id="13" name="TextBox 12"/>
          <p:cNvSpPr txBox="1"/>
          <p:nvPr/>
        </p:nvSpPr>
        <p:spPr>
          <a:xfrm>
            <a:off x="4541520"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Review concrete problems and their existing issue owners.</a:t>
            </a:r>
          </a:p>
        </p:txBody>
      </p:sp>
      <p:sp>
        <p:nvSpPr>
          <p:cNvPr id="14" name="Rounded Rectangle 13"/>
          <p:cNvSpPr/>
          <p:nvPr/>
        </p:nvSpPr>
        <p:spPr>
          <a:xfrm>
            <a:off x="8031480" y="196596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1480" y="196596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4359" y="212140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Help kit</a:t>
            </a:r>
          </a:p>
        </p:txBody>
      </p:sp>
      <p:sp>
        <p:nvSpPr>
          <p:cNvPr id="17" name="TextBox 16"/>
          <p:cNvSpPr txBox="1"/>
          <p:nvPr/>
        </p:nvSpPr>
        <p:spPr>
          <a:xfrm>
            <a:off x="8214359" y="267004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Adapt role-specific guides and draft messages for the real audience.</a:t>
            </a:r>
          </a:p>
        </p:txBody>
      </p:sp>
      <p:sp>
        <p:nvSpPr>
          <p:cNvPr id="18" name="Rounded Rectangle 17"/>
          <p:cNvSpPr/>
          <p:nvPr/>
        </p:nvSpPr>
        <p:spPr>
          <a:xfrm>
            <a:off x="68580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Separate camp report</a:t>
            </a:r>
          </a:p>
        </p:txBody>
      </p:sp>
      <p:sp>
        <p:nvSpPr>
          <p:cNvPr id="21" name="TextBox 20"/>
          <p:cNvSpPr txBox="1"/>
          <p:nvPr/>
        </p:nvSpPr>
        <p:spPr>
          <a:xfrm>
            <a:off x="86868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Prepare an informed camp-operator/UltraCamp discussion.</a:t>
            </a:r>
          </a:p>
        </p:txBody>
      </p:sp>
      <p:sp>
        <p:nvSpPr>
          <p:cNvPr id="22" name="Rounded Rectangle 21"/>
          <p:cNvSpPr/>
          <p:nvPr/>
        </p:nvSpPr>
        <p:spPr>
          <a:xfrm>
            <a:off x="435864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5864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1520"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Technical evidence</a:t>
            </a:r>
          </a:p>
        </p:txBody>
      </p:sp>
      <p:sp>
        <p:nvSpPr>
          <p:cNvPr id="25" name="TextBox 24"/>
          <p:cNvSpPr txBox="1"/>
          <p:nvPr/>
        </p:nvSpPr>
        <p:spPr>
          <a:xfrm>
            <a:off x="4541520"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Understand module ownership and the exact checks recorded.</a:t>
            </a:r>
          </a:p>
        </p:txBody>
      </p:sp>
      <p:sp>
        <p:nvSpPr>
          <p:cNvPr id="26" name="Rounded Rectangle 25"/>
          <p:cNvSpPr/>
          <p:nvPr/>
        </p:nvSpPr>
        <p:spPr>
          <a:xfrm>
            <a:off x="8031480" y="4069080"/>
            <a:ext cx="3471672" cy="192024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1480" y="4069080"/>
            <a:ext cx="41148" cy="1920240"/>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4359" y="4224528"/>
            <a:ext cx="3105912" cy="484632"/>
          </a:xfrm>
          <a:prstGeom prst="rect">
            <a:avLst/>
          </a:prstGeom>
          <a:noFill/>
        </p:spPr>
        <p:txBody>
          <a:bodyPr wrap="square" lIns="0" rIns="0" tIns="0" bIns="0">
            <a:spAutoFit/>
          </a:bodyPr>
          <a:lstStyle/>
          <a:p>
            <a:pPr>
              <a:spcAft>
                <a:spcPts val="400"/>
              </a:spcAft>
              <a:defRPr sz="1900" b="1">
                <a:solidFill>
                  <a:srgbClr val="003B5C"/>
                </a:solidFill>
                <a:latin typeface="Noto Sans"/>
              </a:defRPr>
            </a:pPr>
            <a:r>
              <a:t>Editable assets</a:t>
            </a:r>
          </a:p>
        </p:txBody>
      </p:sp>
      <p:sp>
        <p:nvSpPr>
          <p:cNvPr id="29" name="TextBox 28"/>
          <p:cNvSpPr txBox="1"/>
          <p:nvPr/>
        </p:nvSpPr>
        <p:spPr>
          <a:xfrm>
            <a:off x="8214359" y="4773168"/>
            <a:ext cx="3105912" cy="1115568"/>
          </a:xfrm>
          <a:prstGeom prst="rect">
            <a:avLst/>
          </a:prstGeom>
          <a:noFill/>
        </p:spPr>
        <p:txBody>
          <a:bodyPr wrap="square" lIns="0" rIns="0" tIns="0" bIns="0">
            <a:spAutoFit/>
          </a:bodyPr>
          <a:lstStyle/>
          <a:p>
            <a:pPr>
              <a:spcAft>
                <a:spcPts val="400"/>
              </a:spcAft>
              <a:defRPr sz="1700" b="0">
                <a:solidFill>
                  <a:srgbClr val="243640"/>
                </a:solidFill>
                <a:latin typeface="Noto Sans"/>
              </a:defRPr>
            </a:pPr>
            <a:r>
              <a:t>Use the PowerPoint and Word copies; share the PDF companions.</a:t>
            </a:r>
          </a:p>
        </p:txBody>
      </p:sp>
      <p:sp>
        <p:nvSpPr>
          <p:cNvPr id="30" name="Rectangle 29"/>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Backlog review index  ·  See speaker notes and companion documents</a:t>
            </a:r>
          </a:p>
        </p:txBody>
      </p:sp>
      <p:sp>
        <p:nvSpPr>
          <p:cNvPr id="32" name="TextBox 31"/>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38912"/>
            <a:ext cx="118872" cy="182880"/>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65760"/>
            <a:ext cx="10789920" cy="320040"/>
          </a:xfrm>
          <a:prstGeom prst="rect">
            <a:avLst/>
          </a:prstGeom>
          <a:noFill/>
        </p:spPr>
        <p:txBody>
          <a:bodyPr wrap="square" lIns="0" rIns="0" tIns="0" bIns="0">
            <a:spAutoFit/>
          </a:bodyPr>
          <a:lstStyle/>
          <a:p>
            <a:pPr>
              <a:spcAft>
                <a:spcPts val="400"/>
              </a:spcAft>
              <a:defRPr sz="1100" b="1">
                <a:solidFill>
                  <a:srgbClr val="582C83"/>
                </a:solidFill>
                <a:latin typeface="Noto Sans"/>
              </a:defRPr>
            </a:pPr>
            <a:r>
              <a:t>REFERENCE APPENDIX</a:t>
            </a:r>
          </a:p>
        </p:txBody>
      </p:sp>
      <p:sp>
        <p:nvSpPr>
          <p:cNvPr id="5" name="TextBox 4"/>
          <p:cNvSpPr txBox="1"/>
          <p:nvPr/>
        </p:nvSpPr>
        <p:spPr>
          <a:xfrm>
            <a:off x="685800" y="896112"/>
            <a:ext cx="10835640" cy="914400"/>
          </a:xfrm>
          <a:prstGeom prst="rect">
            <a:avLst/>
          </a:prstGeom>
          <a:noFill/>
        </p:spPr>
        <p:txBody>
          <a:bodyPr wrap="square" lIns="0" rIns="0" tIns="0" bIns="0">
            <a:spAutoFit/>
          </a:bodyPr>
          <a:lstStyle/>
          <a:p>
            <a:pPr>
              <a:spcAft>
                <a:spcPts val="400"/>
              </a:spcAft>
              <a:defRPr sz="3100" b="1">
                <a:solidFill>
                  <a:srgbClr val="003B5C"/>
                </a:solidFill>
                <a:latin typeface="Noto Sans"/>
              </a:defRPr>
            </a:pPr>
            <a:r>
              <a:t>Source notes and further reading</a:t>
            </a:r>
          </a:p>
        </p:txBody>
      </p:sp>
      <p:sp>
        <p:nvSpPr>
          <p:cNvPr id="6" name="Rounded Rectangle 5"/>
          <p:cNvSpPr/>
          <p:nvPr/>
        </p:nvSpPr>
        <p:spPr>
          <a:xfrm>
            <a:off x="685800"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Project authority</a:t>
            </a:r>
          </a:p>
        </p:txBody>
      </p:sp>
      <p:sp>
        <p:nvSpPr>
          <p:cNvPr id="8" name="TextBox 7"/>
          <p:cNvSpPr txBox="1"/>
          <p:nvPr/>
        </p:nvSpPr>
        <p:spPr>
          <a:xfrm>
            <a:off x="914400" y="2898648"/>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9" name="TextBox 8"/>
          <p:cNvSpPr txBox="1"/>
          <p:nvPr/>
        </p:nvSpPr>
        <p:spPr>
          <a:xfrm>
            <a:off x="1207007" y="2898648"/>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#98—ordered roadmap and current queue.</a:t>
            </a:r>
          </a:p>
        </p:txBody>
      </p:sp>
      <p:sp>
        <p:nvSpPr>
          <p:cNvPr id="10" name="TextBox 9"/>
          <p:cNvSpPr txBox="1"/>
          <p:nvPr/>
        </p:nvSpPr>
        <p:spPr>
          <a:xfrm>
            <a:off x="914400" y="3611880"/>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1" name="TextBox 10"/>
          <p:cNvSpPr txBox="1"/>
          <p:nvPr/>
        </p:nvSpPr>
        <p:spPr>
          <a:xfrm>
            <a:off x="1207007" y="3611880"/>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#844—comparison/backlog review index.</a:t>
            </a:r>
          </a:p>
        </p:txBody>
      </p:sp>
      <p:sp>
        <p:nvSpPr>
          <p:cNvPr id="12" name="TextBox 11"/>
          <p:cNvSpPr txBox="1"/>
          <p:nvPr/>
        </p:nvSpPr>
        <p:spPr>
          <a:xfrm>
            <a:off x="914400" y="4325112"/>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3" name="TextBox 12"/>
          <p:cNvSpPr txBox="1"/>
          <p:nvPr/>
        </p:nvSpPr>
        <p:spPr>
          <a:xfrm>
            <a:off x="1207007" y="4325112"/>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#1109 and #1073/#1074—accepted role and admin design.</a:t>
            </a:r>
          </a:p>
        </p:txBody>
      </p:sp>
      <p:sp>
        <p:nvSpPr>
          <p:cNvPr id="14" name="TextBox 13"/>
          <p:cNvSpPr txBox="1"/>
          <p:nvPr/>
        </p:nvSpPr>
        <p:spPr>
          <a:xfrm>
            <a:off x="914400" y="5038344"/>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5" name="TextBox 14"/>
          <p:cNvSpPr txBox="1"/>
          <p:nvPr/>
        </p:nvSpPr>
        <p:spPr>
          <a:xfrm>
            <a:off x="1207007" y="5038344"/>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#1062—form-builder stages and remaining review.</a:t>
            </a:r>
          </a:p>
        </p:txBody>
      </p:sp>
      <p:sp>
        <p:nvSpPr>
          <p:cNvPr id="16" name="Rounded Rectangle 15"/>
          <p:cNvSpPr/>
          <p:nvPr/>
        </p:nvSpPr>
        <p:spPr>
          <a:xfrm>
            <a:off x="6227064" y="1965960"/>
            <a:ext cx="5285232" cy="3886200"/>
          </a:xfrm>
          <a:prstGeom prst="roundRect">
            <a:avLst>
              <a:gd name="adj" fmla="val 8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2176272"/>
            <a:ext cx="4828032" cy="566928"/>
          </a:xfrm>
          <a:prstGeom prst="rect">
            <a:avLst/>
          </a:prstGeom>
          <a:noFill/>
        </p:spPr>
        <p:txBody>
          <a:bodyPr wrap="square" lIns="0" rIns="0" tIns="0" bIns="0">
            <a:spAutoFit/>
          </a:bodyPr>
          <a:lstStyle/>
          <a:p>
            <a:pPr>
              <a:spcAft>
                <a:spcPts val="400"/>
              </a:spcAft>
              <a:defRPr sz="2200" b="1">
                <a:solidFill>
                  <a:srgbClr val="582C83"/>
                </a:solidFill>
                <a:latin typeface="Noto Sans"/>
              </a:defRPr>
            </a:pPr>
            <a:r>
              <a:t>Companion evidence</a:t>
            </a:r>
          </a:p>
        </p:txBody>
      </p:sp>
      <p:sp>
        <p:nvSpPr>
          <p:cNvPr id="18" name="TextBox 17"/>
          <p:cNvSpPr txBox="1"/>
          <p:nvPr/>
        </p:nvSpPr>
        <p:spPr>
          <a:xfrm>
            <a:off x="6455664" y="2898648"/>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19" name="TextBox 18"/>
          <p:cNvSpPr txBox="1"/>
          <p:nvPr/>
        </p:nvSpPr>
        <p:spPr>
          <a:xfrm>
            <a:off x="6748272" y="2898648"/>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Five source-linked documents explain details and limits.</a:t>
            </a:r>
          </a:p>
        </p:txBody>
      </p:sp>
      <p:sp>
        <p:nvSpPr>
          <p:cNvPr id="20" name="TextBox 19"/>
          <p:cNvSpPr txBox="1"/>
          <p:nvPr/>
        </p:nvSpPr>
        <p:spPr>
          <a:xfrm>
            <a:off x="6455664" y="3611880"/>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1" name="TextBox 20"/>
          <p:cNvSpPr txBox="1"/>
          <p:nvPr/>
        </p:nvSpPr>
        <p:spPr>
          <a:xfrm>
            <a:off x="6748272" y="3611880"/>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Technical-check JSON preserves run IDs and revisions.</a:t>
            </a:r>
          </a:p>
        </p:txBody>
      </p:sp>
      <p:sp>
        <p:nvSpPr>
          <p:cNvPr id="22" name="TextBox 21"/>
          <p:cNvSpPr txBox="1"/>
          <p:nvPr/>
        </p:nvSpPr>
        <p:spPr>
          <a:xfrm>
            <a:off x="6455664" y="4325112"/>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3" name="TextBox 22"/>
          <p:cNvSpPr txBox="1"/>
          <p:nvPr/>
        </p:nvSpPr>
        <p:spPr>
          <a:xfrm>
            <a:off x="6748272" y="4325112"/>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Camp sources distinguish dated research from vendor-confirmed access.</a:t>
            </a:r>
          </a:p>
        </p:txBody>
      </p:sp>
      <p:sp>
        <p:nvSpPr>
          <p:cNvPr id="24" name="TextBox 23"/>
          <p:cNvSpPr txBox="1"/>
          <p:nvPr/>
        </p:nvSpPr>
        <p:spPr>
          <a:xfrm>
            <a:off x="6455664" y="5038344"/>
            <a:ext cx="182880" cy="612648"/>
          </a:xfrm>
          <a:prstGeom prst="rect">
            <a:avLst/>
          </a:prstGeom>
          <a:noFill/>
        </p:spPr>
        <p:txBody>
          <a:bodyPr wrap="square" lIns="0" rIns="0" tIns="0" bIns="0">
            <a:spAutoFit/>
          </a:bodyPr>
          <a:lstStyle/>
          <a:p>
            <a:pPr>
              <a:spcAft>
                <a:spcPts val="400"/>
              </a:spcAft>
              <a:defRPr sz="1900" b="0">
                <a:solidFill>
                  <a:srgbClr val="582C83"/>
                </a:solidFill>
                <a:latin typeface="Noto Sans"/>
              </a:defRPr>
            </a:pPr>
            <a:r>
              <a:t>•</a:t>
            </a:r>
          </a:p>
        </p:txBody>
      </p:sp>
      <p:sp>
        <p:nvSpPr>
          <p:cNvPr id="25" name="TextBox 24"/>
          <p:cNvSpPr txBox="1"/>
          <p:nvPr/>
        </p:nvSpPr>
        <p:spPr>
          <a:xfrm>
            <a:off x="6748272" y="5038344"/>
            <a:ext cx="4526280" cy="612648"/>
          </a:xfrm>
          <a:prstGeom prst="rect">
            <a:avLst/>
          </a:prstGeom>
          <a:noFill/>
        </p:spPr>
        <p:txBody>
          <a:bodyPr wrap="square" lIns="0" rIns="0" tIns="0" bIns="0">
            <a:spAutoFit/>
          </a:bodyPr>
          <a:lstStyle/>
          <a:p>
            <a:pPr>
              <a:spcAft>
                <a:spcPts val="400"/>
              </a:spcAft>
              <a:defRPr sz="1830" b="0">
                <a:solidFill>
                  <a:srgbClr val="243640"/>
                </a:solidFill>
                <a:latin typeface="Noto Sans"/>
              </a:defRPr>
            </a:pPr>
            <a:r>
              <a:t>Speaker notes identify sources and status for each slide.</a:t>
            </a:r>
          </a:p>
        </p:txBody>
      </p:sp>
      <p:sp>
        <p:nvSpPr>
          <p:cNvPr id="26" name="Rectangle 25"/>
          <p:cNvSpPr/>
          <p:nvPr/>
        </p:nvSpPr>
        <p:spPr>
          <a:xfrm>
            <a:off x="685800" y="6281928"/>
            <a:ext cx="10817352" cy="10972"/>
          </a:xfrm>
          <a:prstGeom prst="rect">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6400800"/>
            <a:ext cx="9052560" cy="274320"/>
          </a:xfrm>
          <a:prstGeom prst="rect">
            <a:avLst/>
          </a:prstGeom>
          <a:noFill/>
        </p:spPr>
        <p:txBody>
          <a:bodyPr wrap="square" lIns="0" rIns="0" tIns="0" bIns="0">
            <a:spAutoFit/>
          </a:bodyPr>
          <a:lstStyle/>
          <a:p>
            <a:pPr>
              <a:spcAft>
                <a:spcPts val="400"/>
              </a:spcAft>
              <a:defRPr sz="930" b="0">
                <a:solidFill>
                  <a:srgbClr val="536B78"/>
                </a:solidFill>
                <a:latin typeface="Noto Sans"/>
              </a:defRPr>
            </a:pPr>
            <a:r>
              <a:rPr>
                <a:hlinkClick r:id="rId2"/>
              </a:rPr>
              <a:t>SOURCE  Roadmap  ·  See speaker notes and companion documents</a:t>
            </a:r>
          </a:p>
        </p:txBody>
      </p:sp>
      <p:sp>
        <p:nvSpPr>
          <p:cNvPr id="28" name="TextBox 27"/>
          <p:cNvSpPr txBox="1"/>
          <p:nvPr/>
        </p:nvSpPr>
        <p:spPr>
          <a:xfrm>
            <a:off x="10469880" y="6400800"/>
            <a:ext cx="1005840" cy="274320"/>
          </a:xfrm>
          <a:prstGeom prst="rect">
            <a:avLst/>
          </a:prstGeom>
          <a:noFill/>
        </p:spPr>
        <p:txBody>
          <a:bodyPr wrap="square" lIns="0" rIns="0" tIns="0" bIns="0">
            <a:spAutoFit/>
          </a:bodyPr>
          <a:lstStyle/>
          <a:p>
            <a:pPr>
              <a:spcAft>
                <a:spcPts val="400"/>
              </a:spcAft>
              <a:defRPr sz="1000" b="0">
                <a:solidFill>
                  <a:srgbClr val="536B78"/>
                </a:solidFill>
                <a:latin typeface="Noto Sans"/>
              </a:defRPr>
            </a:pPr>
            <a: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