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IMSDA Events is our shared place for club records and event participation. Today we will follow the tasks you are most likely to need: signing in, keeping a club's information up to date, registering for an event and reviewing clubs as a coordinator. You do not need to understand the software behind it. Start with your own account and the job you are doing.</a:t>
            </a:r>
          </a:p>
          <a:p/>
          <a:p>
            <a:r>
              <a:t>SHOW / DEMO</a:t>
            </a:r>
          </a:p>
          <a:p>
            <a:r>
              <a:t>Open events.imsda.org. For demonstrations, use an approved training account and fictitious records. The step illustrations in this deck are teaching aids, not screenshots or proposed menus.</a:t>
            </a:r>
          </a:p>
          <a:p/>
          <a:p>
            <a:r>
              <a:t>Sources:</a:t>
            </a:r>
          </a:p>
          <a:p>
            <a:r>
              <a:t>app/page.tsx: https://github.com/DurantTL/IMSDA-Events/blob/47cd5c00780d0c2dd9e618b56c32e2fbd04b041a/app/page.tsx</a:t>
            </a:r>
          </a:p>
          <a:p>
            <a:r>
              <a:t>modules/club-rosters/portal-nav.ts: https://github.com/DurantTL/IMSDA-Events/blob/47cd5c00780d0c2dd9e618b56c32e2fbd04b041a/modules/club-rosters/portal-nav.ts</a:t>
            </a:r>
          </a:p>
          <a:p>
            <a:r>
              <a:t>components/area-clubs-subnav.tsx: https://github.com/DurantTL/IMSDA-Events/blob/47cd5c00780d0c2dd9e618b56c32e2fbd04b041a/components/area-clubs-subnav.tsx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 purpose is to make ongoing club work and event work easier to connect. A director maintains the club's information. When an event opens, that roster is available for choosing who will attend. Coordinators use the same recorded work to understand progress and offer help. Returning to the saved record is more useful than keeping several different versions of a list.</a:t>
            </a:r>
          </a:p>
          <a:p/>
          <a:p>
            <a:r>
              <a:t>ASK</a:t>
            </a:r>
          </a:p>
          <a:p>
            <a:r>
              <a:t>Which task currently makes you re-enter information or ask for another copy of a record?</a:t>
            </a:r>
          </a:p>
          <a:p/>
          <a:p>
            <a:r>
              <a:t>Sources:</a:t>
            </a:r>
          </a:p>
          <a:p>
            <a:r>
              <a:t>app/page.tsx: https://github.com/DurantTL/IMSDA-Events/blob/47cd5c00780d0c2dd9e618b56c32e2fbd04b041a/app/page.tsx</a:t>
            </a:r>
          </a:p>
          <a:p>
            <a:r>
              <a:t>docs/CLUB-MINISTRY-AND-HONORS-WEEKEND-PLAN.md: https://github.com/DurantTL/IMSDA-Events/blob/47cd5c00780d0c2dd9e618b56c32e2fbd04b041a/docs/CLUB-MINISTRY-AND-HONORS-WEEKEND-PLAN.md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These ideas are related, but they answer different questions. Putting someone on the roster does not register that person for every event. A report being submitted does not mean an event registration is paid or checked in. Your account connects you to the responsibilities assigned to you. If you are both a director and a coordinator, choose the workspace for the task you are doing.</a:t>
            </a:r>
          </a:p>
          <a:p/>
          <a:p>
            <a:r>
              <a:t>ASK</a:t>
            </a:r>
          </a:p>
          <a:p>
            <a:r>
              <a:t>If a new member is on the roster, are they automatically registered for Honors Weekend? The answer is no.</a:t>
            </a:r>
          </a:p>
          <a:p/>
          <a:p>
            <a:r>
              <a:t>Sources:</a:t>
            </a:r>
          </a:p>
          <a:p>
            <a:r>
              <a:t>modules/club-rosters/portal-nav.ts: https://github.com/DurantTL/IMSDA-Events/blob/47cd5c00780d0c2dd9e618b56c32e2fbd04b041a/modules/club-rosters/portal-nav.ts</a:t>
            </a:r>
          </a:p>
          <a:p>
            <a:r>
              <a:t>modules/club-reports/area-summary-domain.ts: https://github.com/DurantTL/IMSDA-Events/blob/47cd5c00780d0c2dd9e618b56c32e2fbd04b041a/modules/club-reports/area-summary-domain.ts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Everyone can start at events dot imsda dot org. Use the Sign in button on the website; it takes you to the sign-in page available on the system. You do not need a special director or coordinator login address. If you are already signed in, the page can show My account instead. Use the account that received your invitation or was assigned your coordinator access.</a:t>
            </a:r>
          </a:p>
          <a:p/>
          <a:p>
            <a:r>
              <a:t>SHOW / DEMO</a:t>
            </a:r>
          </a:p>
          <a:p>
            <a:r>
              <a:t>Point to Sign in, My account and My club on the current homepage. A configured passkey may also be offered. Do not teach a fixed /login or /sign-in path.</a:t>
            </a:r>
          </a:p>
          <a:p/>
          <a:p>
            <a:r>
              <a:t>Sources:</a:t>
            </a:r>
          </a:p>
          <a:p>
            <a:r>
              <a:t>app/page.tsx: https://github.com/DurantTL/IMSDA-Events/blob/47cd5c00780d0c2dd9e618b56c32e2fbd04b041a/app/page.tsx</a:t>
            </a:r>
          </a:p>
          <a:p>
            <a:r>
              <a:t>components/public-header-links.tsx: https://github.com/DurantTL/IMSDA-Events/blob/47cd5c00780d0c2dd9e618b56c32e2fbd04b041a/components/public-header-links.tsx</a:t>
            </a:r>
          </a:p>
          <a:p>
            <a:r>
              <a:t>components/attendee-sign-in-form.tsx: https://github.com/DurantTL/IMSDA-Events/blob/47cd5c00780d0c2dd9e618b56c32e2fbd04b041a/components/attendee-sign-in-form.tsx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 invitation is what connects your account to a club. Creating an account by itself does not complete that connection. If you already have an account at the invited address, sign in to it. If you are new, create and verify the account first. On your account page, find You're invited to manage a club, check the club name and role, and choose Accept. If the invitation is missing, ask the office to check the address rather than making another account or applying to create the club again.</a:t>
            </a:r>
          </a:p>
          <a:p/>
          <a:p>
            <a:r>
              <a:t>SHOW / DEMO</a:t>
            </a:r>
          </a:p>
          <a:p>
            <a:r>
              <a:t>Point out the invitation card and Accept label using a training example. Do not accept a real invitation as a general demonstration.</a:t>
            </a:r>
          </a:p>
          <a:p/>
          <a:p>
            <a:r>
              <a:t>Sources:</a:t>
            </a:r>
          </a:p>
          <a:p>
            <a:r>
              <a:t>modules/club-imports/invites.ts: https://github.com/DurantTL/IMSDA-Events/blob/47cd5c00780d0c2dd9e618b56c32e2fbd04b041a/modules/club-imports/invites.ts</a:t>
            </a:r>
          </a:p>
          <a:p>
            <a:r>
              <a:t>components/club-invite-accept.tsx: https://github.com/DurantTL/IMSDA-Events/blob/47cd5c00780d0c2dd9e618b56c32e2fbd04b041a/components/club-invite-accept.tsx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Create an account asks for your name, email and a password that meets the checklist. The system emails a six-digit code. Keep the same browser open, then return to enter that code and choose Verify and continue. The current email code expires after twenty minutes. This confirms that you control the address. It is not the authenticator code we will use for the club's extra sign-in protection.</a:t>
            </a:r>
          </a:p>
          <a:p/>
          <a:p>
            <a:r>
              <a:t>SHOW / DEMO</a:t>
            </a:r>
          </a:p>
          <a:p>
            <a:r>
              <a:t>Explain the same-browser verification step without displaying a real code or inbox. After verification, return to the club invitation and accept it.</a:t>
            </a:r>
          </a:p>
          <a:p/>
          <a:p>
            <a:r>
              <a:t>Sources:</a:t>
            </a:r>
          </a:p>
          <a:p>
            <a:r>
              <a:t>components/attendee-sign-up-form.tsx: https://github.com/DurantTL/IMSDA-Events/blob/47cd5c00780d0c2dd9e618b56c32e2fbd04b041a/components/attendee-sign-up-form.tsx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When you return, use the account you already set up. Sign in, then complete Confirm it's you if asked. That might be your authenticator code or a supported passkey. An unused recovery code can help if you cannot use the authenticator. Once the system has confirmed you, open the club or coordinator tools for the work you need to do.</a:t>
            </a:r>
          </a:p>
          <a:p/>
          <a:p>
            <a:r>
              <a:t>SHOW / DEMO</a:t>
            </a:r>
          </a:p>
          <a:p>
            <a:r>
              <a:t>Point to the actual sign-in labels. Explain a passkey as the device fingerprint, face or PIN prompt when the system offers that option.</a:t>
            </a:r>
          </a:p>
          <a:p/>
          <a:p>
            <a:r>
              <a:t>Sources:</a:t>
            </a:r>
          </a:p>
          <a:p>
            <a:r>
              <a:t>components/attendee-sign-in-form.tsx: https://github.com/DurantTL/IMSDA-Events/blob/47cd5c00780d0c2dd9e618b56c32e2fbd04b041a/components/attendee-sign-in-form.tsx</a:t>
            </a:r>
          </a:p>
          <a:p>
            <a:r>
              <a:t>app/(public)/account/two-step/page.tsx: https://github.com/DurantTL/IMSDA-Events/blob/47cd5c00780d0c2dd9e618b56c32e2fbd04b041a/app/%28public%29/account/two-step/page.tsx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 extra step protects club information if someone learns a password. You only need one supported method. An authenticator app generates a short code. A passkey asks your device for a fingerprint, face or PIN. The email verification code confirms the email address; the authenticator or passkey protects access to the club and coordinator tools. Saving recovery codes now can prevent a lost phone from becoming a long interruption later.</a:t>
            </a:r>
          </a:p>
          <a:p/>
          <a:p>
            <a:r>
              <a:t>ASK</a:t>
            </a:r>
          </a:p>
          <a:p>
            <a:r>
              <a:t>Which code comes from your email, and which comes from your authenticator app?</a:t>
            </a:r>
          </a:p>
          <a:p/>
          <a:p>
            <a:r>
              <a:t>Sources:</a:t>
            </a:r>
          </a:p>
          <a:p>
            <a:r>
              <a:t>app/(public)/account/two-step/page.tsx: https://github.com/DurantTL/IMSDA-Events/blob/47cd5c00780d0c2dd9e618b56c32e2fbd04b041a/app/%28public%29/account/two-step/page.tsx</a:t>
            </a:r>
          </a:p>
          <a:p>
            <a:r>
              <a:t>components/two-step-setup.tsx: https://github.com/DurantTL/IMSDA-Events/blob/47cd5c00780d0c2dd9e618b56c32e2fbd04b041a/components/two-step-setup.tsx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Choose Set up an authenticator. The help link explains suitable apps, including Google Authenticator and Microsoft Authenticator. Follow the screen to add the account to your app using the setup information shown. Then enter the code from the app and choose Confirm and turn on. Save the recovery codes somewhere private and choose I've saved these codes. Continue when setup is complete. A passkey is another method if the site offers it; you do not have to set up both.</a:t>
            </a:r>
          </a:p>
          <a:p/>
          <a:p>
            <a:r>
              <a:t>SHOW / DEMO</a:t>
            </a:r>
          </a:p>
          <a:p>
            <a:r>
              <a:t>Use the help page to explain adding an account. The current setup component shows a text key; do not promise a QR image on every setup screen. Never display a usable setup key or recovery code in a presentation.</a:t>
            </a:r>
          </a:p>
          <a:p/>
          <a:p>
            <a:r>
              <a:t>Sources:</a:t>
            </a:r>
          </a:p>
          <a:p>
            <a:r>
              <a:t>components/mfa-manager.tsx: https://github.com/DurantTL/IMSDA-Events/blob/47cd5c00780d0c2dd9e618b56c32e2fbd04b041a/components/mfa-manager.tsx</a:t>
            </a:r>
          </a:p>
          <a:p>
            <a:r>
              <a:t>components/two-step-setup.tsx: https://github.com/DurantTL/IMSDA-Events/blob/47cd5c00780d0c2dd9e618b56c32e2fbd04b041a/components/two-step-setup.tsx</a:t>
            </a:r>
          </a:p>
          <a:p>
            <a:r>
              <a:t>app/(public)/account/help/authenticator/page.tsx: https://github.com/DurantTL/IMSDA-Events/blob/47cd5c00780d0c2dd9e618b56c32e2fbd04b041a/app/%28public%29/account/help/authenticator/page.tsx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 tools follow your actual responsibilities. A director works inside the club. An Area Coordinator has a Clubs section and a Clubs overview link on the account card. Your personal registrations are separate from running a club. Someone with both responsibilities may see both sets of tools. If the expected option is missing, check which email is signed in and ask the office about access; making a duplicate account is unlikely to solve it.</a:t>
            </a:r>
          </a:p>
          <a:p/>
          <a:p>
            <a:r>
              <a:t>SHOW / DEMO</a:t>
            </a:r>
          </a:p>
          <a:p>
            <a:r>
              <a:t>Explain My club/My clubs versus the coordinator Clubs navigation. Current club and coordinator headings show the working year; do not invent a year dropdown.</a:t>
            </a:r>
          </a:p>
          <a:p/>
          <a:p>
            <a:r>
              <a:t>Sources:</a:t>
            </a:r>
          </a:p>
          <a:p>
            <a:r>
              <a:t>app/(public)/account/(portal)/layout.tsx: https://github.com/DurantTL/IMSDA-Events/blob/47cd5c00780d0c2dd9e618b56c32e2fbd04b041a/app/%28public%29/account/%28portal%29/layout.tsx</a:t>
            </a:r>
          </a:p>
          <a:p>
            <a:r>
              <a:t>modules/club-reports/area-card-domain.ts: https://github.com/DurantTL/IMSDA-Events/blob/47cd5c00780d0c2dd9e618b56c32e2fbd04b041a/modules/club-reports/area-card-domain.ts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Home is the starting point for the club's work. It is not another form to complete. Check the club name and year at the top, especially if you manage more than one club. The next-task card and summaries help you decide where to go. Our example club is Riverton Pathfinders. A deputy has the director's capabilities; registrar and reporter roles are narrower, so their menus can correctly look different.</a:t>
            </a:r>
          </a:p>
          <a:p/>
          <a:p>
            <a:r>
              <a:t>SHOW / DEMO</a:t>
            </a:r>
          </a:p>
          <a:p>
            <a:r>
              <a:t>Point to the current club header, next task and Open roster/Open Monthly Records links. These are current labels, not the separate accepted redesign.</a:t>
            </a:r>
          </a:p>
          <a:p/>
          <a:p>
            <a:r>
              <a:t>Sources:</a:t>
            </a:r>
          </a:p>
          <a:p>
            <a:r>
              <a:t>app/(public)/account/(portal)/clubs/[organizationId]/page.tsx: https://github.com/DurantTL/IMSDA-Events/blob/47cd5c00780d0c2dd9e618b56c32e2fbd04b041a/app/%28public%29/account/%28portal%29/clubs/%5BorganizationId%5D/page.tsx</a:t>
            </a:r>
          </a:p>
          <a:p>
            <a:r>
              <a:t>modules/club-rosters/portal-nav.ts: https://github.com/DurantTL/IMSDA-Events/blob/47cd5c00780d0c2dd9e618b56c32e2fbd04b041a/modules/club-rosters/portal-nav.ts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Add regular members to the roster so they are available for future event choices. For a demonstration, use a fictitious member such as Morgan Reed. First check that Morgan is not already there. Enter the requested details, choose Add to roster and check the saved row. This has put Morgan on the club's list; it has not registered Morgan for an event. If Morgan is already listed, correct the existing record instead of adding a duplicate.</a:t>
            </a:r>
          </a:p>
          <a:p/>
          <a:p>
            <a:r>
              <a:t>SHOW / DEMO</a:t>
            </a:r>
          </a:p>
          <a:p>
            <a:r>
              <a:t>Use an approved training roster only. Explain that age and birth-date fields follow the viewer’s permitted access; no real birth date is needed for the teaching example.</a:t>
            </a:r>
          </a:p>
          <a:p/>
          <a:p>
            <a:r>
              <a:t>Sources:</a:t>
            </a:r>
          </a:p>
          <a:p>
            <a:r>
              <a:t>components/club-roster-workspace.tsx: https://github.com/DurantTL/IMSDA-Events/blob/47cd5c00780d0c2dd9e618b56c32e2fbd04b041a/components/club-roster-workspace.tsx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These actions have different purposes. Edit corrects the existing person. Deactivate keeps the person in your records but stops them being selected for new registrations. Show inactive lets you find that person, and Reactivate can bring them back. Remove is an erasure action. If someone may return, keeping the record is generally the useful path. Read the explanation before any removal and ask the office if you are unsure what should be retained.</a:t>
            </a:r>
          </a:p>
          <a:p/>
          <a:p>
            <a:r>
              <a:t>SHOW / DEMO</a:t>
            </a:r>
          </a:p>
          <a:p>
            <a:r>
              <a:t>Point out the pencil/Edit action, Save and Deactivate inside the editor. If showing Remove, stop at its explanation and cancel; do not erase a real person for training.</a:t>
            </a:r>
          </a:p>
          <a:p/>
          <a:p>
            <a:r>
              <a:t>Sources:</a:t>
            </a:r>
          </a:p>
          <a:p>
            <a:r>
              <a:t>components/club-roster-workspace.tsx: https://github.com/DurantTL/IMSDA-Events/blob/47cd5c00780d0c2dd9e618b56c32e2fbd04b041a/components/club-roster-workspace.tsx</a:t>
            </a:r>
          </a:p>
          <a:p>
            <a:r>
              <a:t>modules/club-rosters/repository.ts: https://github.com/DurantTL/IMSDA-Events/blob/47cd5c00780d0c2dd9e618b56c32e2fbd04b041a/modules/club-rosters/repository.ts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Forms keeps the club's enabled forms together. A director or deputy can fill in for a member from an appropriate approved source or use the available private-link process. Return to Filled forms to see what came back. Open continues a draft; View and print opens a submitted form. A link can be waiting, expired or submitted, and an email saying sent does not mean the form has been completed.</a:t>
            </a:r>
          </a:p>
          <a:p/>
          <a:p>
            <a:r>
              <a:t>SHOW / DEMO</a:t>
            </a:r>
          </a:p>
          <a:p>
            <a:r>
              <a:t>Use an empty or fictitious example without health content. Explain the link option without sending a real request during the presentation.</a:t>
            </a:r>
          </a:p>
          <a:p/>
          <a:p>
            <a:r>
              <a:t>Sources:</a:t>
            </a:r>
          </a:p>
          <a:p>
            <a:r>
              <a:t>app/(public)/account/(portal)/clubs/[organizationId]/forms/page.tsx: https://github.com/DurantTL/IMSDA-Events/blob/47cd5c00780d0c2dd9e618b56c32e2fbd04b041a/app/%28public%29/account/%28portal%29/clubs/%5BorganizationId%5D/forms/page.tsx</a:t>
            </a:r>
          </a:p>
          <a:p>
            <a:r>
              <a:t>modules/club-forms/domain.ts: https://github.com/DurantTL/IMSDA-Events/blob/47cd5c00780d0c2dd9e618b56c32e2fbd04b041a/modules/club-forms/domain.ts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Short notes after a meeting are easier than rebuilding the whole month from memory. Open Monthly Records, choose the month and add a meeting note. Record the date and counts you know. People with roster access may also take name-by-name attendance; that is optional and is not promised to a reporter who cannot open the roster. Save the note so the information is there when you prepare the monthly report.</a:t>
            </a:r>
          </a:p>
          <a:p/>
          <a:p>
            <a:r>
              <a:t>SHOW / DEMO</a:t>
            </a:r>
          </a:p>
          <a:p>
            <a:r>
              <a:t>Show Add meeting note and the optional Take attendance control. Keep the distinction between head counts and a named attendance list clear.</a:t>
            </a:r>
          </a:p>
          <a:p/>
          <a:p>
            <a:r>
              <a:t>Sources:</a:t>
            </a:r>
          </a:p>
          <a:p>
            <a:r>
              <a:t>app/(public)/account/(portal)/clubs/[organizationId]/records/page.tsx: https://github.com/DurantTL/IMSDA-Events/blob/47cd5c00780d0c2dd9e618b56c32e2fbd04b041a/app/%28public%29/account/%28portal%29/clubs/%5BorganizationId%5D/records/page.tsx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Saving a draft and submitting are different actions. Open or continue the Monthly Record, review its details and check the month and due date. The current rule is the tenth of the following month. Meeting notes can help fill the record. If you have already saved the report, changing a note does not silently replace that saved report; use Refresh from meeting notes deliberately if offered. Once you are ready, Submit report and confirm the submitted result. Contact the office if a closed report needs attention.</a:t>
            </a:r>
          </a:p>
          <a:p/>
          <a:p>
            <a:r>
              <a:t>SHOW / DEMO</a:t>
            </a:r>
          </a:p>
          <a:p>
            <a:r>
              <a:t>Point out Save draft versus Submit report, and the displayed status. Do not submit a real report as a demonstration.</a:t>
            </a:r>
          </a:p>
          <a:p/>
          <a:p>
            <a:r>
              <a:t>Sources:</a:t>
            </a:r>
          </a:p>
          <a:p>
            <a:r>
              <a:t>app/(public)/account/(portal)/clubs/[organizationId]/records/page.tsx: https://github.com/DurantTL/IMSDA-Events/blob/47cd5c00780d0c2dd9e618b56c32e2fbd04b041a/app/%28public%29/account/%28portal%29/clubs/%5BorganizationId%5D/records/page.tsx</a:t>
            </a:r>
          </a:p>
          <a:p>
            <a:r>
              <a:t>components/club-report-form.tsx: https://github.com/DurantTL/IMSDA-Events/blob/47cd5c00780d0c2dd9e618b56c32e2fbd04b041a/components/club-report-form.tsx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This is where the roster saves time. Open Club events and use Register or Continue for the event. Choose the people attending rather than assuming everyone on the roster is going. The flow is Who's going, Each person's details and Review. Some draft choices save as you work, but the draft is not a confirmed registration. Review the final state and any full or waitlist explanation. Team events may use Your teams and an additional team form.</a:t>
            </a:r>
          </a:p>
          <a:p/>
          <a:p>
            <a:r>
              <a:t>SHOW / DEMO</a:t>
            </a:r>
          </a:p>
          <a:p>
            <a:r>
              <a:t>Use a fictitious training event. Stop at Review unless a training submission has been authorized. Point to the three current step labels.</a:t>
            </a:r>
          </a:p>
          <a:p/>
          <a:p>
            <a:r>
              <a:t>Sources:</a:t>
            </a:r>
          </a:p>
          <a:p>
            <a:r>
              <a:t>app/(public)/account/(portal)/clubs/[organizationId]/events/page.tsx: https://github.com/DurantTL/IMSDA-Events/blob/47cd5c00780d0c2dd9e618b56c32e2fbd04b041a/app/%28public%29/account/%28portal%29/clubs/%5BorganizationId%5D/events/page.tsx</a:t>
            </a:r>
          </a:p>
          <a:p>
            <a:r>
              <a:t>app/(public)/account/(portal)/clubs/[organizationId]/events/[eventId]/page.tsx: https://github.com/DurantTL/IMSDA-Events/blob/47cd5c00780d0c2dd9e618b56c32e2fbd04b041a/app/%28public%29/account/%28portal%29/clubs/%5BorganizationId%5D/events/%5BeventId%5D/page.tsx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Return to the saved registration instead of starting another one just to check it. The page shows what was recorded and whether changes are still permitted. If Save changes is offered, use it and check the result. If the edit window is closed, contact the event team. Church-billed events use the sponsoring church's office billing process; submitting as director does not make the director personally responsible for an online balance. The packet and PDF are useful authorized working copies; keep them within the intended audience.</a:t>
            </a:r>
          </a:p>
          <a:p/>
          <a:p>
            <a:r>
              <a:t>SHOW / DEMO</a:t>
            </a:r>
          </a:p>
          <a:p>
            <a:r>
              <a:t>Point out View, Save changes if available, Print club packet and Download registration PDF on a fictitious record.</a:t>
            </a:r>
          </a:p>
          <a:p/>
          <a:p>
            <a:r>
              <a:t>Sources:</a:t>
            </a:r>
          </a:p>
          <a:p>
            <a:r>
              <a:t>app/(public)/account/(portal)/clubs/[organizationId]/events/[eventId]/page.tsx: https://github.com/DurantTL/IMSDA-Events/blob/47cd5c00780d0c2dd9e618b56c32e2fbd04b041a/app/%28public%29/account/%28portal%29/clubs/%5BorganizationId%5D/events/%5BeventId%5D/page.tsx</a:t>
            </a:r>
          </a:p>
          <a:p>
            <a:r>
              <a:t>docs/INVOICES.md: https://github.com/DurantTL/IMSDA-Events/blob/47cd5c00780d0c2dd9e618b56c32e2fbd04b041a/docs/INVOICES.md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These tools help turn the club's records into useful follow-up. Honors records supported earned honors. Class tracking covers the current class and award items, not a generic checklist of every possible curriculum requirement. Orders is a supply helper and stock/hand-out workflow, not an online store checkout. When you need a roster file, build the export, preview the selected columns and download only the information needed for the task. The options depend on the helper's actual role.</a:t>
            </a:r>
          </a:p>
          <a:p/>
          <a:p>
            <a:r>
              <a:t>SHOW / DEMO</a:t>
            </a:r>
          </a:p>
          <a:p>
            <a:r>
              <a:t>Point to Honors → Export CSV or Print report, Orders → Export list (CSV) or Printable list, and Roster → Build a roster export.</a:t>
            </a:r>
          </a:p>
          <a:p/>
          <a:p>
            <a:r>
              <a:t>Sources:</a:t>
            </a:r>
          </a:p>
          <a:p>
            <a:r>
              <a:t>app/(public)/account/(portal)/clubs/[organizationId]/honors/page.tsx: https://github.com/DurantTL/IMSDA-Events/blob/47cd5c00780d0c2dd9e618b56c32e2fbd04b041a/app/%28public%29/account/%28portal%29/clubs/%5BorganizationId%5D/honors/page.tsx</a:t>
            </a:r>
          </a:p>
          <a:p>
            <a:r>
              <a:t>app/(public)/account/(portal)/clubs/[organizationId]/class-tracking/page.tsx: https://github.com/DurantTL/IMSDA-Events/blob/47cd5c00780d0c2dd9e618b56c32e2fbd04b041a/app/%28public%29/account/%28portal%29/clubs/%5BorganizationId%5D/class-tracking/page.tsx</a:t>
            </a:r>
          </a:p>
          <a:p>
            <a:r>
              <a:t>app/(public)/account/(portal)/clubs/[organizationId]/orders/page.tsx: https://github.com/DurantTL/IMSDA-Events/blob/47cd5c00780d0c2dd9e618b56c32e2fbd04b041a/app/%28public%29/account/%28portal%29/clubs/%5BorganizationId%5D/orders/page.tsx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 coordinator side helps you understand how clubs are doing and where a director may need support. You use the recorded information rather than requesting another copy of every spreadsheet. Most club detail is view-only. The director maintains their own club records; you review the work, understand the status and follow up on the specific item. Your coordinator tools are not the director's editing menu.</a:t>
            </a:r>
          </a:p>
          <a:p/>
          <a:p>
            <a:r>
              <a:t>SHOW / DEMO</a:t>
            </a:r>
          </a:p>
          <a:p>
            <a:r>
              <a:t>From the Area coordinator card choose Clubs overview. Health information is a separate restricted workflow and is not required for this introductory tour.</a:t>
            </a:r>
          </a:p>
          <a:p/>
          <a:p>
            <a:r>
              <a:t>Sources:</a:t>
            </a:r>
          </a:p>
          <a:p>
            <a:r>
              <a:t>modules/club-reports/area-card-domain.ts: https://github.com/DurantTL/IMSDA-Events/blob/47cd5c00780d0c2dd9e618b56c32e2fbd04b041a/modules/club-reports/area-card-domain.ts</a:t>
            </a:r>
          </a:p>
          <a:p>
            <a:r>
              <a:t>components/area-clubs-subnav.tsx: https://github.com/DurantTL/IMSDA-Events/blob/47cd5c00780d0c2dd9e618b56c32e2fbd04b041a/components/area-clubs-subnav.tsx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All clubs is useful when you know the club you want. Search by the club name, church or city and choose Open. When you are reviewing another club, the page tells you it is view-only. It shows permitted information such as ages rather than full birth dates. If you are also a director of your own club, that separate director assignment can provide editing there; coordinator access by itself does not provide it. The current list contains active clubs rather than an enforced area-only filter.</a:t>
            </a:r>
          </a:p>
          <a:p/>
          <a:p>
            <a:r>
              <a:t>SHOW / DEMO</a:t>
            </a:r>
          </a:p>
          <a:p>
            <a:r>
              <a:t>Search for the fictitious Riverton Pathfinders. Do not show Orders, Club settings or other director-only tools as coordinator options.</a:t>
            </a:r>
          </a:p>
          <a:p/>
          <a:p>
            <a:r>
              <a:t>Sources:</a:t>
            </a:r>
          </a:p>
          <a:p>
            <a:r>
              <a:t>app/(public)/account/(portal)/clubs/page.tsx: https://github.com/DurantTL/IMSDA-Events/blob/47cd5c00780d0c2dd9e618b56c32e2fbd04b041a/app/%28public%29/account/%28portal%29/clubs/page.tsx</a:t>
            </a:r>
          </a:p>
          <a:p>
            <a:r>
              <a:t>modules/club-rosters/portal-nav.ts: https://github.com/DurantTL/IMSDA-Events/blob/47cd5c00780d0c2dd9e618b56c32e2fbd04b041a/modules/club-rosters/portal-nav.ts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Overview is a starting point, not a list you have to clear by clicking. Check the year in the heading. Review submitted reports, points and the other summaries. Sterling Volunteers is shown as counts here; open the club to understand the permitted adult information. Follow up after you know which month, record or event needs attention. There is no visible year dropdown on these pages, so use the year shown or ask for the appropriate link if it is not the year you need.</a:t>
            </a:r>
          </a:p>
          <a:p/>
          <a:p>
            <a:r>
              <a:t>SHOW / DEMO</a:t>
            </a:r>
          </a:p>
          <a:p>
            <a:r>
              <a:t>Point to the year heading, a report count, last report and a club link. Do not invent a Send reminder button or area filter.</a:t>
            </a:r>
          </a:p>
          <a:p/>
          <a:p>
            <a:r>
              <a:t>Sources:</a:t>
            </a:r>
          </a:p>
          <a:p>
            <a:r>
              <a:t>app/(public)/account/(portal)/area-clubs/overview/page.tsx: https://github.com/DurantTL/IMSDA-Events/blob/47cd5c00780d0c2dd9e618b56c32e2fbd04b041a/app/%28public%29/account/%28portal%29/area-clubs/overview/page.tsx</a:t>
            </a:r>
          </a:p>
          <a:p>
            <a:r>
              <a:t>components/area-clubs-views.tsx: https://github.com/DurantTL/IMSDA-Events/blob/47cd5c00780d0c2dd9e618b56c32e2fbd04b041a/components/area-clubs-views.tsx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 monthly grid shows what is on file. A points value links to a submitted report, and a late submission is labelled late. Draft means started but not submitted. Due is not the same as Missing: Missing means the due date has passed without a submitted record. A draft can still display Draft after that date. Future months are not yet due. Read a submitted record when you need the detail, and ask the director about the specific unfinished month rather than entering their report for them.</a:t>
            </a:r>
          </a:p>
          <a:p/>
          <a:p>
            <a:r>
              <a:t>SHOW / DEMO</a:t>
            </a:r>
          </a:p>
          <a:p>
            <a:r>
              <a:t>Use a fictitious club/month and contrast Draft with a submitted points link. Explain that the current due date is the tenth of the next month.</a:t>
            </a:r>
          </a:p>
          <a:p/>
          <a:p>
            <a:r>
              <a:t>Sources:</a:t>
            </a:r>
          </a:p>
          <a:p>
            <a:r>
              <a:t>app/(public)/account/(portal)/area-clubs/reports/page.tsx: https://github.com/DurantTL/IMSDA-Events/blob/47cd5c00780d0c2dd9e618b56c32e2fbd04b041a/app/%28public%29/account/%28portal%29/area-clubs/reports/page.tsx</a:t>
            </a:r>
          </a:p>
          <a:p>
            <a:r>
              <a:t>modules/club-reports/area-summary-domain.ts: https://github.com/DurantTL/IMSDA-Events/blob/47cd5c00780d0c2dd9e618b56c32e2fbd04b041a/modules/club-reports/area-summary-domain.ts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Points gives you a chart and a table. Submitted report points and the yearly registration points are shown separately so a total can be explained. Under the current rule, an on-time yearly registration contributes fifteen hundred points. Search can narrow what you see, while the rank is based on the full list. Download points CSV includes the whole year's authorized clubs. Do not send that file expecting it to contain only the name search shown on your screen.</a:t>
            </a:r>
          </a:p>
          <a:p/>
          <a:p>
            <a:r>
              <a:t>SHOW / DEMO</a:t>
            </a:r>
          </a:p>
          <a:p>
            <a:r>
              <a:t>Point out the separate points components, sort controls and Download points CSV. Overview also offers the summary and points downloads.</a:t>
            </a:r>
          </a:p>
          <a:p/>
          <a:p>
            <a:r>
              <a:t>Sources:</a:t>
            </a:r>
          </a:p>
          <a:p>
            <a:r>
              <a:t>app/(public)/account/(portal)/area-clubs/points/page.tsx: https://github.com/DurantTL/IMSDA-Events/blob/47cd5c00780d0c2dd9e618b56c32e2fbd04b041a/app/%28public%29/account/%28portal%29/area-clubs/points/page.tsx</a:t>
            </a:r>
          </a:p>
          <a:p>
            <a:r>
              <a:t>modules/club-reports/area-export.ts: https://github.com/DurantTL/IMSDA-Events/blob/47cd5c00780d0c2dd9e618b56c32e2fbd04b041a/modules/club-reports/area-export.ts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Club events helps you see participation. The roster tells you who belongs to a club; this view tells you whether a club is registered for an event and the number included. Read the actual state. A draft is not a completed registration, a waitlist is not a confirmed place and a cancelled record is history. If you search the club rows, the event total can still describe the whole event. This is oversight of participation, not permission to submit every club's registration.</a:t>
            </a:r>
          </a:p>
          <a:p/>
          <a:p>
            <a:r>
              <a:t>SHOW / DEMO</a:t>
            </a:r>
          </a:p>
          <a:p>
            <a:r>
              <a:t>Point out status, headcount and event total using fictitious records. Use the director’s normal process for corrections.</a:t>
            </a:r>
          </a:p>
          <a:p/>
          <a:p>
            <a:r>
              <a:t>Sources:</a:t>
            </a:r>
          </a:p>
          <a:p>
            <a:r>
              <a:t>app/(public)/account/(portal)/area-clubs/events/page.tsx: https://github.com/DurantTL/IMSDA-Events/blob/47cd5c00780d0c2dd9e618b56c32e2fbd04b041a/app/%28public%29/account/%28portal%29/area-clubs/events/page.tsx</a:t>
            </a:r>
          </a:p>
          <a:p>
            <a:r>
              <a:t>components/area-clubs-views.tsx: https://github.com/DurantTL/IMSDA-Events/blob/47cd5c00780d0c2dd9e618b56c32e2fbd04b041a/components/area-clubs-views.tsx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Most coordinator work is view-only. Team approvals is a specific exception. It concerns the team-member requests for your event locations, with the current event's age and eligibility rules shown on the page. Read the request before approving or declining. A decline tells the director what needs correction; it does not automatically remove the person. New clubs is a different review page. You may read the application, but the conference administrator approves or declines it.</a:t>
            </a:r>
          </a:p>
          <a:p/>
          <a:p>
            <a:r>
              <a:t>SHOW / DEMO</a:t>
            </a:r>
          </a:p>
          <a:p>
            <a:r>
              <a:t>Use a fictitious team request and stop before a real decision. A staff support act-as view cannot substitute for the real coordinator’s decision authority.</a:t>
            </a:r>
          </a:p>
          <a:p/>
          <a:p>
            <a:r>
              <a:t>Sources:</a:t>
            </a:r>
          </a:p>
          <a:p>
            <a:r>
              <a:t>app/(public)/account/(portal)/area-clubs/team-permissions/page.tsx: https://github.com/DurantTL/IMSDA-Events/blob/47cd5c00780d0c2dd9e618b56c32e2fbd04b041a/app/%28public%29/account/%28portal%29/area-clubs/team-permissions/page.tsx</a:t>
            </a:r>
          </a:p>
          <a:p>
            <a:r>
              <a:t>app/(public)/account/(portal)/area-clubs/applications/page.tsx: https://github.com/DurantTL/IMSDA-Events/blob/47cd5c00780d0c2dd9e618b56c32e2fbd04b041a/app/%28public%29/account/%28portal%29/area-clubs/applications/page.tsx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Imagine Overview suggests that Riverton needs attention. I open Monthly Records and find October. I check whether it is a draft, missing, or a submitted report I can read. Then I contact the director about that particular record and ask what help is needed. Before an event, I can use the same habit in Club events. This follow-up is a conversation through the normal conference process; the overview has not automatically sent a reminder or completed the report.</a:t>
            </a:r>
          </a:p>
          <a:p/>
          <a:p>
            <a:r>
              <a:t>ASK</a:t>
            </a:r>
          </a:p>
          <a:p>
            <a:r>
              <a:t>If the record says Draft, what is the useful next question for the director?</a:t>
            </a:r>
          </a:p>
          <a:p/>
          <a:p>
            <a:r>
              <a:t>Sources:</a:t>
            </a:r>
          </a:p>
          <a:p>
            <a:r>
              <a:t>components/area-clubs-views.tsx: https://github.com/DurantTL/IMSDA-Events/blob/47cd5c00780d0c2dd9e618b56c32e2fbd04b041a/components/area-clubs-views.tsx</a:t>
            </a:r>
          </a:p>
          <a:p>
            <a:r>
              <a:t>modules/club-reports/area-summary-domain.ts: https://github.com/DurantTL/IMSDA-Events/blob/47cd5c00780d0c2dd9e618b56c32e2fbd04b041a/modules/club-reports/area-summary-domain.ts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You do not need to explore every page every day. A director can keep the roster current, add notes while meetings are fresh and make time to finish the Monthly Record. Before an event, review who is going. A coordinator can begin with the summaries, open the item that needs attention and make a focused follow-up. These are suggested working habits, not a new reporting policy or an automatic schedule.</a:t>
            </a:r>
          </a:p>
          <a:p/>
          <a:p>
            <a:r>
              <a:t>ASK</a:t>
            </a:r>
          </a:p>
          <a:p>
            <a:r>
              <a:t>Which part of this routine would be easiest to build into your normal club work?</a:t>
            </a:r>
          </a:p>
          <a:p/>
          <a:p>
            <a:r>
              <a:t>Sources:</a:t>
            </a:r>
          </a:p>
          <a:p>
            <a:r>
              <a:t>modules/club-rosters/portal-nav.ts: https://github.com/DurantTL/IMSDA-Events/blob/47cd5c00780d0c2dd9e618b56c32e2fbd04b041a/modules/club-rosters/portal-nav.ts</a:t>
            </a:r>
          </a:p>
          <a:p>
            <a:r>
              <a:t>components/area-clubs-subnav.tsx: https://github.com/DurantTL/IMSDA-Events/blob/47cd5c00780d0c2dd9e618b56c32e2fbd04b041a/components/area-clubs-subnav.tsx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If you cannot remember the password, use Forgot password and request the email code. Return in the same browser, enter the code and new password, then Set new password. If sign-in works but your club is missing, check the email shown and ask the office about the invitation or assignment; do not create another account. If you need support for a page, describe the task and visible error. Leave passwords, codes, private links and member health details out of screenshots and messages.</a:t>
            </a:r>
          </a:p>
          <a:p/>
          <a:p>
            <a:r>
              <a:t>SHOW / DEMO</a:t>
            </a:r>
          </a:p>
          <a:p>
            <a:r>
              <a:t>Point to Forgot password? and the authenticator help link. Use the conference’s existing support route; no new support address is introduced by this deck.</a:t>
            </a:r>
          </a:p>
          <a:p/>
          <a:p>
            <a:r>
              <a:t>Sources:</a:t>
            </a:r>
          </a:p>
          <a:p>
            <a:r>
              <a:t>components/attendee-password-reset-form.tsx: https://github.com/DurantTL/IMSDA-Events/blob/47cd5c00780d0c2dd9e618b56c32e2fbd04b041a/components/attendee-password-reset-form.tsx</a:t>
            </a:r>
          </a:p>
          <a:p>
            <a:r>
              <a:t>app/(public)/account/help/authenticator/page.tsx: https://github.com/DurantTL/IMSDA-Events/blob/47cd5c00780d0c2dd9e618b56c32e2fbd04b041a/app/%28public%29/account/help/authenticator/page.tsx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Before leaving, check the result of the task you were doing. A saved draft means you can continue; Submitted means the report was sent; an event registration has its own confirmation and status. Then choose Sign out, especially on a shared computer. Closing the browser tab is not the same action. Next time, return to the website and use the account you already have.</a:t>
            </a:r>
          </a:p>
          <a:p/>
          <a:p>
            <a:r>
              <a:t>SHOW / DEMO</a:t>
            </a:r>
          </a:p>
          <a:p>
            <a:r>
              <a:t>Point to Sign out without displaying another person’s session or credentials.</a:t>
            </a:r>
          </a:p>
          <a:p/>
          <a:p>
            <a:r>
              <a:t>Sources:</a:t>
            </a:r>
          </a:p>
          <a:p>
            <a:r>
              <a:t>components/attendee-sign-out-button.tsx: https://github.com/DurantTL/IMSDA-Events/blob/47cd5c00780d0c2dd9e618b56c32e2fbd04b041a/components/attendee-sign-out-button.tsx</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 goal is not to memorize every menu today. Remember your own account, the right club or coordinator context, and the result of the task. Directors keep the club's information up to date. Coordinators use that information to understand progress and offer help. You can come back to the guides when you need the exact steps.</a:t>
            </a:r>
          </a:p>
          <a:p/>
          <a:p>
            <a:r>
              <a:t>ASK</a:t>
            </a:r>
          </a:p>
          <a:p>
            <a:r>
              <a:t>Invite questions about a task people need to do next. Use the quick-start handout for sign-in and role-specific reminders.</a:t>
            </a:r>
          </a:p>
          <a:p/>
          <a:p>
            <a:r>
              <a:t>Sources:</a:t>
            </a:r>
          </a:p>
          <a:p>
            <a:r>
              <a:t>app/page.tsx: https://github.com/DurantTL/IMSDA-Events/blob/47cd5c00780d0c2dd9e618b56c32e2fbd04b041a/app/page.tsx</a:t>
            </a:r>
          </a:p>
          <a:p>
            <a:r>
              <a:t>modules/club-rosters/portal-nav.ts: https://github.com/DurantTL/IMSDA-Events/blob/47cd5c00780d0c2dd9e618b56c32e2fbd04b041a/modules/club-rosters/portal-nav.ts</a:t>
            </a:r>
          </a:p>
          <a:p>
            <a:r>
              <a:t>components/area-clubs-subnav.tsx: https://github.com/DurantTL/IMSDA-Events/blob/47cd5c00780d0c2dd9e618b56c32e2fbd04b041a/components/area-clubs-subnav.tsx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nts.imsda.org" TargetMode="External"/><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F0B323"/>
                </a:solidFill>
                <a:latin typeface="Noto Sans"/>
              </a:defRPr>
            </a:pPr>
            <a:r>
              <a:t>WELCOME</a:t>
            </a:r>
          </a:p>
        </p:txBody>
      </p:sp>
      <p:sp>
        <p:nvSpPr>
          <p:cNvPr id="5" name="Rectangle 4"/>
          <p:cNvSpPr/>
          <p:nvPr/>
        </p:nvSpPr>
        <p:spPr>
          <a:xfrm>
            <a:off x="8915400" y="0"/>
            <a:ext cx="3291840" cy="685800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915400" y="6199632"/>
            <a:ext cx="3291840" cy="658368"/>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53312"/>
            <a:ext cx="7955279" cy="2286000"/>
          </a:xfrm>
          <a:prstGeom prst="rect">
            <a:avLst/>
          </a:prstGeom>
          <a:noFill/>
        </p:spPr>
        <p:txBody>
          <a:bodyPr wrap="square" lIns="0" rIns="0" tIns="0" bIns="0">
            <a:spAutoFit/>
          </a:bodyPr>
          <a:lstStyle/>
          <a:p>
            <a:pPr>
              <a:spcAft>
                <a:spcPts val="400"/>
              </a:spcAft>
              <a:defRPr sz="4300" b="1">
                <a:solidFill>
                  <a:srgbClr val="FFFFFF"/>
                </a:solidFill>
                <a:latin typeface="Noto Sans"/>
              </a:defRPr>
            </a:pPr>
            <a:r>
              <a:t>IMSDA Events</a:t>
            </a:r>
          </a:p>
          <a:p>
            <a:pPr>
              <a:spcAft>
                <a:spcPts val="400"/>
              </a:spcAft>
              <a:defRPr sz="4300" b="1">
                <a:solidFill>
                  <a:srgbClr val="FFFFFF"/>
                </a:solidFill>
                <a:latin typeface="Noto Sans"/>
              </a:defRPr>
            </a:pPr>
            <a:r>
              <a:t>Getting started</a:t>
            </a:r>
          </a:p>
        </p:txBody>
      </p:sp>
      <p:sp>
        <p:nvSpPr>
          <p:cNvPr id="8" name="TextBox 7"/>
          <p:cNvSpPr txBox="1"/>
          <p:nvPr/>
        </p:nvSpPr>
        <p:spPr>
          <a:xfrm>
            <a:off x="758952" y="3886200"/>
            <a:ext cx="7635240" cy="914400"/>
          </a:xfrm>
          <a:prstGeom prst="rect">
            <a:avLst/>
          </a:prstGeom>
          <a:noFill/>
        </p:spPr>
        <p:txBody>
          <a:bodyPr wrap="square" lIns="0" rIns="0" tIns="0" bIns="0">
            <a:spAutoFit/>
          </a:bodyPr>
          <a:lstStyle/>
          <a:p>
            <a:pPr>
              <a:spcAft>
                <a:spcPts val="400"/>
              </a:spcAft>
              <a:defRPr sz="2400" b="0">
                <a:solidFill>
                  <a:srgbClr val="FFFFFF"/>
                </a:solidFill>
                <a:latin typeface="Noto Sans"/>
              </a:defRPr>
            </a:pPr>
            <a:r>
              <a:t>Simple steps for club directors</a:t>
            </a:r>
          </a:p>
          <a:p>
            <a:pPr>
              <a:spcAft>
                <a:spcPts val="400"/>
              </a:spcAft>
              <a:defRPr sz="2400" b="0">
                <a:solidFill>
                  <a:srgbClr val="FFFFFF"/>
                </a:solidFill>
                <a:latin typeface="Noto Sans"/>
              </a:defRPr>
            </a:pPr>
            <a:r>
              <a:t>and Area Coordinators</a:t>
            </a:r>
          </a:p>
        </p:txBody>
      </p:sp>
      <p:sp>
        <p:nvSpPr>
          <p:cNvPr id="9" name="TextBox 8"/>
          <p:cNvSpPr txBox="1"/>
          <p:nvPr/>
        </p:nvSpPr>
        <p:spPr>
          <a:xfrm>
            <a:off x="758952" y="5687568"/>
            <a:ext cx="7498079" cy="548640"/>
          </a:xfrm>
          <a:prstGeom prst="rect">
            <a:avLst/>
          </a:prstGeom>
          <a:noFill/>
        </p:spPr>
        <p:txBody>
          <a:bodyPr wrap="square" lIns="0" rIns="0" tIns="0" bIns="0">
            <a:spAutoFit/>
          </a:bodyPr>
          <a:lstStyle/>
          <a:p>
            <a:pPr>
              <a:spcAft>
                <a:spcPts val="400"/>
              </a:spcAft>
              <a:defRPr sz="1200" b="0">
                <a:solidFill>
                  <a:srgbClr val="FFFFFF"/>
                </a:solidFill>
                <a:latin typeface="Noto Sans"/>
              </a:defRPr>
            </a:pPr>
            <a:r>
              <a:t>For club directors and Area Coordinators</a:t>
            </a:r>
          </a:p>
          <a:p>
            <a:pPr>
              <a:spcAft>
                <a:spcPts val="400"/>
              </a:spcAft>
              <a:defRPr sz="1200" b="0">
                <a:solidFill>
                  <a:srgbClr val="FFFFFF"/>
                </a:solidFill>
                <a:latin typeface="Noto Sans"/>
              </a:defRPr>
            </a:pPr>
            <a:r>
              <a:t>Practical orientation  ·  October 2026</a:t>
            </a:r>
          </a:p>
        </p:txBody>
      </p:sp>
      <p:sp>
        <p:nvSpPr>
          <p:cNvPr id="10" name="TextBox 9"/>
          <p:cNvSpPr txBox="1"/>
          <p:nvPr/>
        </p:nvSpPr>
        <p:spPr>
          <a:xfrm>
            <a:off x="9308592" y="1554480"/>
            <a:ext cx="2423160" cy="3566160"/>
          </a:xfrm>
          <a:prstGeom prst="rect">
            <a:avLst/>
          </a:prstGeom>
          <a:noFill/>
        </p:spPr>
        <p:txBody>
          <a:bodyPr wrap="square" lIns="0" rIns="0" tIns="0" bIns="0">
            <a:spAutoFit/>
          </a:bodyPr>
          <a:lstStyle/>
          <a:p>
            <a:pPr>
              <a:spcAft>
                <a:spcPts val="400"/>
              </a:spcAft>
              <a:defRPr sz="2400" b="1">
                <a:solidFill>
                  <a:srgbClr val="FFFFFF"/>
                </a:solidFill>
                <a:latin typeface="Noto Sans"/>
              </a:defRPr>
            </a:pPr>
            <a:r>
              <a:t>YOUR CLUB</a:t>
            </a:r>
          </a:p>
          <a:p>
            <a:pPr>
              <a:spcAft>
                <a:spcPts val="400"/>
              </a:spcAft>
              <a:defRPr sz="2400" b="1">
                <a:solidFill>
                  <a:srgbClr val="FFFFFF"/>
                </a:solidFill>
                <a:latin typeface="Noto Sans"/>
              </a:defRPr>
            </a:pPr>
          </a:p>
          <a:p>
            <a:pPr>
              <a:spcAft>
                <a:spcPts val="400"/>
              </a:spcAft>
              <a:defRPr sz="2400" b="1">
                <a:solidFill>
                  <a:srgbClr val="FFFFFF"/>
                </a:solidFill>
                <a:latin typeface="Noto Sans"/>
              </a:defRPr>
            </a:pPr>
            <a:r>
              <a:t>YOUR RECORDS</a:t>
            </a:r>
          </a:p>
          <a:p>
            <a:pPr>
              <a:spcAft>
                <a:spcPts val="400"/>
              </a:spcAft>
              <a:defRPr sz="2400" b="1">
                <a:solidFill>
                  <a:srgbClr val="FFFFFF"/>
                </a:solidFill>
                <a:latin typeface="Noto Sans"/>
              </a:defRPr>
            </a:pPr>
          </a:p>
          <a:p>
            <a:pPr>
              <a:spcAft>
                <a:spcPts val="400"/>
              </a:spcAft>
              <a:defRPr sz="2400" b="1">
                <a:solidFill>
                  <a:srgbClr val="FFFFFF"/>
                </a:solidFill>
                <a:latin typeface="Noto Sans"/>
              </a:defRPr>
            </a:pPr>
            <a:r>
              <a:t>YOUR EVENTS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WHAT IT DOES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Why we use IMSDA Events</a:t>
            </a:r>
          </a:p>
        </p:txBody>
      </p:sp>
      <p:sp>
        <p:nvSpPr>
          <p:cNvPr id="6" name="Rounded Rectangle 5"/>
          <p:cNvSpPr/>
          <p:nvPr/>
        </p:nvSpPr>
        <p:spPr>
          <a:xfrm>
            <a:off x="685800"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Keep club information together</a:t>
            </a:r>
          </a:p>
        </p:txBody>
      </p:sp>
      <p:sp>
        <p:nvSpPr>
          <p:cNvPr id="9" name="TextBox 8"/>
          <p:cNvSpPr txBox="1"/>
          <p:nvPr/>
        </p:nvSpPr>
        <p:spPr>
          <a:xfrm>
            <a:off x="86868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Maintain the roster, club forms, meeting records and achievements in one place.</a:t>
            </a:r>
          </a:p>
        </p:txBody>
      </p:sp>
      <p:sp>
        <p:nvSpPr>
          <p:cNvPr id="10" name="Rounded Rectangle 9"/>
          <p:cNvSpPr/>
          <p:nvPr/>
        </p:nvSpPr>
        <p:spPr>
          <a:xfrm>
            <a:off x="6195059"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5059"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794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Reuse the roster for events</a:t>
            </a:r>
          </a:p>
        </p:txBody>
      </p:sp>
      <p:sp>
        <p:nvSpPr>
          <p:cNvPr id="13" name="TextBox 12"/>
          <p:cNvSpPr txBox="1"/>
          <p:nvPr/>
        </p:nvSpPr>
        <p:spPr>
          <a:xfrm>
            <a:off x="637794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Choose the people attending instead of starting a new list each time.</a:t>
            </a:r>
          </a:p>
        </p:txBody>
      </p:sp>
      <p:sp>
        <p:nvSpPr>
          <p:cNvPr id="14" name="Rounded Rectangle 13"/>
          <p:cNvSpPr/>
          <p:nvPr/>
        </p:nvSpPr>
        <p:spPr>
          <a:xfrm>
            <a:off x="685800"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See what needs attention</a:t>
            </a:r>
          </a:p>
        </p:txBody>
      </p:sp>
      <p:sp>
        <p:nvSpPr>
          <p:cNvPr id="17" name="TextBox 16"/>
          <p:cNvSpPr txBox="1"/>
          <p:nvPr/>
        </p:nvSpPr>
        <p:spPr>
          <a:xfrm>
            <a:off x="86868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Directors see their next tasks. Coordinators review records and participation.</a:t>
            </a:r>
          </a:p>
        </p:txBody>
      </p:sp>
      <p:sp>
        <p:nvSpPr>
          <p:cNvPr id="18" name="Rounded Rectangle 17"/>
          <p:cNvSpPr/>
          <p:nvPr/>
        </p:nvSpPr>
        <p:spPr>
          <a:xfrm>
            <a:off x="6195059"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5059"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Return to the saved record</a:t>
            </a:r>
          </a:p>
        </p:txBody>
      </p:sp>
      <p:sp>
        <p:nvSpPr>
          <p:cNvPr id="21" name="TextBox 20"/>
          <p:cNvSpPr txBox="1"/>
          <p:nvPr/>
        </p:nvSpPr>
        <p:spPr>
          <a:xfrm>
            <a:off x="637794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Find the report, registration, choices or approved working copy again.</a:t>
            </a:r>
          </a:p>
        </p:txBody>
      </p:sp>
      <p:sp>
        <p:nvSpPr>
          <p:cNvPr id="22" name="Rectangle 21"/>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4" name="TextBox 23"/>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02 /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HOW THE SYSTEM FITS TOGETHER</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Know which job you are doing</a:t>
            </a:r>
          </a:p>
        </p:txBody>
      </p:sp>
      <p:sp>
        <p:nvSpPr>
          <p:cNvPr id="6" name="Rounded Rectangle 5"/>
          <p:cNvSpPr/>
          <p:nvPr/>
        </p:nvSpPr>
        <p:spPr>
          <a:xfrm>
            <a:off x="685800"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Club roster</a:t>
            </a:r>
          </a:p>
        </p:txBody>
      </p:sp>
      <p:sp>
        <p:nvSpPr>
          <p:cNvPr id="9" name="TextBox 8"/>
          <p:cNvSpPr txBox="1"/>
          <p:nvPr/>
        </p:nvSpPr>
        <p:spPr>
          <a:xfrm>
            <a:off x="86868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Who belongs to the club for the year.</a:t>
            </a:r>
          </a:p>
        </p:txBody>
      </p:sp>
      <p:sp>
        <p:nvSpPr>
          <p:cNvPr id="10" name="Rounded Rectangle 9"/>
          <p:cNvSpPr/>
          <p:nvPr/>
        </p:nvSpPr>
        <p:spPr>
          <a:xfrm>
            <a:off x="6195059"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5059"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794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Event registration</a:t>
            </a:r>
          </a:p>
        </p:txBody>
      </p:sp>
      <p:sp>
        <p:nvSpPr>
          <p:cNvPr id="13" name="TextBox 12"/>
          <p:cNvSpPr txBox="1"/>
          <p:nvPr/>
        </p:nvSpPr>
        <p:spPr>
          <a:xfrm>
            <a:off x="637794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Who is going to one event, and the choices made for them.</a:t>
            </a:r>
          </a:p>
        </p:txBody>
      </p:sp>
      <p:sp>
        <p:nvSpPr>
          <p:cNvPr id="14" name="Rounded Rectangle 13"/>
          <p:cNvSpPr/>
          <p:nvPr/>
        </p:nvSpPr>
        <p:spPr>
          <a:xfrm>
            <a:off x="685800"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Your account</a:t>
            </a:r>
          </a:p>
        </p:txBody>
      </p:sp>
      <p:sp>
        <p:nvSpPr>
          <p:cNvPr id="17" name="TextBox 16"/>
          <p:cNvSpPr txBox="1"/>
          <p:nvPr/>
        </p:nvSpPr>
        <p:spPr>
          <a:xfrm>
            <a:off x="86868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Your sign-in and the tools assigned to you.</a:t>
            </a:r>
          </a:p>
        </p:txBody>
      </p:sp>
      <p:sp>
        <p:nvSpPr>
          <p:cNvPr id="18" name="Rounded Rectangle 17"/>
          <p:cNvSpPr/>
          <p:nvPr/>
        </p:nvSpPr>
        <p:spPr>
          <a:xfrm>
            <a:off x="6195059"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5059"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Coordinator view</a:t>
            </a:r>
          </a:p>
        </p:txBody>
      </p:sp>
      <p:sp>
        <p:nvSpPr>
          <p:cNvPr id="21" name="TextBox 20"/>
          <p:cNvSpPr txBox="1"/>
          <p:nvPr/>
        </p:nvSpPr>
        <p:spPr>
          <a:xfrm>
            <a:off x="637794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An overview of clubs, submitted records, points and participation.</a:t>
            </a:r>
          </a:p>
        </p:txBody>
      </p:sp>
      <p:sp>
        <p:nvSpPr>
          <p:cNvPr id="22" name="Rectangle 21"/>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4" name="TextBox 23"/>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03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SIGNING IN</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Begin at the same website</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events.imsda.org</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Open the website</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Go to events.imsda.org.</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Choose Sign in</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Sign in at the top of the page.</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Use your own account</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Enter the email and password for your existing account.</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Already signed in? Choose My account or My club to continue.</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04 /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FIRST-TIME ACCESS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New director? Accept the club invitation</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Your personal club invitation → Your account</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Check the invited email</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the address that received the invitation.</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Sign in or create an account</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Already have an account? Use it. New here? Create one.</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Choose Accept</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On your account page, accept the correct club and role.</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An account and a club invitation do different jobs. Accept connects you to the club.</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05 /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FIRST-TIME ACCESS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Creating an account: verify your email</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Create an account → Create account → Verify and continue</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Enter your details</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your name, invited email and a password meeting the checklist.</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Find the emailed code</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Keep this browser open while you check your email.</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Verify and continue</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Enter the six-digit email code on the verification page.</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The email code proves your address. It is different from the extra sign-in code.</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06 / 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SIGNING IN</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Returning users: sign in and continue</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events.imsda.org → Sign in</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Use your existing account</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Enter Email address and Password, then Sign in.</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Confirm it is you</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your authenticator, recovery code or offered passkey.</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Open your workspace</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Continue to My club, or the Area coordinator card.</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You do not need a new invitation each time you return to an accepted club role.</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07 /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PROTECTING CLUB INFORMATION</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Why the extra sign-in step matters</a:t>
            </a:r>
          </a:p>
        </p:txBody>
      </p:sp>
      <p:sp>
        <p:nvSpPr>
          <p:cNvPr id="6" name="Rounded Rectangle 5"/>
          <p:cNvSpPr/>
          <p:nvPr/>
        </p:nvSpPr>
        <p:spPr>
          <a:xfrm>
            <a:off x="685800"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Protect the club’s records</a:t>
            </a:r>
          </a:p>
        </p:txBody>
      </p:sp>
      <p:sp>
        <p:nvSpPr>
          <p:cNvPr id="9" name="TextBox 8"/>
          <p:cNvSpPr txBox="1"/>
          <p:nvPr/>
        </p:nvSpPr>
        <p:spPr>
          <a:xfrm>
            <a:off x="86868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Club tools can open personal information about young people.</a:t>
            </a:r>
          </a:p>
        </p:txBody>
      </p:sp>
      <p:sp>
        <p:nvSpPr>
          <p:cNvPr id="10" name="Rounded Rectangle 9"/>
          <p:cNvSpPr/>
          <p:nvPr/>
        </p:nvSpPr>
        <p:spPr>
          <a:xfrm>
            <a:off x="6195059"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5059"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794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Use one supported method</a:t>
            </a:r>
          </a:p>
        </p:txBody>
      </p:sp>
      <p:sp>
        <p:nvSpPr>
          <p:cNvPr id="13" name="TextBox 12"/>
          <p:cNvSpPr txBox="1"/>
          <p:nvPr/>
        </p:nvSpPr>
        <p:spPr>
          <a:xfrm>
            <a:off x="637794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An authenticator app, or a passkey when offered, meets the requirement.</a:t>
            </a:r>
          </a:p>
        </p:txBody>
      </p:sp>
      <p:sp>
        <p:nvSpPr>
          <p:cNvPr id="14" name="Rounded Rectangle 13"/>
          <p:cNvSpPr/>
          <p:nvPr/>
        </p:nvSpPr>
        <p:spPr>
          <a:xfrm>
            <a:off x="685800"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Keep recovery available</a:t>
            </a:r>
          </a:p>
        </p:txBody>
      </p:sp>
      <p:sp>
        <p:nvSpPr>
          <p:cNvPr id="17" name="TextBox 16"/>
          <p:cNvSpPr txBox="1"/>
          <p:nvPr/>
        </p:nvSpPr>
        <p:spPr>
          <a:xfrm>
            <a:off x="86868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Save the one-time recovery codes when they are shown.</a:t>
            </a:r>
          </a:p>
        </p:txBody>
      </p:sp>
      <p:sp>
        <p:nvSpPr>
          <p:cNvPr id="18" name="Rounded Rectangle 17"/>
          <p:cNvSpPr/>
          <p:nvPr/>
        </p:nvSpPr>
        <p:spPr>
          <a:xfrm>
            <a:off x="6195059"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5059"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Use your own sign-in</a:t>
            </a:r>
          </a:p>
        </p:txBody>
      </p:sp>
      <p:sp>
        <p:nvSpPr>
          <p:cNvPr id="21" name="TextBox 20"/>
          <p:cNvSpPr txBox="1"/>
          <p:nvPr/>
        </p:nvSpPr>
        <p:spPr>
          <a:xfrm>
            <a:off x="637794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Keep passwords and codes private; ask for your own access.</a:t>
            </a:r>
          </a:p>
        </p:txBody>
      </p:sp>
      <p:sp>
        <p:nvSpPr>
          <p:cNvPr id="22" name="Rectangle 21"/>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4" name="TextBox 23"/>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08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FIRST-TIME SECURITY SETUP</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Set up an authenticator when prompted</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Set up two-step sign-in → Set up an authenticator</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Add the account to your app</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Follow the displayed instructions and setup key.</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Confirm and turn on</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Enter Code from your authenticator, then confirm.</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Save recovery codes</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Choose I’ve saved these codes, then Continue.</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Need an app? Use Which app should I use? on the setup screen.</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09 /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AFTER SIGN-IN</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Open the workspace for your responsibility</a:t>
            </a:r>
          </a:p>
        </p:txBody>
      </p:sp>
      <p:sp>
        <p:nvSpPr>
          <p:cNvPr id="6" name="Rounded Rectangle 5"/>
          <p:cNvSpPr/>
          <p:nvPr/>
        </p:nvSpPr>
        <p:spPr>
          <a:xfrm>
            <a:off x="685800"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Director or deputy</a:t>
            </a:r>
          </a:p>
        </p:txBody>
      </p:sp>
      <p:sp>
        <p:nvSpPr>
          <p:cNvPr id="9" name="TextBox 8"/>
          <p:cNvSpPr txBox="1"/>
          <p:nvPr/>
        </p:nvSpPr>
        <p:spPr>
          <a:xfrm>
            <a:off x="86868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Choose My club or My clubs, then the correct club if asked.</a:t>
            </a:r>
          </a:p>
        </p:txBody>
      </p:sp>
      <p:sp>
        <p:nvSpPr>
          <p:cNvPr id="10" name="Rounded Rectangle 9"/>
          <p:cNvSpPr/>
          <p:nvPr/>
        </p:nvSpPr>
        <p:spPr>
          <a:xfrm>
            <a:off x="6195059"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5059"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794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Area Coordinator</a:t>
            </a:r>
          </a:p>
        </p:txBody>
      </p:sp>
      <p:sp>
        <p:nvSpPr>
          <p:cNvPr id="13" name="TextBox 12"/>
          <p:cNvSpPr txBox="1"/>
          <p:nvPr/>
        </p:nvSpPr>
        <p:spPr>
          <a:xfrm>
            <a:off x="637794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On the Area coordinator card, choose Clubs overview. Clubs also opens your club list.</a:t>
            </a:r>
          </a:p>
        </p:txBody>
      </p:sp>
      <p:sp>
        <p:nvSpPr>
          <p:cNvPr id="14" name="Rounded Rectangle 13"/>
          <p:cNvSpPr/>
          <p:nvPr/>
        </p:nvSpPr>
        <p:spPr>
          <a:xfrm>
            <a:off x="685800"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Personal event registration</a:t>
            </a:r>
          </a:p>
        </p:txBody>
      </p:sp>
      <p:sp>
        <p:nvSpPr>
          <p:cNvPr id="17" name="TextBox 16"/>
          <p:cNvSpPr txBox="1"/>
          <p:nvPr/>
        </p:nvSpPr>
        <p:spPr>
          <a:xfrm>
            <a:off x="86868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Use My registrations for your own accessible registrations.</a:t>
            </a:r>
          </a:p>
        </p:txBody>
      </p:sp>
      <p:sp>
        <p:nvSpPr>
          <p:cNvPr id="18" name="Rounded Rectangle 17"/>
          <p:cNvSpPr/>
          <p:nvPr/>
        </p:nvSpPr>
        <p:spPr>
          <a:xfrm>
            <a:off x="6195059"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5059"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Tools missing?</a:t>
            </a:r>
          </a:p>
        </p:txBody>
      </p:sp>
      <p:sp>
        <p:nvSpPr>
          <p:cNvPr id="21" name="TextBox 20"/>
          <p:cNvSpPr txBox="1"/>
          <p:nvPr/>
        </p:nvSpPr>
        <p:spPr>
          <a:xfrm>
            <a:off x="637794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Check the account email, then ask the office to check your assignment.</a:t>
            </a:r>
          </a:p>
        </p:txBody>
      </p:sp>
      <p:sp>
        <p:nvSpPr>
          <p:cNvPr id="22" name="Rectangle 21"/>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4" name="TextBox 23"/>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10 /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CLUB DIRECTORS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Directors: start at your club Home</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My club → Home</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Check the club and year</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Read the heading before changing information.</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Read the next task</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Home brings together the items needing attention.</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Open the section you need</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Start with Roster, Forms, Monthly Records or Club events.</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A deputy has the director’s capabilities. Other club helpers may see fewer tools.</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11 /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CLUB DIRECTORS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Add a member to the roster</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Roster → Add to roster</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Open Add to roster</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Check first that the person is not already listed.</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Enter the requested details</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the real club record, with information you are allowed to enter.</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Check the saved row</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Choose Add to roster and confirm the person appears.</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The roster keeps club membership. You choose event attendance separately.</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12 /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CLUB DIRECTORS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Update a member without losing their history</a:t>
            </a:r>
          </a:p>
        </p:txBody>
      </p:sp>
      <p:sp>
        <p:nvSpPr>
          <p:cNvPr id="6" name="Rounded Rectangle 5"/>
          <p:cNvSpPr/>
          <p:nvPr/>
        </p:nvSpPr>
        <p:spPr>
          <a:xfrm>
            <a:off x="685800"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Edit and Save</a:t>
            </a:r>
          </a:p>
        </p:txBody>
      </p:sp>
      <p:sp>
        <p:nvSpPr>
          <p:cNvPr id="9" name="TextBox 8"/>
          <p:cNvSpPr txBox="1"/>
          <p:nvPr/>
        </p:nvSpPr>
        <p:spPr>
          <a:xfrm>
            <a:off x="86868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Use the person’s Edit control to correct the existing record.</a:t>
            </a:r>
          </a:p>
        </p:txBody>
      </p:sp>
      <p:sp>
        <p:nvSpPr>
          <p:cNvPr id="10" name="Rounded Rectangle 9"/>
          <p:cNvSpPr/>
          <p:nvPr/>
        </p:nvSpPr>
        <p:spPr>
          <a:xfrm>
            <a:off x="6195059"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5059"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794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Deactivate</a:t>
            </a:r>
          </a:p>
        </p:txBody>
      </p:sp>
      <p:sp>
        <p:nvSpPr>
          <p:cNvPr id="13" name="TextBox 12"/>
          <p:cNvSpPr txBox="1"/>
          <p:nvPr/>
        </p:nvSpPr>
        <p:spPr>
          <a:xfrm>
            <a:off x="637794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Keep the person on file while omitting them from new registrations.</a:t>
            </a:r>
          </a:p>
        </p:txBody>
      </p:sp>
      <p:sp>
        <p:nvSpPr>
          <p:cNvPr id="14" name="Rounded Rectangle 13"/>
          <p:cNvSpPr/>
          <p:nvPr/>
        </p:nvSpPr>
        <p:spPr>
          <a:xfrm>
            <a:off x="685800"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Reactivate</a:t>
            </a:r>
          </a:p>
        </p:txBody>
      </p:sp>
      <p:sp>
        <p:nvSpPr>
          <p:cNvPr id="17" name="TextBox 16"/>
          <p:cNvSpPr txBox="1"/>
          <p:nvPr/>
        </p:nvSpPr>
        <p:spPr>
          <a:xfrm>
            <a:off x="86868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Return an inactive person to the active roster when appropriate.</a:t>
            </a:r>
          </a:p>
        </p:txBody>
      </p:sp>
      <p:sp>
        <p:nvSpPr>
          <p:cNvPr id="18" name="Rounded Rectangle 17"/>
          <p:cNvSpPr/>
          <p:nvPr/>
        </p:nvSpPr>
        <p:spPr>
          <a:xfrm>
            <a:off x="6195059"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5059"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Remove</a:t>
            </a:r>
          </a:p>
        </p:txBody>
      </p:sp>
      <p:sp>
        <p:nvSpPr>
          <p:cNvPr id="21" name="TextBox 20"/>
          <p:cNvSpPr txBox="1"/>
          <p:nvPr/>
        </p:nvSpPr>
        <p:spPr>
          <a:xfrm>
            <a:off x="637794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Read carefully: this erases roster details and cannot be undone.</a:t>
            </a:r>
          </a:p>
        </p:txBody>
      </p:sp>
      <p:sp>
        <p:nvSpPr>
          <p:cNvPr id="22" name="Rectangle 21"/>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4" name="TextBox 23"/>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13 /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CLUB DIRECTORS &amp; DEPUTIES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Collect and find club forms</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Forms → Available form → Filled forms</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Choose an available form</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The conference enables the forms shown here.</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Complete or request it</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Fill in for a member, or use the private-link option.</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Return to Filled forms</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Open a draft, or choose View and print for a submitted form.</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A sent link and a submitted form are different states. Keep private links private.</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CLUB DIRECTORS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After a meeting: record it while it is fresh</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Monthly Records → Month → Add meeting note</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Open the right month</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Choose the month for the meeting you are recording.</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Add meeting note</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Enter the date, counts and meeting details.</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Save the note</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optional attendance check-off if your role has it.</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Meeting notes help you prepare the Monthly Record later.</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15 / 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CLUB DIRECTORS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Finish and submit the Monthly Record</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Monthly Records → Month → Open Monthly Record / Continue report</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Review the month</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Check the details and the due date shown.</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Save draft if unfinished</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A draft lets you return; it has not been submitted.</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Submit report</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Submit when ready and check that the result says Submitted.</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The current due date is the 10th of the following month. Check the date on the page.</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16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CLUB DIRECTORS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Register the people who are going</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Club events → Register or Continue</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Who’s going</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Select the actual attendees from your roster.</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Each person’s details</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Complete the requested location, class and other choices.</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Review</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Check the people and choices, then submit and look for confirmation.</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A saved draft is not a completed registration. Read full, waitlist and deadline messages.</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17 /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CLUB DIRECTORS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Return to a registration you already made</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Club events → View</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Open the existing record</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Check the people, choices and current status.</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Make permitted changes</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Save changes when the event’s edit window allows it.</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Find the working copy</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Print club packet or Download registration PDF where offered.</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For a church-billed event, the sponsoring church follows the office billing process.</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CLUB DIRECTORS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Use achievements and supply tools when needed</a:t>
            </a:r>
          </a:p>
        </p:txBody>
      </p:sp>
      <p:sp>
        <p:nvSpPr>
          <p:cNvPr id="6" name="Rounded Rectangle 5"/>
          <p:cNvSpPr/>
          <p:nvPr/>
        </p:nvSpPr>
        <p:spPr>
          <a:xfrm>
            <a:off x="685800"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Honors</a:t>
            </a:r>
          </a:p>
        </p:txBody>
      </p:sp>
      <p:sp>
        <p:nvSpPr>
          <p:cNvPr id="9" name="TextBox 8"/>
          <p:cNvSpPr txBox="1"/>
          <p:nvPr/>
        </p:nvSpPr>
        <p:spPr>
          <a:xfrm>
            <a:off x="86868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Record earned honors and use the available report or CSV.</a:t>
            </a:r>
          </a:p>
        </p:txBody>
      </p:sp>
      <p:sp>
        <p:nvSpPr>
          <p:cNvPr id="10" name="Rounded Rectangle 9"/>
          <p:cNvSpPr/>
          <p:nvPr/>
        </p:nvSpPr>
        <p:spPr>
          <a:xfrm>
            <a:off x="6195059"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5059"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794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Class tracking</a:t>
            </a:r>
          </a:p>
        </p:txBody>
      </p:sp>
      <p:sp>
        <p:nvSpPr>
          <p:cNvPr id="13" name="TextBox 12"/>
          <p:cNvSpPr txBox="1"/>
          <p:nvPr/>
        </p:nvSpPr>
        <p:spPr>
          <a:xfrm>
            <a:off x="637794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Review the supported class/award items and Master Award progress.</a:t>
            </a:r>
          </a:p>
        </p:txBody>
      </p:sp>
      <p:sp>
        <p:nvSpPr>
          <p:cNvPr id="14" name="Rounded Rectangle 13"/>
          <p:cNvSpPr/>
          <p:nvPr/>
        </p:nvSpPr>
        <p:spPr>
          <a:xfrm>
            <a:off x="685800"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Orders</a:t>
            </a:r>
          </a:p>
        </p:txBody>
      </p:sp>
      <p:sp>
        <p:nvSpPr>
          <p:cNvPr id="17" name="TextBox 16"/>
          <p:cNvSpPr txBox="1"/>
          <p:nvPr/>
        </p:nvSpPr>
        <p:spPr>
          <a:xfrm>
            <a:off x="86868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Prepare the helper list, check stock and track hand-outs.</a:t>
            </a:r>
          </a:p>
        </p:txBody>
      </p:sp>
      <p:sp>
        <p:nvSpPr>
          <p:cNvPr id="18" name="Rounded Rectangle 17"/>
          <p:cNvSpPr/>
          <p:nvPr/>
        </p:nvSpPr>
        <p:spPr>
          <a:xfrm>
            <a:off x="6195059"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5059"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Roster exports</a:t>
            </a:r>
          </a:p>
        </p:txBody>
      </p:sp>
      <p:sp>
        <p:nvSpPr>
          <p:cNvPr id="21" name="TextBox 20"/>
          <p:cNvSpPr txBox="1"/>
          <p:nvPr/>
        </p:nvSpPr>
        <p:spPr>
          <a:xfrm>
            <a:off x="637794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Build a roster export, Preview it, then Download CSV.</a:t>
            </a:r>
          </a:p>
        </p:txBody>
      </p:sp>
      <p:sp>
        <p:nvSpPr>
          <p:cNvPr id="22" name="Rectangle 21"/>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4" name="TextBox 23"/>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19 /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AREA COORDINATORS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Area Coordinators: see progress and offer help</a:t>
            </a:r>
          </a:p>
        </p:txBody>
      </p:sp>
      <p:sp>
        <p:nvSpPr>
          <p:cNvPr id="6" name="Rounded Rectangle 5"/>
          <p:cNvSpPr/>
          <p:nvPr/>
        </p:nvSpPr>
        <p:spPr>
          <a:xfrm>
            <a:off x="685800"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Overview</a:t>
            </a:r>
          </a:p>
        </p:txBody>
      </p:sp>
      <p:sp>
        <p:nvSpPr>
          <p:cNvPr id="9" name="TextBox 8"/>
          <p:cNvSpPr txBox="1"/>
          <p:nvPr/>
        </p:nvSpPr>
        <p:spPr>
          <a:xfrm>
            <a:off x="86868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Identify the clubs and records needing a closer look.</a:t>
            </a:r>
          </a:p>
        </p:txBody>
      </p:sp>
      <p:sp>
        <p:nvSpPr>
          <p:cNvPr id="10" name="Rounded Rectangle 9"/>
          <p:cNvSpPr/>
          <p:nvPr/>
        </p:nvSpPr>
        <p:spPr>
          <a:xfrm>
            <a:off x="6195059"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5059"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794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Monthly Records</a:t>
            </a:r>
          </a:p>
        </p:txBody>
      </p:sp>
      <p:sp>
        <p:nvSpPr>
          <p:cNvPr id="13" name="TextBox 12"/>
          <p:cNvSpPr txBox="1"/>
          <p:nvPr/>
        </p:nvSpPr>
        <p:spPr>
          <a:xfrm>
            <a:off x="637794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Read submitted reports and notice unfinished or missing work.</a:t>
            </a:r>
          </a:p>
        </p:txBody>
      </p:sp>
      <p:sp>
        <p:nvSpPr>
          <p:cNvPr id="14" name="Rounded Rectangle 13"/>
          <p:cNvSpPr/>
          <p:nvPr/>
        </p:nvSpPr>
        <p:spPr>
          <a:xfrm>
            <a:off x="685800"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Points and events</a:t>
            </a:r>
          </a:p>
        </p:txBody>
      </p:sp>
      <p:sp>
        <p:nvSpPr>
          <p:cNvPr id="17" name="TextBox 16"/>
          <p:cNvSpPr txBox="1"/>
          <p:nvPr/>
        </p:nvSpPr>
        <p:spPr>
          <a:xfrm>
            <a:off x="86868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Understand recorded progress and event participation.</a:t>
            </a:r>
          </a:p>
        </p:txBody>
      </p:sp>
      <p:sp>
        <p:nvSpPr>
          <p:cNvPr id="18" name="Rounded Rectangle 17"/>
          <p:cNvSpPr/>
          <p:nvPr/>
        </p:nvSpPr>
        <p:spPr>
          <a:xfrm>
            <a:off x="6195059"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5059"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Follow up</a:t>
            </a:r>
          </a:p>
        </p:txBody>
      </p:sp>
      <p:sp>
        <p:nvSpPr>
          <p:cNvPr id="21" name="TextBox 20"/>
          <p:cNvSpPr txBox="1"/>
          <p:nvPr/>
        </p:nvSpPr>
        <p:spPr>
          <a:xfrm>
            <a:off x="637794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Open the relevant record, then contact the director or office.</a:t>
            </a:r>
          </a:p>
        </p:txBody>
      </p:sp>
      <p:sp>
        <p:nvSpPr>
          <p:cNvPr id="22" name="Rectangle 21"/>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4" name="TextBox 23"/>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20 /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AREA COORDINATORS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Find a club and open its information</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Clubs → All clubs → Open</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Open All clubs</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Clubs in your account navigation.</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Find the club</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Search by club name, church or city.</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Choose Open</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Read the club’s information; check the View only label.</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The club list shows available clubs. It does not currently enforce a “my area” selector.</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21 /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AREA COORDINATORS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Use Overview to choose your follow-up</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Clubs → Overview</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Check the year shown</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Make sure you are reading the intended club year.</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Review the summaries</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Look at reports, points, roster and reminder counts.</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Open the club</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Understand the item before contacting its director.</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A summary count points you to a task. Opening it does not complete the task.</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AREA COORDINATORS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Read Monthly Records and spot unfinished work</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Clubs → Monthly Records → Submitted month</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Find the club and month</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Check the year heading and the month column.</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Read the status</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Draft, Due, Missing and submitted points mean different things.</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Open a submitted month</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Select its points link to read the report.</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Missing means the due date passed. A draft is still unfinished, even after the due date.</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23 /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AREA COORDINATORS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Understand points and the downloaded file</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Clubs → Points → Download points CSV</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Check the year and total</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Submitted report points + yearly registration points.</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Read the chart or table</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Sort by points or club name when needed.</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Download points CSV</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the file for the full year’s authorized club list.</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A name search narrows the screen. The CSV covers the full year’s list, not just that search.</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24 /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AREA COORDINATORS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Check which clubs are going to an event</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Clubs → Club events</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Find the event</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Check the event and the year shown.</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Read each club’s status</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Registered, Draft, Waitlisted and Cancelled are different.</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Follow up with the director</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Ask about the specific unfinished registration or event choice.</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A club roster and an event registration answer different questions.</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25 /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AREA COORDINATORS</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Know the two special review pages</a:t>
            </a:r>
          </a:p>
        </p:txBody>
      </p:sp>
      <p:sp>
        <p:nvSpPr>
          <p:cNvPr id="6" name="Rounded Rectangle 5"/>
          <p:cNvSpPr/>
          <p:nvPr/>
        </p:nvSpPr>
        <p:spPr>
          <a:xfrm>
            <a:off x="685800"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Team approvals</a:t>
            </a:r>
          </a:p>
        </p:txBody>
      </p:sp>
      <p:sp>
        <p:nvSpPr>
          <p:cNvPr id="9" name="TextBox 8"/>
          <p:cNvSpPr txBox="1"/>
          <p:nvPr/>
        </p:nvSpPr>
        <p:spPr>
          <a:xfrm>
            <a:off x="86868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Review only requests assigned to your event locations. Read the event’s rules.</a:t>
            </a:r>
          </a:p>
        </p:txBody>
      </p:sp>
      <p:sp>
        <p:nvSpPr>
          <p:cNvPr id="10" name="Rounded Rectangle 9"/>
          <p:cNvSpPr/>
          <p:nvPr/>
        </p:nvSpPr>
        <p:spPr>
          <a:xfrm>
            <a:off x="6195059"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5059"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794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Approve or Decline</a:t>
            </a:r>
          </a:p>
        </p:txBody>
      </p:sp>
      <p:sp>
        <p:nvSpPr>
          <p:cNvPr id="13" name="TextBox 12"/>
          <p:cNvSpPr txBox="1"/>
          <p:nvPr/>
        </p:nvSpPr>
        <p:spPr>
          <a:xfrm>
            <a:off x="637794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Use these actions only when offered to your own coordinator account.</a:t>
            </a:r>
          </a:p>
        </p:txBody>
      </p:sp>
      <p:sp>
        <p:nvSpPr>
          <p:cNvPr id="14" name="Rounded Rectangle 13"/>
          <p:cNvSpPr/>
          <p:nvPr/>
        </p:nvSpPr>
        <p:spPr>
          <a:xfrm>
            <a:off x="685800"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New clubs</a:t>
            </a:r>
          </a:p>
        </p:txBody>
      </p:sp>
      <p:sp>
        <p:nvSpPr>
          <p:cNvPr id="17" name="TextBox 16"/>
          <p:cNvSpPr txBox="1"/>
          <p:nvPr/>
        </p:nvSpPr>
        <p:spPr>
          <a:xfrm>
            <a:off x="86868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Read the application information. A system administrator makes its decision.</a:t>
            </a:r>
          </a:p>
        </p:txBody>
      </p:sp>
      <p:sp>
        <p:nvSpPr>
          <p:cNvPr id="18" name="Rounded Rectangle 17"/>
          <p:cNvSpPr/>
          <p:nvPr/>
        </p:nvSpPr>
        <p:spPr>
          <a:xfrm>
            <a:off x="6195059"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5059"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Other club corrections</a:t>
            </a:r>
          </a:p>
        </p:txBody>
      </p:sp>
      <p:sp>
        <p:nvSpPr>
          <p:cNvPr id="21" name="TextBox 20"/>
          <p:cNvSpPr txBox="1"/>
          <p:nvPr/>
        </p:nvSpPr>
        <p:spPr>
          <a:xfrm>
            <a:off x="637794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Ask the director or office to update the record through the proper workflow.</a:t>
            </a:r>
          </a:p>
        </p:txBody>
      </p:sp>
      <p:sp>
        <p:nvSpPr>
          <p:cNvPr id="22" name="Rectangle 21"/>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4" name="TextBox 23"/>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26 /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PRACTICAL EXAMPLE</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A coordinator example: follow one missing item</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Overview → Monthly Records → Follow up</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Notice Riverton’s record</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Overview points you toward the unfinished month.</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Check the month’s state</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Read whether it is Draft, Missing or already submitted.</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Contact the director</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Name the club and month, and ask what help is needed.</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Use the saved information to make the conversation specific and useful.</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27 /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EVERYDAY USE</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Build a simple working rhythm</a:t>
            </a:r>
          </a:p>
        </p:txBody>
      </p:sp>
      <p:sp>
        <p:nvSpPr>
          <p:cNvPr id="6" name="Rounded Rectangle 5"/>
          <p:cNvSpPr/>
          <p:nvPr/>
        </p:nvSpPr>
        <p:spPr>
          <a:xfrm>
            <a:off x="685800" y="1965960"/>
            <a:ext cx="5285232" cy="388620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76272"/>
            <a:ext cx="4828032" cy="566928"/>
          </a:xfrm>
          <a:prstGeom prst="rect">
            <a:avLst/>
          </a:prstGeom>
          <a:noFill/>
        </p:spPr>
        <p:txBody>
          <a:bodyPr wrap="square" lIns="0" rIns="0" tIns="0" bIns="0">
            <a:spAutoFit/>
          </a:bodyPr>
          <a:lstStyle/>
          <a:p>
            <a:pPr>
              <a:spcAft>
                <a:spcPts val="400"/>
              </a:spcAft>
              <a:defRPr sz="2200" b="1">
                <a:solidFill>
                  <a:srgbClr val="582C83"/>
                </a:solidFill>
                <a:latin typeface="Noto Sans"/>
              </a:defRPr>
            </a:pPr>
            <a:r>
              <a:t>Club directors</a:t>
            </a:r>
          </a:p>
        </p:txBody>
      </p:sp>
      <p:sp>
        <p:nvSpPr>
          <p:cNvPr id="8" name="TextBox 7"/>
          <p:cNvSpPr txBox="1"/>
          <p:nvPr/>
        </p:nvSpPr>
        <p:spPr>
          <a:xfrm>
            <a:off x="914400" y="2898648"/>
            <a:ext cx="182880" cy="886968"/>
          </a:xfrm>
          <a:prstGeom prst="rect">
            <a:avLst/>
          </a:prstGeom>
          <a:noFill/>
        </p:spPr>
        <p:txBody>
          <a:bodyPr wrap="square" lIns="0" rIns="0" tIns="0" bIns="0">
            <a:spAutoFit/>
          </a:bodyPr>
          <a:lstStyle/>
          <a:p>
            <a:pPr>
              <a:spcAft>
                <a:spcPts val="400"/>
              </a:spcAft>
              <a:defRPr sz="1900" b="0">
                <a:solidFill>
                  <a:srgbClr val="582C83"/>
                </a:solidFill>
                <a:latin typeface="Noto Sans"/>
              </a:defRPr>
            </a:pPr>
            <a:r>
              <a:t>•</a:t>
            </a:r>
          </a:p>
        </p:txBody>
      </p:sp>
      <p:sp>
        <p:nvSpPr>
          <p:cNvPr id="9" name="TextBox 8"/>
          <p:cNvSpPr txBox="1"/>
          <p:nvPr/>
        </p:nvSpPr>
        <p:spPr>
          <a:xfrm>
            <a:off x="1207007" y="2898648"/>
            <a:ext cx="4526280" cy="886968"/>
          </a:xfrm>
          <a:prstGeom prst="rect">
            <a:avLst/>
          </a:prstGeom>
          <a:noFill/>
        </p:spPr>
        <p:txBody>
          <a:bodyPr wrap="square" lIns="0" rIns="0" tIns="0" bIns="0">
            <a:spAutoFit/>
          </a:bodyPr>
          <a:lstStyle/>
          <a:p>
            <a:pPr>
              <a:spcAft>
                <a:spcPts val="400"/>
              </a:spcAft>
              <a:defRPr sz="1830" b="0">
                <a:solidFill>
                  <a:srgbClr val="243640"/>
                </a:solidFill>
                <a:latin typeface="Noto Sans"/>
              </a:defRPr>
            </a:pPr>
            <a:r>
              <a:t>Update the roster when people or details change.</a:t>
            </a:r>
          </a:p>
        </p:txBody>
      </p:sp>
      <p:sp>
        <p:nvSpPr>
          <p:cNvPr id="10" name="TextBox 9"/>
          <p:cNvSpPr txBox="1"/>
          <p:nvPr/>
        </p:nvSpPr>
        <p:spPr>
          <a:xfrm>
            <a:off x="914400" y="3886200"/>
            <a:ext cx="182880" cy="886968"/>
          </a:xfrm>
          <a:prstGeom prst="rect">
            <a:avLst/>
          </a:prstGeom>
          <a:noFill/>
        </p:spPr>
        <p:txBody>
          <a:bodyPr wrap="square" lIns="0" rIns="0" tIns="0" bIns="0">
            <a:spAutoFit/>
          </a:bodyPr>
          <a:lstStyle/>
          <a:p>
            <a:pPr>
              <a:spcAft>
                <a:spcPts val="400"/>
              </a:spcAft>
              <a:defRPr sz="1900" b="0">
                <a:solidFill>
                  <a:srgbClr val="582C83"/>
                </a:solidFill>
                <a:latin typeface="Noto Sans"/>
              </a:defRPr>
            </a:pPr>
            <a:r>
              <a:t>•</a:t>
            </a:r>
          </a:p>
        </p:txBody>
      </p:sp>
      <p:sp>
        <p:nvSpPr>
          <p:cNvPr id="11" name="TextBox 10"/>
          <p:cNvSpPr txBox="1"/>
          <p:nvPr/>
        </p:nvSpPr>
        <p:spPr>
          <a:xfrm>
            <a:off x="1207007" y="3886200"/>
            <a:ext cx="4526280" cy="886968"/>
          </a:xfrm>
          <a:prstGeom prst="rect">
            <a:avLst/>
          </a:prstGeom>
          <a:noFill/>
        </p:spPr>
        <p:txBody>
          <a:bodyPr wrap="square" lIns="0" rIns="0" tIns="0" bIns="0">
            <a:spAutoFit/>
          </a:bodyPr>
          <a:lstStyle/>
          <a:p>
            <a:pPr>
              <a:spcAft>
                <a:spcPts val="400"/>
              </a:spcAft>
              <a:defRPr sz="1830" b="0">
                <a:solidFill>
                  <a:srgbClr val="243640"/>
                </a:solidFill>
                <a:latin typeface="Noto Sans"/>
              </a:defRPr>
            </a:pPr>
            <a:r>
              <a:t>Add meeting notes; finish and submit the Monthly Record.</a:t>
            </a:r>
          </a:p>
        </p:txBody>
      </p:sp>
      <p:sp>
        <p:nvSpPr>
          <p:cNvPr id="12" name="TextBox 11"/>
          <p:cNvSpPr txBox="1"/>
          <p:nvPr/>
        </p:nvSpPr>
        <p:spPr>
          <a:xfrm>
            <a:off x="914400" y="4873752"/>
            <a:ext cx="182880" cy="886968"/>
          </a:xfrm>
          <a:prstGeom prst="rect">
            <a:avLst/>
          </a:prstGeom>
          <a:noFill/>
        </p:spPr>
        <p:txBody>
          <a:bodyPr wrap="square" lIns="0" rIns="0" tIns="0" bIns="0">
            <a:spAutoFit/>
          </a:bodyPr>
          <a:lstStyle/>
          <a:p>
            <a:pPr>
              <a:spcAft>
                <a:spcPts val="400"/>
              </a:spcAft>
              <a:defRPr sz="1900" b="0">
                <a:solidFill>
                  <a:srgbClr val="582C83"/>
                </a:solidFill>
                <a:latin typeface="Noto Sans"/>
              </a:defRPr>
            </a:pPr>
            <a:r>
              <a:t>•</a:t>
            </a:r>
          </a:p>
        </p:txBody>
      </p:sp>
      <p:sp>
        <p:nvSpPr>
          <p:cNvPr id="13" name="TextBox 12"/>
          <p:cNvSpPr txBox="1"/>
          <p:nvPr/>
        </p:nvSpPr>
        <p:spPr>
          <a:xfrm>
            <a:off x="1207007" y="4873752"/>
            <a:ext cx="4526280" cy="886968"/>
          </a:xfrm>
          <a:prstGeom prst="rect">
            <a:avLst/>
          </a:prstGeom>
          <a:noFill/>
        </p:spPr>
        <p:txBody>
          <a:bodyPr wrap="square" lIns="0" rIns="0" tIns="0" bIns="0">
            <a:spAutoFit/>
          </a:bodyPr>
          <a:lstStyle/>
          <a:p>
            <a:pPr>
              <a:spcAft>
                <a:spcPts val="400"/>
              </a:spcAft>
              <a:defRPr sz="1830" b="0">
                <a:solidFill>
                  <a:srgbClr val="243640"/>
                </a:solidFill>
                <a:latin typeface="Noto Sans"/>
              </a:defRPr>
            </a:pPr>
            <a:r>
              <a:t>Before an event, check the actual attendees and choices.</a:t>
            </a:r>
          </a:p>
        </p:txBody>
      </p:sp>
      <p:sp>
        <p:nvSpPr>
          <p:cNvPr id="14" name="Rounded Rectangle 13"/>
          <p:cNvSpPr/>
          <p:nvPr/>
        </p:nvSpPr>
        <p:spPr>
          <a:xfrm>
            <a:off x="6227064" y="1965960"/>
            <a:ext cx="5285232" cy="388620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176272"/>
            <a:ext cx="4828032" cy="566928"/>
          </a:xfrm>
          <a:prstGeom prst="rect">
            <a:avLst/>
          </a:prstGeom>
          <a:noFill/>
        </p:spPr>
        <p:txBody>
          <a:bodyPr wrap="square" lIns="0" rIns="0" tIns="0" bIns="0">
            <a:spAutoFit/>
          </a:bodyPr>
          <a:lstStyle/>
          <a:p>
            <a:pPr>
              <a:spcAft>
                <a:spcPts val="400"/>
              </a:spcAft>
              <a:defRPr sz="2200" b="1">
                <a:solidFill>
                  <a:srgbClr val="582C83"/>
                </a:solidFill>
                <a:latin typeface="Noto Sans"/>
              </a:defRPr>
            </a:pPr>
            <a:r>
              <a:t>Area Coordinators</a:t>
            </a:r>
          </a:p>
        </p:txBody>
      </p:sp>
      <p:sp>
        <p:nvSpPr>
          <p:cNvPr id="16" name="TextBox 15"/>
          <p:cNvSpPr txBox="1"/>
          <p:nvPr/>
        </p:nvSpPr>
        <p:spPr>
          <a:xfrm>
            <a:off x="6455664" y="2898648"/>
            <a:ext cx="182880" cy="886968"/>
          </a:xfrm>
          <a:prstGeom prst="rect">
            <a:avLst/>
          </a:prstGeom>
          <a:noFill/>
        </p:spPr>
        <p:txBody>
          <a:bodyPr wrap="square" lIns="0" rIns="0" tIns="0" bIns="0">
            <a:spAutoFit/>
          </a:bodyPr>
          <a:lstStyle/>
          <a:p>
            <a:pPr>
              <a:spcAft>
                <a:spcPts val="400"/>
              </a:spcAft>
              <a:defRPr sz="1900" b="0">
                <a:solidFill>
                  <a:srgbClr val="582C83"/>
                </a:solidFill>
                <a:latin typeface="Noto Sans"/>
              </a:defRPr>
            </a:pPr>
            <a:r>
              <a:t>•</a:t>
            </a:r>
          </a:p>
        </p:txBody>
      </p:sp>
      <p:sp>
        <p:nvSpPr>
          <p:cNvPr id="17" name="TextBox 16"/>
          <p:cNvSpPr txBox="1"/>
          <p:nvPr/>
        </p:nvSpPr>
        <p:spPr>
          <a:xfrm>
            <a:off x="6748272" y="2898648"/>
            <a:ext cx="4526280" cy="886968"/>
          </a:xfrm>
          <a:prstGeom prst="rect">
            <a:avLst/>
          </a:prstGeom>
          <a:noFill/>
        </p:spPr>
        <p:txBody>
          <a:bodyPr wrap="square" lIns="0" rIns="0" tIns="0" bIns="0">
            <a:spAutoFit/>
          </a:bodyPr>
          <a:lstStyle/>
          <a:p>
            <a:pPr>
              <a:spcAft>
                <a:spcPts val="400"/>
              </a:spcAft>
              <a:defRPr sz="1830" b="0">
                <a:solidFill>
                  <a:srgbClr val="243640"/>
                </a:solidFill>
                <a:latin typeface="Noto Sans"/>
              </a:defRPr>
            </a:pPr>
            <a:r>
              <a:t>Begin with Overview and Monthly Records.</a:t>
            </a:r>
          </a:p>
        </p:txBody>
      </p:sp>
      <p:sp>
        <p:nvSpPr>
          <p:cNvPr id="18" name="TextBox 17"/>
          <p:cNvSpPr txBox="1"/>
          <p:nvPr/>
        </p:nvSpPr>
        <p:spPr>
          <a:xfrm>
            <a:off x="6455664" y="3886200"/>
            <a:ext cx="182880" cy="886968"/>
          </a:xfrm>
          <a:prstGeom prst="rect">
            <a:avLst/>
          </a:prstGeom>
          <a:noFill/>
        </p:spPr>
        <p:txBody>
          <a:bodyPr wrap="square" lIns="0" rIns="0" tIns="0" bIns="0">
            <a:spAutoFit/>
          </a:bodyPr>
          <a:lstStyle/>
          <a:p>
            <a:pPr>
              <a:spcAft>
                <a:spcPts val="400"/>
              </a:spcAft>
              <a:defRPr sz="1900" b="0">
                <a:solidFill>
                  <a:srgbClr val="582C83"/>
                </a:solidFill>
                <a:latin typeface="Noto Sans"/>
              </a:defRPr>
            </a:pPr>
            <a:r>
              <a:t>•</a:t>
            </a:r>
          </a:p>
        </p:txBody>
      </p:sp>
      <p:sp>
        <p:nvSpPr>
          <p:cNvPr id="19" name="TextBox 18"/>
          <p:cNvSpPr txBox="1"/>
          <p:nvPr/>
        </p:nvSpPr>
        <p:spPr>
          <a:xfrm>
            <a:off x="6748272" y="3886200"/>
            <a:ext cx="4526280" cy="886968"/>
          </a:xfrm>
          <a:prstGeom prst="rect">
            <a:avLst/>
          </a:prstGeom>
          <a:noFill/>
        </p:spPr>
        <p:txBody>
          <a:bodyPr wrap="square" lIns="0" rIns="0" tIns="0" bIns="0">
            <a:spAutoFit/>
          </a:bodyPr>
          <a:lstStyle/>
          <a:p>
            <a:pPr>
              <a:spcAft>
                <a:spcPts val="400"/>
              </a:spcAft>
              <a:defRPr sz="1830" b="0">
                <a:solidFill>
                  <a:srgbClr val="243640"/>
                </a:solidFill>
                <a:latin typeface="Noto Sans"/>
              </a:defRPr>
            </a:pPr>
            <a:r>
              <a:t>Review Club events before the next event.</a:t>
            </a:r>
          </a:p>
        </p:txBody>
      </p:sp>
      <p:sp>
        <p:nvSpPr>
          <p:cNvPr id="20" name="TextBox 19"/>
          <p:cNvSpPr txBox="1"/>
          <p:nvPr/>
        </p:nvSpPr>
        <p:spPr>
          <a:xfrm>
            <a:off x="6455664" y="4873752"/>
            <a:ext cx="182880" cy="886968"/>
          </a:xfrm>
          <a:prstGeom prst="rect">
            <a:avLst/>
          </a:prstGeom>
          <a:noFill/>
        </p:spPr>
        <p:txBody>
          <a:bodyPr wrap="square" lIns="0" rIns="0" tIns="0" bIns="0">
            <a:spAutoFit/>
          </a:bodyPr>
          <a:lstStyle/>
          <a:p>
            <a:pPr>
              <a:spcAft>
                <a:spcPts val="400"/>
              </a:spcAft>
              <a:defRPr sz="1900" b="0">
                <a:solidFill>
                  <a:srgbClr val="582C83"/>
                </a:solidFill>
                <a:latin typeface="Noto Sans"/>
              </a:defRPr>
            </a:pPr>
            <a:r>
              <a:t>•</a:t>
            </a:r>
          </a:p>
        </p:txBody>
      </p:sp>
      <p:sp>
        <p:nvSpPr>
          <p:cNvPr id="21" name="TextBox 20"/>
          <p:cNvSpPr txBox="1"/>
          <p:nvPr/>
        </p:nvSpPr>
        <p:spPr>
          <a:xfrm>
            <a:off x="6748272" y="4873752"/>
            <a:ext cx="4526280" cy="886968"/>
          </a:xfrm>
          <a:prstGeom prst="rect">
            <a:avLst/>
          </a:prstGeom>
          <a:noFill/>
        </p:spPr>
        <p:txBody>
          <a:bodyPr wrap="square" lIns="0" rIns="0" tIns="0" bIns="0">
            <a:spAutoFit/>
          </a:bodyPr>
          <a:lstStyle/>
          <a:p>
            <a:pPr>
              <a:spcAft>
                <a:spcPts val="400"/>
              </a:spcAft>
              <a:defRPr sz="1830" b="0">
                <a:solidFill>
                  <a:srgbClr val="243640"/>
                </a:solidFill>
                <a:latin typeface="Noto Sans"/>
              </a:defRPr>
            </a:pPr>
            <a:r>
              <a:t>Follow up on the specific record or assigned request.</a:t>
            </a:r>
          </a:p>
        </p:txBody>
      </p:sp>
      <p:sp>
        <p:nvSpPr>
          <p:cNvPr id="22" name="Rectangle 21"/>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4" name="TextBox 23"/>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28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GETTING HELP</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If something is missing or not working</a:t>
            </a:r>
          </a:p>
        </p:txBody>
      </p:sp>
      <p:sp>
        <p:nvSpPr>
          <p:cNvPr id="6" name="Rounded Rectangle 5"/>
          <p:cNvSpPr/>
          <p:nvPr/>
        </p:nvSpPr>
        <p:spPr>
          <a:xfrm>
            <a:off x="685800"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Forgot password?</a:t>
            </a:r>
          </a:p>
        </p:txBody>
      </p:sp>
      <p:sp>
        <p:nvSpPr>
          <p:cNvPr id="9" name="TextBox 8"/>
          <p:cNvSpPr txBox="1"/>
          <p:nvPr/>
        </p:nvSpPr>
        <p:spPr>
          <a:xfrm>
            <a:off x="86868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Use Forgot password? → Send me a code. Keep the same browser open.</a:t>
            </a:r>
          </a:p>
        </p:txBody>
      </p:sp>
      <p:sp>
        <p:nvSpPr>
          <p:cNvPr id="10" name="Rounded Rectangle 9"/>
          <p:cNvSpPr/>
          <p:nvPr/>
        </p:nvSpPr>
        <p:spPr>
          <a:xfrm>
            <a:off x="6195059" y="196596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5059" y="196596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7940" y="212140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Club or Clubs section missing?</a:t>
            </a:r>
          </a:p>
        </p:txBody>
      </p:sp>
      <p:sp>
        <p:nvSpPr>
          <p:cNvPr id="13" name="TextBox 12"/>
          <p:cNvSpPr txBox="1"/>
          <p:nvPr/>
        </p:nvSpPr>
        <p:spPr>
          <a:xfrm>
            <a:off x="6377940" y="267004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Check the signed-in email and ask the office to verify the invitation or assignment.</a:t>
            </a:r>
          </a:p>
        </p:txBody>
      </p:sp>
      <p:sp>
        <p:nvSpPr>
          <p:cNvPr id="14" name="Rounded Rectangle 13"/>
          <p:cNvSpPr/>
          <p:nvPr/>
        </p:nvSpPr>
        <p:spPr>
          <a:xfrm>
            <a:off x="685800"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Lost authenticator?</a:t>
            </a:r>
          </a:p>
        </p:txBody>
      </p:sp>
      <p:sp>
        <p:nvSpPr>
          <p:cNvPr id="17" name="TextBox 16"/>
          <p:cNvSpPr txBox="1"/>
          <p:nvPr/>
        </p:nvSpPr>
        <p:spPr>
          <a:xfrm>
            <a:off x="86868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Use an available recovery code or passkey; ask the office if neither is available.</a:t>
            </a:r>
          </a:p>
        </p:txBody>
      </p:sp>
      <p:sp>
        <p:nvSpPr>
          <p:cNvPr id="18" name="Rounded Rectangle 17"/>
          <p:cNvSpPr/>
          <p:nvPr/>
        </p:nvSpPr>
        <p:spPr>
          <a:xfrm>
            <a:off x="6195059" y="4069080"/>
            <a:ext cx="5308092" cy="192024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5059" y="4069080"/>
            <a:ext cx="41148" cy="192024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4224528"/>
            <a:ext cx="4942331" cy="484632"/>
          </a:xfrm>
          <a:prstGeom prst="rect">
            <a:avLst/>
          </a:prstGeom>
          <a:noFill/>
        </p:spPr>
        <p:txBody>
          <a:bodyPr wrap="square" lIns="0" rIns="0" tIns="0" bIns="0">
            <a:spAutoFit/>
          </a:bodyPr>
          <a:lstStyle/>
          <a:p>
            <a:pPr>
              <a:spcAft>
                <a:spcPts val="400"/>
              </a:spcAft>
              <a:defRPr sz="2100" b="1">
                <a:solidFill>
                  <a:srgbClr val="003B5C"/>
                </a:solidFill>
                <a:latin typeface="Noto Sans"/>
              </a:defRPr>
            </a:pPr>
            <a:r>
              <a:t>A page or save problem?</a:t>
            </a:r>
          </a:p>
        </p:txBody>
      </p:sp>
      <p:sp>
        <p:nvSpPr>
          <p:cNvPr id="21" name="TextBox 20"/>
          <p:cNvSpPr txBox="1"/>
          <p:nvPr/>
        </p:nvSpPr>
        <p:spPr>
          <a:xfrm>
            <a:off x="6377940" y="4773168"/>
            <a:ext cx="4942331" cy="1115568"/>
          </a:xfrm>
          <a:prstGeom prst="rect">
            <a:avLst/>
          </a:prstGeom>
          <a:noFill/>
        </p:spPr>
        <p:txBody>
          <a:bodyPr wrap="square" lIns="0" rIns="0" tIns="0" bIns="0">
            <a:spAutoFit/>
          </a:bodyPr>
          <a:lstStyle/>
          <a:p>
            <a:pPr>
              <a:spcAft>
                <a:spcPts val="400"/>
              </a:spcAft>
              <a:defRPr sz="1900" b="0">
                <a:solidFill>
                  <a:srgbClr val="243640"/>
                </a:solidFill>
                <a:latin typeface="Noto Sans"/>
              </a:defRPr>
            </a:pPr>
            <a:r>
              <a:t>Tell support the club/year or event, page, action and visible error.</a:t>
            </a:r>
          </a:p>
        </p:txBody>
      </p:sp>
      <p:sp>
        <p:nvSpPr>
          <p:cNvPr id="22" name="Rectangle 21"/>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4" name="TextBox 23"/>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29 /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BEFORE YOU LEAVE</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Finish safely and return next time</a:t>
            </a:r>
          </a:p>
        </p:txBody>
      </p:sp>
      <p:sp>
        <p:nvSpPr>
          <p:cNvPr id="6" name="TextBox 5"/>
          <p:cNvSpPr txBox="1"/>
          <p:nvPr/>
        </p:nvSpPr>
        <p:spPr>
          <a:xfrm>
            <a:off x="713232" y="1819656"/>
            <a:ext cx="10744200" cy="411480"/>
          </a:xfrm>
          <a:prstGeom prst="rect">
            <a:avLst/>
          </a:prstGeom>
          <a:noFill/>
        </p:spPr>
        <p:txBody>
          <a:bodyPr wrap="square" lIns="0" rIns="0" tIns="0" bIns="0">
            <a:spAutoFit/>
          </a:bodyPr>
          <a:lstStyle/>
          <a:p>
            <a:pPr>
              <a:spcAft>
                <a:spcPts val="400"/>
              </a:spcAft>
              <a:defRPr sz="1550" b="1">
                <a:solidFill>
                  <a:srgbClr val="582C83"/>
                </a:solidFill>
                <a:latin typeface="Noto Sans"/>
              </a:defRPr>
            </a:pPr>
            <a:r>
              <a:t>GO TO  Save → Check the result → Sign out</a:t>
            </a:r>
          </a:p>
        </p:txBody>
      </p:sp>
      <p:sp>
        <p:nvSpPr>
          <p:cNvPr id="7" name="Rounded Rectangle 6"/>
          <p:cNvSpPr/>
          <p:nvPr/>
        </p:nvSpPr>
        <p:spPr>
          <a:xfrm>
            <a:off x="685800"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1</a:t>
            </a:r>
          </a:p>
        </p:txBody>
      </p:sp>
      <p:sp>
        <p:nvSpPr>
          <p:cNvPr id="10" name="TextBox 9"/>
          <p:cNvSpPr txBox="1"/>
          <p:nvPr/>
        </p:nvSpPr>
        <p:spPr>
          <a:xfrm>
            <a:off x="896112"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Check what saved</a:t>
            </a:r>
          </a:p>
        </p:txBody>
      </p:sp>
      <p:sp>
        <p:nvSpPr>
          <p:cNvPr id="11" name="TextBox 10"/>
          <p:cNvSpPr txBox="1"/>
          <p:nvPr/>
        </p:nvSpPr>
        <p:spPr>
          <a:xfrm>
            <a:off x="896112"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Check whether your task saved, submitted or confirmed.</a:t>
            </a:r>
          </a:p>
        </p:txBody>
      </p:sp>
      <p:sp>
        <p:nvSpPr>
          <p:cNvPr id="12" name="Rounded Rectangle 11"/>
          <p:cNvSpPr/>
          <p:nvPr/>
        </p:nvSpPr>
        <p:spPr>
          <a:xfrm>
            <a:off x="4361688"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5"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2</a:t>
            </a:r>
          </a:p>
        </p:txBody>
      </p:sp>
      <p:sp>
        <p:nvSpPr>
          <p:cNvPr id="15" name="TextBox 14"/>
          <p:cNvSpPr txBox="1"/>
          <p:nvPr/>
        </p:nvSpPr>
        <p:spPr>
          <a:xfrm>
            <a:off x="4572000"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Choose Sign out</a:t>
            </a:r>
          </a:p>
        </p:txBody>
      </p:sp>
      <p:sp>
        <p:nvSpPr>
          <p:cNvPr id="16" name="TextBox 15"/>
          <p:cNvSpPr txBox="1"/>
          <p:nvPr/>
        </p:nvSpPr>
        <p:spPr>
          <a:xfrm>
            <a:off x="4572000"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Use Sign out, especially on a shared device.</a:t>
            </a:r>
          </a:p>
        </p:txBody>
      </p:sp>
      <p:sp>
        <p:nvSpPr>
          <p:cNvPr id="17" name="Rounded Rectangle 16"/>
          <p:cNvSpPr/>
          <p:nvPr/>
        </p:nvSpPr>
        <p:spPr>
          <a:xfrm>
            <a:off x="8037575" y="2441448"/>
            <a:ext cx="3447288" cy="278892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38744" y="2651760"/>
            <a:ext cx="438912" cy="420624"/>
          </a:xfrm>
          <a:prstGeom prst="roundRect">
            <a:avLst>
              <a:gd name="adj" fmla="val 8000"/>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697480"/>
            <a:ext cx="274320" cy="320040"/>
          </a:xfrm>
          <a:prstGeom prst="rect">
            <a:avLst/>
          </a:prstGeom>
          <a:noFill/>
        </p:spPr>
        <p:txBody>
          <a:bodyPr wrap="square" lIns="0" rIns="0" tIns="0" bIns="0">
            <a:spAutoFit/>
          </a:bodyPr>
          <a:lstStyle/>
          <a:p>
            <a:pPr>
              <a:spcAft>
                <a:spcPts val="400"/>
              </a:spcAft>
              <a:defRPr sz="1700" b="1">
                <a:solidFill>
                  <a:srgbClr val="003B5C"/>
                </a:solidFill>
                <a:latin typeface="Noto Sans"/>
              </a:defRPr>
            </a:pPr>
            <a:r>
              <a:t>3</a:t>
            </a:r>
          </a:p>
        </p:txBody>
      </p:sp>
      <p:sp>
        <p:nvSpPr>
          <p:cNvPr id="20" name="TextBox 19"/>
          <p:cNvSpPr txBox="1"/>
          <p:nvPr/>
        </p:nvSpPr>
        <p:spPr>
          <a:xfrm>
            <a:off x="8247888" y="3255264"/>
            <a:ext cx="3026664" cy="786384"/>
          </a:xfrm>
          <a:prstGeom prst="rect">
            <a:avLst/>
          </a:prstGeom>
          <a:noFill/>
        </p:spPr>
        <p:txBody>
          <a:bodyPr wrap="square" lIns="0" rIns="0" tIns="0" bIns="0">
            <a:spAutoFit/>
          </a:bodyPr>
          <a:lstStyle/>
          <a:p>
            <a:pPr>
              <a:spcAft>
                <a:spcPts val="400"/>
              </a:spcAft>
              <a:defRPr sz="2100" b="1">
                <a:solidFill>
                  <a:srgbClr val="003B5C"/>
                </a:solidFill>
                <a:latin typeface="Noto Sans"/>
              </a:defRPr>
            </a:pPr>
            <a:r>
              <a:t>Return to the same website</a:t>
            </a:r>
          </a:p>
        </p:txBody>
      </p:sp>
      <p:sp>
        <p:nvSpPr>
          <p:cNvPr id="21" name="TextBox 20"/>
          <p:cNvSpPr txBox="1"/>
          <p:nvPr/>
        </p:nvSpPr>
        <p:spPr>
          <a:xfrm>
            <a:off x="8247888" y="4096512"/>
            <a:ext cx="3026664" cy="1088136"/>
          </a:xfrm>
          <a:prstGeom prst="rect">
            <a:avLst/>
          </a:prstGeom>
          <a:noFill/>
        </p:spPr>
        <p:txBody>
          <a:bodyPr wrap="square" lIns="0" rIns="0" tIns="0" bIns="0">
            <a:spAutoFit/>
          </a:bodyPr>
          <a:lstStyle/>
          <a:p>
            <a:pPr>
              <a:spcAft>
                <a:spcPts val="400"/>
              </a:spcAft>
              <a:defRPr sz="2000" b="0">
                <a:solidFill>
                  <a:srgbClr val="243640"/>
                </a:solidFill>
                <a:latin typeface="Noto Sans"/>
              </a:defRPr>
            </a:pPr>
            <a:r>
              <a:t>Next time: events.imsda.org → Sign in.</a:t>
            </a:r>
          </a:p>
        </p:txBody>
      </p:sp>
      <p:sp>
        <p:nvSpPr>
          <p:cNvPr id="22" name="Rounded Rectangle 21"/>
          <p:cNvSpPr/>
          <p:nvPr/>
        </p:nvSpPr>
        <p:spPr>
          <a:xfrm>
            <a:off x="685800" y="5504688"/>
            <a:ext cx="10799064" cy="621792"/>
          </a:xfrm>
          <a:prstGeom prst="roundRect">
            <a:avLst>
              <a:gd name="adj" fmla="val 8000"/>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605272"/>
            <a:ext cx="10396728" cy="448056"/>
          </a:xfrm>
          <a:prstGeom prst="rect">
            <a:avLst/>
          </a:prstGeom>
          <a:noFill/>
        </p:spPr>
        <p:txBody>
          <a:bodyPr wrap="square" lIns="0" rIns="0" tIns="0" bIns="0">
            <a:spAutoFit/>
          </a:bodyPr>
          <a:lstStyle/>
          <a:p>
            <a:pPr>
              <a:spcAft>
                <a:spcPts val="400"/>
              </a:spcAft>
              <a:defRPr sz="1650" b="0">
                <a:solidFill>
                  <a:srgbClr val="FFFFFF"/>
                </a:solidFill>
                <a:latin typeface="Noto Sans"/>
              </a:defRPr>
            </a:pPr>
            <a:r>
              <a:t>Keep your existing account, authenticator/passkey and recovery information available.</a:t>
            </a:r>
          </a:p>
        </p:txBody>
      </p:sp>
      <p:sp>
        <p:nvSpPr>
          <p:cNvPr id="24" name="Rectangle 23"/>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6" name="TextBox 25"/>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30 /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60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38912"/>
            <a:ext cx="118872" cy="182880"/>
          </a:xfrm>
          <a:prstGeom prst="rect">
            <a:avLst/>
          </a:prstGeom>
          <a:solidFill>
            <a:srgbClr val="F0B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10789920" cy="320040"/>
          </a:xfrm>
          <a:prstGeom prst="rect">
            <a:avLst/>
          </a:prstGeom>
          <a:noFill/>
        </p:spPr>
        <p:txBody>
          <a:bodyPr wrap="square" lIns="0" rIns="0" tIns="0" bIns="0">
            <a:spAutoFit/>
          </a:bodyPr>
          <a:lstStyle/>
          <a:p>
            <a:pPr>
              <a:spcAft>
                <a:spcPts val="400"/>
              </a:spcAft>
              <a:defRPr sz="1100" b="1">
                <a:solidFill>
                  <a:srgbClr val="582C83"/>
                </a:solidFill>
                <a:latin typeface="Noto Sans"/>
              </a:defRPr>
            </a:pPr>
            <a:r>
              <a:t>READY TO START</a:t>
            </a:r>
          </a:p>
        </p:txBody>
      </p:sp>
      <p:sp>
        <p:nvSpPr>
          <p:cNvPr id="5" name="TextBox 4"/>
          <p:cNvSpPr txBox="1"/>
          <p:nvPr/>
        </p:nvSpPr>
        <p:spPr>
          <a:xfrm>
            <a:off x="685800" y="896112"/>
            <a:ext cx="10835640" cy="914400"/>
          </a:xfrm>
          <a:prstGeom prst="rect">
            <a:avLst/>
          </a:prstGeom>
          <a:noFill/>
        </p:spPr>
        <p:txBody>
          <a:bodyPr wrap="square" lIns="0" rIns="0" tIns="0" bIns="0">
            <a:spAutoFit/>
          </a:bodyPr>
          <a:lstStyle/>
          <a:p>
            <a:pPr>
              <a:spcAft>
                <a:spcPts val="400"/>
              </a:spcAft>
              <a:defRPr sz="3100" b="1">
                <a:solidFill>
                  <a:srgbClr val="003B5C"/>
                </a:solidFill>
                <a:latin typeface="Noto Sans"/>
              </a:defRPr>
            </a:pPr>
            <a:r>
              <a:t>The three things to remember</a:t>
            </a:r>
          </a:p>
        </p:txBody>
      </p:sp>
      <p:sp>
        <p:nvSpPr>
          <p:cNvPr id="6" name="Rounded Rectangle 5"/>
          <p:cNvSpPr/>
          <p:nvPr/>
        </p:nvSpPr>
        <p:spPr>
          <a:xfrm>
            <a:off x="685800" y="1965960"/>
            <a:ext cx="3471672" cy="356616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65960"/>
            <a:ext cx="41148" cy="356616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21408"/>
            <a:ext cx="3105912" cy="484632"/>
          </a:xfrm>
          <a:prstGeom prst="rect">
            <a:avLst/>
          </a:prstGeom>
          <a:noFill/>
        </p:spPr>
        <p:txBody>
          <a:bodyPr wrap="square" lIns="0" rIns="0" tIns="0" bIns="0">
            <a:spAutoFit/>
          </a:bodyPr>
          <a:lstStyle/>
          <a:p>
            <a:pPr>
              <a:spcAft>
                <a:spcPts val="400"/>
              </a:spcAft>
              <a:defRPr sz="2200" b="1">
                <a:solidFill>
                  <a:srgbClr val="003B5C"/>
                </a:solidFill>
                <a:latin typeface="Noto Sans"/>
              </a:defRPr>
            </a:pPr>
            <a:r>
              <a:t>Use your own account</a:t>
            </a:r>
          </a:p>
        </p:txBody>
      </p:sp>
      <p:sp>
        <p:nvSpPr>
          <p:cNvPr id="9" name="TextBox 8"/>
          <p:cNvSpPr txBox="1"/>
          <p:nvPr/>
        </p:nvSpPr>
        <p:spPr>
          <a:xfrm>
            <a:off x="868680" y="2670048"/>
            <a:ext cx="3105912" cy="2761488"/>
          </a:xfrm>
          <a:prstGeom prst="rect">
            <a:avLst/>
          </a:prstGeom>
          <a:noFill/>
        </p:spPr>
        <p:txBody>
          <a:bodyPr wrap="square" lIns="0" rIns="0" tIns="0" bIns="0">
            <a:spAutoFit/>
          </a:bodyPr>
          <a:lstStyle/>
          <a:p>
            <a:pPr>
              <a:spcAft>
                <a:spcPts val="400"/>
              </a:spcAft>
              <a:defRPr sz="2000" b="0">
                <a:solidFill>
                  <a:srgbClr val="243640"/>
                </a:solidFill>
                <a:latin typeface="Noto Sans"/>
              </a:defRPr>
            </a:pPr>
            <a:r>
              <a:t>Sign in at events.imsda.org and complete the requested confirmation.</a:t>
            </a:r>
          </a:p>
        </p:txBody>
      </p:sp>
      <p:sp>
        <p:nvSpPr>
          <p:cNvPr id="10" name="Rounded Rectangle 9"/>
          <p:cNvSpPr/>
          <p:nvPr/>
        </p:nvSpPr>
        <p:spPr>
          <a:xfrm>
            <a:off x="4358640" y="1965960"/>
            <a:ext cx="3471672" cy="356616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58640" y="1965960"/>
            <a:ext cx="41148" cy="356616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1520" y="2121408"/>
            <a:ext cx="3105912" cy="484632"/>
          </a:xfrm>
          <a:prstGeom prst="rect">
            <a:avLst/>
          </a:prstGeom>
          <a:noFill/>
        </p:spPr>
        <p:txBody>
          <a:bodyPr wrap="square" lIns="0" rIns="0" tIns="0" bIns="0">
            <a:spAutoFit/>
          </a:bodyPr>
          <a:lstStyle/>
          <a:p>
            <a:pPr>
              <a:spcAft>
                <a:spcPts val="400"/>
              </a:spcAft>
              <a:defRPr sz="2200" b="1">
                <a:solidFill>
                  <a:srgbClr val="003B5C"/>
                </a:solidFill>
                <a:latin typeface="Noto Sans"/>
              </a:defRPr>
            </a:pPr>
            <a:r>
              <a:t>Right club or role</a:t>
            </a:r>
          </a:p>
        </p:txBody>
      </p:sp>
      <p:sp>
        <p:nvSpPr>
          <p:cNvPr id="13" name="TextBox 12"/>
          <p:cNvSpPr txBox="1"/>
          <p:nvPr/>
        </p:nvSpPr>
        <p:spPr>
          <a:xfrm>
            <a:off x="4541520" y="2670048"/>
            <a:ext cx="3105912" cy="2761488"/>
          </a:xfrm>
          <a:prstGeom prst="rect">
            <a:avLst/>
          </a:prstGeom>
          <a:noFill/>
        </p:spPr>
        <p:txBody>
          <a:bodyPr wrap="square" lIns="0" rIns="0" tIns="0" bIns="0">
            <a:spAutoFit/>
          </a:bodyPr>
          <a:lstStyle/>
          <a:p>
            <a:pPr>
              <a:spcAft>
                <a:spcPts val="400"/>
              </a:spcAft>
              <a:defRPr sz="2000" b="0">
                <a:solidFill>
                  <a:srgbClr val="243640"/>
                </a:solidFill>
                <a:latin typeface="Noto Sans"/>
              </a:defRPr>
            </a:pPr>
            <a:r>
              <a:t>Check your club and year, or use the coordinator view for oversight.</a:t>
            </a:r>
          </a:p>
        </p:txBody>
      </p:sp>
      <p:sp>
        <p:nvSpPr>
          <p:cNvPr id="14" name="Rounded Rectangle 13"/>
          <p:cNvSpPr/>
          <p:nvPr/>
        </p:nvSpPr>
        <p:spPr>
          <a:xfrm>
            <a:off x="8031480" y="1965960"/>
            <a:ext cx="3471672" cy="3566160"/>
          </a:xfrm>
          <a:prstGeom prst="roundRect">
            <a:avLst>
              <a:gd name="adj" fmla="val 8000"/>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1480" y="1965960"/>
            <a:ext cx="41148" cy="3566160"/>
          </a:xfrm>
          <a:prstGeom prst="rect">
            <a:avLst/>
          </a:prstGeom>
          <a:solidFill>
            <a:srgbClr val="582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4359" y="2121408"/>
            <a:ext cx="3105912" cy="484632"/>
          </a:xfrm>
          <a:prstGeom prst="rect">
            <a:avLst/>
          </a:prstGeom>
          <a:noFill/>
        </p:spPr>
        <p:txBody>
          <a:bodyPr wrap="square" lIns="0" rIns="0" tIns="0" bIns="0">
            <a:spAutoFit/>
          </a:bodyPr>
          <a:lstStyle/>
          <a:p>
            <a:pPr>
              <a:spcAft>
                <a:spcPts val="400"/>
              </a:spcAft>
              <a:defRPr sz="2200" b="1">
                <a:solidFill>
                  <a:srgbClr val="003B5C"/>
                </a:solidFill>
                <a:latin typeface="Noto Sans"/>
              </a:defRPr>
            </a:pPr>
            <a:r>
              <a:t>Check the result</a:t>
            </a:r>
          </a:p>
        </p:txBody>
      </p:sp>
      <p:sp>
        <p:nvSpPr>
          <p:cNvPr id="17" name="TextBox 16"/>
          <p:cNvSpPr txBox="1"/>
          <p:nvPr/>
        </p:nvSpPr>
        <p:spPr>
          <a:xfrm>
            <a:off x="8214359" y="2670048"/>
            <a:ext cx="3105912" cy="2761488"/>
          </a:xfrm>
          <a:prstGeom prst="rect">
            <a:avLst/>
          </a:prstGeom>
          <a:noFill/>
        </p:spPr>
        <p:txBody>
          <a:bodyPr wrap="square" lIns="0" rIns="0" tIns="0" bIns="0">
            <a:spAutoFit/>
          </a:bodyPr>
          <a:lstStyle/>
          <a:p>
            <a:pPr>
              <a:spcAft>
                <a:spcPts val="400"/>
              </a:spcAft>
              <a:defRPr sz="2000" b="0">
                <a:solidFill>
                  <a:srgbClr val="243640"/>
                </a:solidFill>
                <a:latin typeface="Noto Sans"/>
              </a:defRPr>
            </a:pPr>
            <a:r>
              <a:t>Read whether the task saved, submitted or confirmed; ask for help when needed.</a:t>
            </a:r>
          </a:p>
        </p:txBody>
      </p:sp>
      <p:sp>
        <p:nvSpPr>
          <p:cNvPr id="18" name="Rectangle 17"/>
          <p:cNvSpPr/>
          <p:nvPr/>
        </p:nvSpPr>
        <p:spPr>
          <a:xfrm>
            <a:off x="685800" y="6281928"/>
            <a:ext cx="10817352" cy="10972"/>
          </a:xfrm>
          <a:prstGeom prst="rect">
            <a:avLst/>
          </a:prstGeom>
          <a:solidFill>
            <a:srgbClr val="DCE6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6400800"/>
            <a:ext cx="9052560" cy="274320"/>
          </a:xfrm>
          <a:prstGeom prst="rect">
            <a:avLst/>
          </a:prstGeom>
          <a:noFill/>
        </p:spPr>
        <p:txBody>
          <a:bodyPr wrap="square" lIns="0" rIns="0" tIns="0" bIns="0">
            <a:spAutoFit/>
          </a:bodyPr>
          <a:lstStyle/>
          <a:p>
            <a:pPr>
              <a:spcAft>
                <a:spcPts val="400"/>
              </a:spcAft>
              <a:defRPr sz="930" b="0">
                <a:solidFill>
                  <a:srgbClr val="536B78"/>
                </a:solidFill>
                <a:latin typeface="Noto Sans"/>
              </a:defRPr>
            </a:pPr>
            <a:r>
              <a:rPr>
                <a:hlinkClick r:id="rId2"/>
              </a:rPr>
              <a:t>events.imsda.org  ·  Getting started for club leaders</a:t>
            </a:r>
          </a:p>
        </p:txBody>
      </p:sp>
      <p:sp>
        <p:nvSpPr>
          <p:cNvPr id="20" name="TextBox 19"/>
          <p:cNvSpPr txBox="1"/>
          <p:nvPr/>
        </p:nvSpPr>
        <p:spPr>
          <a:xfrm>
            <a:off x="10469880" y="6400800"/>
            <a:ext cx="1005840" cy="274320"/>
          </a:xfrm>
          <a:prstGeom prst="rect">
            <a:avLst/>
          </a:prstGeom>
          <a:noFill/>
        </p:spPr>
        <p:txBody>
          <a:bodyPr wrap="square" lIns="0" rIns="0" tIns="0" bIns="0">
            <a:spAutoFit/>
          </a:bodyPr>
          <a:lstStyle/>
          <a:p>
            <a:pPr>
              <a:spcAft>
                <a:spcPts val="400"/>
              </a:spcAft>
              <a:defRPr sz="1000" b="0">
                <a:solidFill>
                  <a:srgbClr val="536B78"/>
                </a:solidFill>
                <a:latin typeface="Noto Sans"/>
              </a:defRPr>
            </a:pPr>
            <a:r>
              <a:t>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IMSDA Events: Getting started for club directors and Area Coordinators</dc:title>
  <dc:subject>What the system does, signing in and practical club/coordinator tasks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